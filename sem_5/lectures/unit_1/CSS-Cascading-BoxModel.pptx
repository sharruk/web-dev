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8" r:id="rId3"/>
    <p:sldId id="289" r:id="rId4"/>
    <p:sldId id="288" r:id="rId5"/>
    <p:sldId id="290" r:id="rId6"/>
    <p:sldId id="291" r:id="rId7"/>
    <p:sldId id="328" r:id="rId8"/>
    <p:sldId id="329" r:id="rId9"/>
    <p:sldId id="333" r:id="rId10"/>
    <p:sldId id="335" r:id="rId11"/>
    <p:sldId id="336" r:id="rId12"/>
    <p:sldId id="334" r:id="rId13"/>
    <p:sldId id="297" r:id="rId14"/>
    <p:sldId id="292" r:id="rId15"/>
    <p:sldId id="293" r:id="rId16"/>
    <p:sldId id="294" r:id="rId17"/>
    <p:sldId id="295" r:id="rId18"/>
    <p:sldId id="296" r:id="rId19"/>
    <p:sldId id="310" r:id="rId20"/>
    <p:sldId id="311" r:id="rId21"/>
    <p:sldId id="314" r:id="rId22"/>
    <p:sldId id="324" r:id="rId23"/>
    <p:sldId id="327"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108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B8B6284-91A8-40CE-A2E9-7C9540731C81}"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1083913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8B6284-91A8-40CE-A2E9-7C9540731C81}"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1660174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8B6284-91A8-40CE-A2E9-7C9540731C81}"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2538861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8B6284-91A8-40CE-A2E9-7C9540731C81}"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1955317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8B6284-91A8-40CE-A2E9-7C9540731C81}" type="datetimeFigureOut">
              <a:rPr lang="en-IN" smtClean="0"/>
              <a:t>01-07-2026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15593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8B6284-91A8-40CE-A2E9-7C9540731C81}" type="datetimeFigureOut">
              <a:rPr lang="en-IN" smtClean="0"/>
              <a:t>01-07-2026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373411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8B6284-91A8-40CE-A2E9-7C9540731C81}" type="datetimeFigureOut">
              <a:rPr lang="en-IN" smtClean="0"/>
              <a:t>01-07-2026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3008289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8B6284-91A8-40CE-A2E9-7C9540731C81}"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245407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8B6284-91A8-40CE-A2E9-7C9540731C81}"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2298336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8B6284-91A8-40CE-A2E9-7C9540731C81}"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4236108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8B6284-91A8-40CE-A2E9-7C9540731C81}"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E8C4A3-B7CB-44F5-BF6F-D7F913FA1EBD}" type="slidenum">
              <a:rPr lang="en-IN" smtClean="0"/>
              <a:t>‹#›</a:t>
            </a:fld>
            <a:endParaRPr lang="en-IN"/>
          </a:p>
        </p:txBody>
      </p:sp>
    </p:spTree>
    <p:extLst>
      <p:ext uri="{BB962C8B-B14F-4D97-AF65-F5344CB8AC3E}">
        <p14:creationId xmlns:p14="http://schemas.microsoft.com/office/powerpoint/2010/main" val="1638356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8B6284-91A8-40CE-A2E9-7C9540731C81}" type="datetimeFigureOut">
              <a:rPr lang="en-IN" smtClean="0"/>
              <a:t>01-07-2026</a:t>
            </a:fld>
            <a:endParaRPr lang="en-IN"/>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8C4A3-B7CB-44F5-BF6F-D7F913FA1EBD}" type="slidenum">
              <a:rPr lang="en-IN" smtClean="0"/>
              <a:t>‹#›</a:t>
            </a:fld>
            <a:endParaRPr lang="en-IN"/>
          </a:p>
        </p:txBody>
      </p:sp>
    </p:spTree>
    <p:extLst>
      <p:ext uri="{BB962C8B-B14F-4D97-AF65-F5344CB8AC3E}">
        <p14:creationId xmlns:p14="http://schemas.microsoft.com/office/powerpoint/2010/main" val="310683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wmf"/><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CDAFF-0A8B-45B8-D37A-4B90A2B1B913}"/>
              </a:ext>
            </a:extLst>
          </p:cNvPr>
          <p:cNvSpPr>
            <a:spLocks noGrp="1"/>
          </p:cNvSpPr>
          <p:nvPr>
            <p:ph type="ctrTitle"/>
          </p:nvPr>
        </p:nvSpPr>
        <p:spPr/>
        <p:txBody>
          <a:bodyPr/>
          <a:lstStyle/>
          <a:p>
            <a:r>
              <a:rPr lang="en-US" dirty="0"/>
              <a:t>Cascading Style Sheet </a:t>
            </a:r>
            <a:endParaRPr lang="en-IN" dirty="0"/>
          </a:p>
        </p:txBody>
      </p:sp>
    </p:spTree>
    <p:extLst>
      <p:ext uri="{BB962C8B-B14F-4D97-AF65-F5344CB8AC3E}">
        <p14:creationId xmlns:p14="http://schemas.microsoft.com/office/powerpoint/2010/main" val="2408434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9848BD9-9183-EA45-EA15-2A696586CAA1}"/>
              </a:ext>
            </a:extLst>
          </p:cNvPr>
          <p:cNvSpPr txBox="1">
            <a:spLocks/>
          </p:cNvSpPr>
          <p:nvPr/>
        </p:nvSpPr>
        <p:spPr>
          <a:xfrm>
            <a:off x="102439" y="195054"/>
            <a:ext cx="3606920" cy="488889"/>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0000FF"/>
                </a:solidFill>
              </a:rPr>
              <a:t>CSS Cascading</a:t>
            </a:r>
            <a:endParaRPr lang="en-IN" sz="3600" dirty="0">
              <a:solidFill>
                <a:srgbClr val="0000FF"/>
              </a:solidFill>
            </a:endParaRPr>
          </a:p>
        </p:txBody>
      </p:sp>
      <p:sp>
        <p:nvSpPr>
          <p:cNvPr id="8" name="TextBox 7">
            <a:extLst>
              <a:ext uri="{FF2B5EF4-FFF2-40B4-BE49-F238E27FC236}">
                <a16:creationId xmlns:a16="http://schemas.microsoft.com/office/drawing/2014/main" id="{BE83D1DB-67BF-6F9F-2B3C-AD2707C5CBCF}"/>
              </a:ext>
            </a:extLst>
          </p:cNvPr>
          <p:cNvSpPr txBox="1"/>
          <p:nvPr/>
        </p:nvSpPr>
        <p:spPr>
          <a:xfrm>
            <a:off x="102439" y="2221305"/>
            <a:ext cx="8877660" cy="4154984"/>
          </a:xfrm>
          <a:prstGeom prst="rect">
            <a:avLst/>
          </a:prstGeom>
          <a:noFill/>
        </p:spPr>
        <p:txBody>
          <a:bodyPr wrap="square">
            <a:spAutoFit/>
          </a:bodyPr>
          <a:lstStyle/>
          <a:p>
            <a:r>
              <a:rPr lang="en-IN" sz="2400" dirty="0">
                <a:solidFill>
                  <a:srgbClr val="0000FF"/>
                </a:solidFill>
              </a:rPr>
              <a:t>Cascading order from highest priority to lowest priority:</a:t>
            </a:r>
          </a:p>
          <a:p>
            <a:endParaRPr lang="en-IN" sz="2400" dirty="0"/>
          </a:p>
          <a:p>
            <a:r>
              <a:rPr lang="en-IN" sz="2400" dirty="0"/>
              <a:t>!important: Highest priority, regardless of source.</a:t>
            </a:r>
          </a:p>
          <a:p>
            <a:r>
              <a:rPr lang="en-IN" sz="2400" dirty="0"/>
              <a:t>Inline styles: Next in priority, unless overridden by !important.</a:t>
            </a:r>
          </a:p>
          <a:p>
            <a:r>
              <a:rPr lang="en-IN" sz="2400" dirty="0"/>
              <a:t>Internal CSS: Styles within a &lt;style&gt; tag which apply only to that document.</a:t>
            </a:r>
          </a:p>
          <a:p>
            <a:r>
              <a:rPr lang="en-IN" sz="2400" dirty="0"/>
              <a:t>External CSS: Styles from external CSS files linked to the HTML document, which apply globally across multiple pages.</a:t>
            </a:r>
          </a:p>
          <a:p>
            <a:r>
              <a:rPr lang="en-IN" sz="2400" dirty="0"/>
              <a:t>Browser/User styles: Defaults or user-defined preferences.</a:t>
            </a:r>
          </a:p>
          <a:p>
            <a:r>
              <a:rPr lang="en-IN" sz="2400" dirty="0">
                <a:solidFill>
                  <a:srgbClr val="FF0000"/>
                </a:solidFill>
              </a:rPr>
              <a:t>!important  &gt; Inline CSS &gt;  Internal CSS &gt; External CSS &gt; Browser/User styles</a:t>
            </a:r>
          </a:p>
        </p:txBody>
      </p:sp>
      <p:sp>
        <p:nvSpPr>
          <p:cNvPr id="10" name="TextBox 9">
            <a:extLst>
              <a:ext uri="{FF2B5EF4-FFF2-40B4-BE49-F238E27FC236}">
                <a16:creationId xmlns:a16="http://schemas.microsoft.com/office/drawing/2014/main" id="{E5111D22-D1FD-2F37-5A8C-18F874090631}"/>
              </a:ext>
            </a:extLst>
          </p:cNvPr>
          <p:cNvSpPr txBox="1"/>
          <p:nvPr/>
        </p:nvSpPr>
        <p:spPr>
          <a:xfrm>
            <a:off x="102439" y="922402"/>
            <a:ext cx="8627495" cy="830997"/>
          </a:xfrm>
          <a:prstGeom prst="rect">
            <a:avLst/>
          </a:prstGeom>
          <a:noFill/>
        </p:spPr>
        <p:txBody>
          <a:bodyPr wrap="square">
            <a:spAutoFit/>
          </a:bodyPr>
          <a:lstStyle/>
          <a:p>
            <a:r>
              <a:rPr lang="en-IN" sz="2400" dirty="0"/>
              <a:t>Cascading - the process by which the browser determines </a:t>
            </a:r>
            <a:r>
              <a:rPr lang="en-IN" sz="2400" dirty="0">
                <a:solidFill>
                  <a:srgbClr val="0000FF"/>
                </a:solidFill>
              </a:rPr>
              <a:t>which style rules to apply when multiple rules target the same element</a:t>
            </a:r>
          </a:p>
        </p:txBody>
      </p:sp>
    </p:spTree>
    <p:extLst>
      <p:ext uri="{BB962C8B-B14F-4D97-AF65-F5344CB8AC3E}">
        <p14:creationId xmlns:p14="http://schemas.microsoft.com/office/powerpoint/2010/main" val="2064289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3998B3-087E-8402-27AD-1A63593AA44B}"/>
              </a:ext>
            </a:extLst>
          </p:cNvPr>
          <p:cNvSpPr txBox="1"/>
          <p:nvPr/>
        </p:nvSpPr>
        <p:spPr>
          <a:xfrm>
            <a:off x="560717" y="612848"/>
            <a:ext cx="8143336" cy="6001643"/>
          </a:xfrm>
          <a:prstGeom prst="rect">
            <a:avLst/>
          </a:prstGeom>
          <a:noFill/>
        </p:spPr>
        <p:txBody>
          <a:bodyPr wrap="square">
            <a:spAutoFit/>
          </a:bodyPr>
          <a:lstStyle/>
          <a:p>
            <a:r>
              <a:rPr lang="en-IN" sz="2400" dirty="0"/>
              <a:t>Here's how it works?</a:t>
            </a:r>
          </a:p>
          <a:p>
            <a:endParaRPr lang="en-IN" sz="2400" dirty="0"/>
          </a:p>
          <a:p>
            <a:r>
              <a:rPr lang="en-IN" sz="2400" dirty="0">
                <a:solidFill>
                  <a:srgbClr val="C00000"/>
                </a:solidFill>
              </a:rPr>
              <a:t>Specificity: </a:t>
            </a:r>
            <a:r>
              <a:rPr lang="en-IN" sz="2400" dirty="0"/>
              <a:t>CSS rules with </a:t>
            </a:r>
            <a:r>
              <a:rPr lang="en-IN" sz="2400" dirty="0">
                <a:solidFill>
                  <a:srgbClr val="C00000"/>
                </a:solidFill>
              </a:rPr>
              <a:t>more specific selectors take priority </a:t>
            </a:r>
            <a:r>
              <a:rPr lang="en-IN" sz="2400" dirty="0"/>
              <a:t>over less specific ones. For example, an ID selector (#header) is more specific than a class selector (.header), so it will override it if both are applied to the same element.</a:t>
            </a:r>
          </a:p>
          <a:p>
            <a:endParaRPr lang="en-IN" sz="2400" dirty="0"/>
          </a:p>
          <a:p>
            <a:r>
              <a:rPr lang="en-IN" sz="2400" dirty="0">
                <a:solidFill>
                  <a:srgbClr val="C00000"/>
                </a:solidFill>
              </a:rPr>
              <a:t>Importance: </a:t>
            </a:r>
            <a:r>
              <a:rPr lang="en-IN" sz="2400" dirty="0"/>
              <a:t>Styles marked with !important take precedence over all other styles, even if they are less specific. However, overusing !important can lead to maintenance problems and should be avoided unless absolutely necessary.</a:t>
            </a:r>
          </a:p>
          <a:p>
            <a:endParaRPr lang="en-IN" sz="2400" dirty="0"/>
          </a:p>
          <a:p>
            <a:r>
              <a:rPr lang="en-IN" sz="2400" dirty="0">
                <a:solidFill>
                  <a:srgbClr val="C00000"/>
                </a:solidFill>
              </a:rPr>
              <a:t>Source Order: </a:t>
            </a:r>
            <a:r>
              <a:rPr lang="en-IN" sz="2400" dirty="0"/>
              <a:t>When two rules have the same specificity and importance, the order in which the rules are defined matters. The later rule (appearing further down the CSS file or in the later &lt;style&gt; block) will override the earlier one.</a:t>
            </a:r>
          </a:p>
        </p:txBody>
      </p:sp>
    </p:spTree>
    <p:extLst>
      <p:ext uri="{BB962C8B-B14F-4D97-AF65-F5344CB8AC3E}">
        <p14:creationId xmlns:p14="http://schemas.microsoft.com/office/powerpoint/2010/main" val="3582676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F734-8DE8-6A54-3FD2-7DF56D1DCB9C}"/>
              </a:ext>
            </a:extLst>
          </p:cNvPr>
          <p:cNvSpPr>
            <a:spLocks noGrp="1"/>
          </p:cNvSpPr>
          <p:nvPr>
            <p:ph type="title"/>
          </p:nvPr>
        </p:nvSpPr>
        <p:spPr>
          <a:xfrm>
            <a:off x="120773" y="157967"/>
            <a:ext cx="4589253" cy="480263"/>
          </a:xfrm>
        </p:spPr>
        <p:txBody>
          <a:bodyPr>
            <a:normAutofit fontScale="90000"/>
          </a:bodyPr>
          <a:lstStyle/>
          <a:p>
            <a:r>
              <a:rPr lang="en-US" sz="3200" b="1" dirty="0">
                <a:solidFill>
                  <a:srgbClr val="0000FF"/>
                </a:solidFill>
              </a:rPr>
              <a:t>CSS Cascading – Example 1</a:t>
            </a:r>
            <a:endParaRPr lang="en-IN" sz="3200" b="1" dirty="0">
              <a:solidFill>
                <a:srgbClr val="0000FF"/>
              </a:solidFill>
            </a:endParaRPr>
          </a:p>
        </p:txBody>
      </p:sp>
      <p:sp>
        <p:nvSpPr>
          <p:cNvPr id="5" name="TextBox 4">
            <a:extLst>
              <a:ext uri="{FF2B5EF4-FFF2-40B4-BE49-F238E27FC236}">
                <a16:creationId xmlns:a16="http://schemas.microsoft.com/office/drawing/2014/main" id="{3A981946-1D73-6275-DE96-2B46BA2FB4D1}"/>
              </a:ext>
            </a:extLst>
          </p:cNvPr>
          <p:cNvSpPr txBox="1"/>
          <p:nvPr/>
        </p:nvSpPr>
        <p:spPr>
          <a:xfrm>
            <a:off x="2" y="977583"/>
            <a:ext cx="8108831" cy="4893647"/>
          </a:xfrm>
          <a:prstGeom prst="rect">
            <a:avLst/>
          </a:prstGeom>
          <a:noFill/>
        </p:spPr>
        <p:txBody>
          <a:bodyPr wrap="square">
            <a:spAutoFit/>
          </a:bodyPr>
          <a:lstStyle/>
          <a:p>
            <a:r>
              <a:rPr lang="en-IN" sz="2400" dirty="0"/>
              <a:t>&lt;html&gt;</a:t>
            </a:r>
          </a:p>
          <a:p>
            <a:r>
              <a:rPr lang="en-IN" sz="2400" dirty="0"/>
              <a:t>&lt;head&gt;</a:t>
            </a:r>
          </a:p>
          <a:p>
            <a:r>
              <a:rPr lang="en-IN" sz="2400" dirty="0"/>
              <a:t>    &lt;link </a:t>
            </a:r>
            <a:r>
              <a:rPr lang="en-IN" sz="2400" dirty="0" err="1"/>
              <a:t>rel</a:t>
            </a:r>
            <a:r>
              <a:rPr lang="en-IN" sz="2400" dirty="0"/>
              <a:t>="stylesheet" </a:t>
            </a:r>
            <a:r>
              <a:rPr lang="en-IN" sz="2400" dirty="0" err="1"/>
              <a:t>href</a:t>
            </a:r>
            <a:r>
              <a:rPr lang="en-IN" sz="2400" dirty="0"/>
              <a:t>="index.css"&gt;</a:t>
            </a:r>
          </a:p>
          <a:p>
            <a:r>
              <a:rPr lang="en-IN" sz="2400" dirty="0"/>
              <a:t>    </a:t>
            </a:r>
            <a:r>
              <a:rPr lang="en-IN" sz="2400" dirty="0">
                <a:solidFill>
                  <a:srgbClr val="0000FF"/>
                </a:solidFill>
              </a:rPr>
              <a:t>&lt;style&gt;</a:t>
            </a:r>
          </a:p>
          <a:p>
            <a:r>
              <a:rPr lang="en-IN" sz="2400" dirty="0">
                <a:solidFill>
                  <a:srgbClr val="0000FF"/>
                </a:solidFill>
              </a:rPr>
              <a:t>        h1 {</a:t>
            </a:r>
          </a:p>
          <a:p>
            <a:r>
              <a:rPr lang="en-IN" sz="2400" dirty="0">
                <a:solidFill>
                  <a:srgbClr val="0000FF"/>
                </a:solidFill>
              </a:rPr>
              <a:t>            background-</a:t>
            </a:r>
            <a:r>
              <a:rPr lang="en-IN" sz="2400" dirty="0" err="1">
                <a:solidFill>
                  <a:srgbClr val="0000FF"/>
                </a:solidFill>
              </a:rPr>
              <a:t>color</a:t>
            </a:r>
            <a:r>
              <a:rPr lang="en-IN" sz="2400" dirty="0">
                <a:solidFill>
                  <a:srgbClr val="0000FF"/>
                </a:solidFill>
              </a:rPr>
              <a:t>: red;</a:t>
            </a:r>
          </a:p>
          <a:p>
            <a:r>
              <a:rPr lang="en-IN" sz="2400" dirty="0">
                <a:solidFill>
                  <a:srgbClr val="0000FF"/>
                </a:solidFill>
              </a:rPr>
              <a:t>        }</a:t>
            </a:r>
          </a:p>
          <a:p>
            <a:r>
              <a:rPr lang="en-IN" sz="2400" dirty="0"/>
              <a:t>    &lt;/style&gt;</a:t>
            </a:r>
          </a:p>
          <a:p>
            <a:r>
              <a:rPr lang="en-IN" sz="2400" dirty="0"/>
              <a:t>&lt;/head&gt;</a:t>
            </a:r>
          </a:p>
          <a:p>
            <a:r>
              <a:rPr lang="en-IN" sz="2400" dirty="0"/>
              <a:t>&lt;body&gt;</a:t>
            </a:r>
          </a:p>
          <a:p>
            <a:r>
              <a:rPr lang="en-IN" sz="2400" dirty="0"/>
              <a:t>    </a:t>
            </a:r>
            <a:r>
              <a:rPr lang="en-IN" sz="2400" dirty="0">
                <a:solidFill>
                  <a:srgbClr val="0000FF"/>
                </a:solidFill>
              </a:rPr>
              <a:t>&lt;h1 style="background-</a:t>
            </a:r>
            <a:r>
              <a:rPr lang="en-IN" sz="2400" dirty="0" err="1">
                <a:solidFill>
                  <a:srgbClr val="0000FF"/>
                </a:solidFill>
              </a:rPr>
              <a:t>color</a:t>
            </a:r>
            <a:r>
              <a:rPr lang="en-IN" sz="2400" dirty="0">
                <a:solidFill>
                  <a:srgbClr val="0000FF"/>
                </a:solidFill>
              </a:rPr>
              <a:t>: blue;"&gt;Cascading in CSS&lt;/h1&gt;</a:t>
            </a:r>
          </a:p>
          <a:p>
            <a:r>
              <a:rPr lang="en-IN" sz="2400" dirty="0"/>
              <a:t>&lt;/body&gt;</a:t>
            </a:r>
          </a:p>
          <a:p>
            <a:r>
              <a:rPr lang="en-IN" sz="2400" dirty="0"/>
              <a:t>&lt;/html&gt;</a:t>
            </a:r>
          </a:p>
        </p:txBody>
      </p:sp>
      <p:pic>
        <p:nvPicPr>
          <p:cNvPr id="9" name="Picture 8">
            <a:extLst>
              <a:ext uri="{FF2B5EF4-FFF2-40B4-BE49-F238E27FC236}">
                <a16:creationId xmlns:a16="http://schemas.microsoft.com/office/drawing/2014/main" id="{BE983E1D-A032-739F-3B83-DDAC4E5A729C}"/>
              </a:ext>
            </a:extLst>
          </p:cNvPr>
          <p:cNvPicPr>
            <a:picLocks noChangeAspect="1"/>
          </p:cNvPicPr>
          <p:nvPr/>
        </p:nvPicPr>
        <p:blipFill>
          <a:blip r:embed="rId2"/>
          <a:stretch>
            <a:fillRect/>
          </a:stretch>
        </p:blipFill>
        <p:spPr>
          <a:xfrm>
            <a:off x="1854682" y="5781086"/>
            <a:ext cx="7289321" cy="918953"/>
          </a:xfrm>
          <a:prstGeom prst="rect">
            <a:avLst/>
          </a:prstGeom>
        </p:spPr>
      </p:pic>
      <p:graphicFrame>
        <p:nvGraphicFramePr>
          <p:cNvPr id="10" name="Table 10">
            <a:extLst>
              <a:ext uri="{FF2B5EF4-FFF2-40B4-BE49-F238E27FC236}">
                <a16:creationId xmlns:a16="http://schemas.microsoft.com/office/drawing/2014/main" id="{665F1CD1-16F1-338B-59D0-7C63C2B444C9}"/>
              </a:ext>
            </a:extLst>
          </p:cNvPr>
          <p:cNvGraphicFramePr>
            <a:graphicFrameLocks noGrp="1"/>
          </p:cNvGraphicFramePr>
          <p:nvPr>
            <p:extLst>
              <p:ext uri="{D42A27DB-BD31-4B8C-83A1-F6EECF244321}">
                <p14:modId xmlns:p14="http://schemas.microsoft.com/office/powerpoint/2010/main" val="3549484583"/>
              </p:ext>
            </p:extLst>
          </p:nvPr>
        </p:nvGraphicFramePr>
        <p:xfrm>
          <a:off x="4710026" y="2647812"/>
          <a:ext cx="4092467" cy="1539240"/>
        </p:xfrm>
        <a:graphic>
          <a:graphicData uri="http://schemas.openxmlformats.org/drawingml/2006/table">
            <a:tbl>
              <a:tblPr firstRow="1" bandRow="1">
                <a:effectLst>
                  <a:outerShdw blurRad="50800" dist="50800" dir="5400000" algn="ctr" rotWithShape="0">
                    <a:srgbClr val="C00000"/>
                  </a:outerShdw>
                </a:effectLst>
                <a:tableStyleId>{5C22544A-7EE6-4342-B048-85BDC9FD1C3A}</a:tableStyleId>
              </a:tblPr>
              <a:tblGrid>
                <a:gridCol w="4092467">
                  <a:extLst>
                    <a:ext uri="{9D8B030D-6E8A-4147-A177-3AD203B41FA5}">
                      <a16:colId xmlns:a16="http://schemas.microsoft.com/office/drawing/2014/main" val="4195801576"/>
                    </a:ext>
                  </a:extLst>
                </a:gridCol>
              </a:tblGrid>
              <a:tr h="1513840">
                <a:tc>
                  <a:txBody>
                    <a:bodyPr/>
                    <a:lstStyle/>
                    <a:p>
                      <a:r>
                        <a:rPr lang="en-IN" sz="1900" dirty="0">
                          <a:solidFill>
                            <a:srgbClr val="0000FF"/>
                          </a:solidFill>
                        </a:rPr>
                        <a:t>Index.css</a:t>
                      </a:r>
                    </a:p>
                    <a:p>
                      <a:r>
                        <a:rPr lang="en-IN" sz="1900" dirty="0">
                          <a:solidFill>
                            <a:srgbClr val="C00000"/>
                          </a:solidFill>
                        </a:rPr>
                        <a:t>h1{</a:t>
                      </a:r>
                    </a:p>
                    <a:p>
                      <a:r>
                        <a:rPr lang="en-IN" sz="1900" dirty="0">
                          <a:solidFill>
                            <a:srgbClr val="C00000"/>
                          </a:solidFill>
                        </a:rPr>
                        <a:t>    background-</a:t>
                      </a:r>
                      <a:r>
                        <a:rPr lang="en-IN" sz="1900" dirty="0" err="1">
                          <a:solidFill>
                            <a:srgbClr val="C00000"/>
                          </a:solidFill>
                        </a:rPr>
                        <a:t>color</a:t>
                      </a:r>
                      <a:r>
                        <a:rPr lang="en-IN" sz="1900" dirty="0">
                          <a:solidFill>
                            <a:srgbClr val="C00000"/>
                          </a:solidFill>
                        </a:rPr>
                        <a:t>: brown !important</a:t>
                      </a:r>
                    </a:p>
                    <a:p>
                      <a:r>
                        <a:rPr lang="en-IN" sz="1900" dirty="0">
                          <a:solidFill>
                            <a:srgbClr val="C00000"/>
                          </a:solidFill>
                        </a:rPr>
                        <a:t>}</a:t>
                      </a:r>
                    </a:p>
                    <a:p>
                      <a:endParaRPr lang="en-IN" sz="1900" dirty="0">
                        <a:solidFill>
                          <a:srgbClr val="0000FF"/>
                        </a:solidFill>
                      </a:endParaRPr>
                    </a:p>
                  </a:txBody>
                  <a:tcPr>
                    <a:noFill/>
                  </a:tcPr>
                </a:tc>
                <a:extLst>
                  <a:ext uri="{0D108BD9-81ED-4DB2-BD59-A6C34878D82A}">
                    <a16:rowId xmlns:a16="http://schemas.microsoft.com/office/drawing/2014/main" val="661393508"/>
                  </a:ext>
                </a:extLst>
              </a:tr>
            </a:tbl>
          </a:graphicData>
        </a:graphic>
      </p:graphicFrame>
    </p:spTree>
    <p:extLst>
      <p:ext uri="{BB962C8B-B14F-4D97-AF65-F5344CB8AC3E}">
        <p14:creationId xmlns:p14="http://schemas.microsoft.com/office/powerpoint/2010/main" val="2114752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7D3957-7813-EF50-0D9D-5351DCCDBC7D}"/>
              </a:ext>
            </a:extLst>
          </p:cNvPr>
          <p:cNvSpPr txBox="1"/>
          <p:nvPr/>
        </p:nvSpPr>
        <p:spPr>
          <a:xfrm>
            <a:off x="366623" y="1068140"/>
            <a:ext cx="8203720" cy="5632311"/>
          </a:xfrm>
          <a:prstGeom prst="rect">
            <a:avLst/>
          </a:prstGeom>
          <a:noFill/>
        </p:spPr>
        <p:txBody>
          <a:bodyPr wrap="square">
            <a:spAutoFit/>
          </a:bodyPr>
          <a:lstStyle/>
          <a:p>
            <a:r>
              <a:rPr lang="en-IN" dirty="0"/>
              <a:t>&lt;html&gt;</a:t>
            </a:r>
          </a:p>
          <a:p>
            <a:r>
              <a:rPr lang="en-IN" dirty="0"/>
              <a:t>&lt;head&gt;</a:t>
            </a:r>
          </a:p>
          <a:p>
            <a:r>
              <a:rPr lang="en-IN" dirty="0"/>
              <a:t>&lt;link </a:t>
            </a:r>
            <a:r>
              <a:rPr lang="en-IN" dirty="0" err="1"/>
              <a:t>rel</a:t>
            </a:r>
            <a:r>
              <a:rPr lang="en-IN" dirty="0"/>
              <a:t>=" stylesheet" type="text/</a:t>
            </a:r>
            <a:r>
              <a:rPr lang="en-IN" dirty="0" err="1"/>
              <a:t>css</a:t>
            </a:r>
            <a:r>
              <a:rPr lang="en-IN" dirty="0"/>
              <a:t>" title="light theme" </a:t>
            </a:r>
            <a:r>
              <a:rPr lang="en-IN" dirty="0" err="1"/>
              <a:t>href</a:t>
            </a:r>
            <a:r>
              <a:rPr lang="en-IN" dirty="0"/>
              <a:t>="light.css" &gt;</a:t>
            </a:r>
          </a:p>
          <a:p>
            <a:r>
              <a:rPr lang="en-IN" dirty="0"/>
              <a:t>&lt;link </a:t>
            </a:r>
            <a:r>
              <a:rPr lang="en-IN" dirty="0" err="1"/>
              <a:t>rel</a:t>
            </a:r>
            <a:r>
              <a:rPr lang="en-IN" dirty="0"/>
              <a:t>=" alternate stylesheet" type="text/</a:t>
            </a:r>
            <a:r>
              <a:rPr lang="en-IN" dirty="0" err="1"/>
              <a:t>css</a:t>
            </a:r>
            <a:r>
              <a:rPr lang="en-IN" dirty="0"/>
              <a:t>" title="lighter theme" </a:t>
            </a:r>
            <a:r>
              <a:rPr lang="en-IN" dirty="0" err="1"/>
              <a:t>href</a:t>
            </a:r>
            <a:r>
              <a:rPr lang="en-IN" dirty="0"/>
              <a:t>="lighter.css" &gt;</a:t>
            </a:r>
          </a:p>
          <a:p>
            <a:r>
              <a:rPr lang="en-IN" dirty="0"/>
              <a:t>&lt;link </a:t>
            </a:r>
            <a:r>
              <a:rPr lang="en-IN" dirty="0" err="1"/>
              <a:t>rel</a:t>
            </a:r>
            <a:r>
              <a:rPr lang="en-IN" dirty="0"/>
              <a:t>="alternate stylesheet" type="text/</a:t>
            </a:r>
            <a:r>
              <a:rPr lang="en-IN" dirty="0" err="1"/>
              <a:t>css</a:t>
            </a:r>
            <a:r>
              <a:rPr lang="en-IN" dirty="0"/>
              <a:t>" title="dark theme" </a:t>
            </a:r>
            <a:r>
              <a:rPr lang="en-IN" dirty="0" err="1"/>
              <a:t>href</a:t>
            </a:r>
            <a:r>
              <a:rPr lang="en-IN" dirty="0"/>
              <a:t>="dark.css" &gt;</a:t>
            </a:r>
          </a:p>
          <a:p>
            <a:r>
              <a:rPr lang="en-IN" dirty="0"/>
              <a:t>&lt;style&gt;</a:t>
            </a:r>
          </a:p>
          <a:p>
            <a:r>
              <a:rPr lang="en-IN" dirty="0"/>
              <a:t> p {font-size:20px;}</a:t>
            </a:r>
          </a:p>
          <a:p>
            <a:r>
              <a:rPr lang="en-IN" dirty="0"/>
              <a:t>&lt;/style&gt;</a:t>
            </a:r>
          </a:p>
          <a:p>
            <a:r>
              <a:rPr lang="en-IN" dirty="0"/>
              <a:t>&lt;/head&gt;</a:t>
            </a:r>
          </a:p>
          <a:p>
            <a:r>
              <a:rPr lang="en-IN" dirty="0"/>
              <a:t>&lt;body&gt;</a:t>
            </a:r>
          </a:p>
          <a:p>
            <a:r>
              <a:rPr lang="en-IN" dirty="0"/>
              <a:t>&lt;h1 style="</a:t>
            </a:r>
            <a:r>
              <a:rPr lang="en-IN" dirty="0" err="1"/>
              <a:t>letter-spacing:normal</a:t>
            </a:r>
            <a:r>
              <a:rPr lang="en-IN" dirty="0"/>
              <a:t>"&gt;Hello World!&lt;/h1&gt;</a:t>
            </a:r>
          </a:p>
          <a:p>
            <a:r>
              <a:rPr lang="en-IN" dirty="0"/>
              <a:t>&lt;p&gt;Paragraph 1&lt;/p&gt;</a:t>
            </a:r>
          </a:p>
          <a:p>
            <a:r>
              <a:rPr lang="en-IN" dirty="0"/>
              <a:t>&lt;p&gt;Paragraph 2&lt;/p&gt;</a:t>
            </a:r>
          </a:p>
          <a:p>
            <a:r>
              <a:rPr lang="en-IN" dirty="0"/>
              <a:t>&lt;p&gt;Paragraph 3&lt;/p&gt;</a:t>
            </a:r>
          </a:p>
          <a:p>
            <a:r>
              <a:rPr lang="en-IN" dirty="0"/>
              <a:t>&lt;p&gt;Paragraph 4&lt;/p&gt;</a:t>
            </a:r>
          </a:p>
          <a:p>
            <a:r>
              <a:rPr lang="en-IN" dirty="0"/>
              <a:t>&lt;p&gt;Paragraph 5&lt;/p&gt;</a:t>
            </a:r>
          </a:p>
          <a:p>
            <a:endParaRPr lang="en-IN" dirty="0"/>
          </a:p>
          <a:p>
            <a:r>
              <a:rPr lang="en-IN" dirty="0"/>
              <a:t>&lt;/body&gt;</a:t>
            </a:r>
          </a:p>
          <a:p>
            <a:r>
              <a:rPr lang="en-IN" dirty="0"/>
              <a:t>&lt;/html&gt;</a:t>
            </a:r>
          </a:p>
        </p:txBody>
      </p:sp>
      <p:sp>
        <p:nvSpPr>
          <p:cNvPr id="6" name="Title 1">
            <a:extLst>
              <a:ext uri="{FF2B5EF4-FFF2-40B4-BE49-F238E27FC236}">
                <a16:creationId xmlns:a16="http://schemas.microsoft.com/office/drawing/2014/main" id="{945362CA-E811-732B-F09D-B256764BE11D}"/>
              </a:ext>
            </a:extLst>
          </p:cNvPr>
          <p:cNvSpPr>
            <a:spLocks noGrp="1"/>
          </p:cNvSpPr>
          <p:nvPr>
            <p:ph type="title"/>
          </p:nvPr>
        </p:nvSpPr>
        <p:spPr>
          <a:xfrm>
            <a:off x="120774" y="157967"/>
            <a:ext cx="5917721" cy="480263"/>
          </a:xfrm>
        </p:spPr>
        <p:txBody>
          <a:bodyPr>
            <a:normAutofit fontScale="90000"/>
          </a:bodyPr>
          <a:lstStyle/>
          <a:p>
            <a:r>
              <a:rPr lang="en-US" sz="3200" b="1" dirty="0">
                <a:solidFill>
                  <a:srgbClr val="0000FF"/>
                </a:solidFill>
              </a:rPr>
              <a:t>CSS Cascading – Alternate stylesheet</a:t>
            </a:r>
            <a:endParaRPr lang="en-IN" sz="3200" b="1" dirty="0">
              <a:solidFill>
                <a:srgbClr val="0000FF"/>
              </a:solidFill>
            </a:endParaRPr>
          </a:p>
        </p:txBody>
      </p:sp>
      <p:sp>
        <p:nvSpPr>
          <p:cNvPr id="8" name="TextBox 7">
            <a:extLst>
              <a:ext uri="{FF2B5EF4-FFF2-40B4-BE49-F238E27FC236}">
                <a16:creationId xmlns:a16="http://schemas.microsoft.com/office/drawing/2014/main" id="{F4C7FEB1-483B-BD65-F201-08C5539E5155}"/>
              </a:ext>
            </a:extLst>
          </p:cNvPr>
          <p:cNvSpPr txBox="1"/>
          <p:nvPr/>
        </p:nvSpPr>
        <p:spPr>
          <a:xfrm>
            <a:off x="5555414" y="329474"/>
            <a:ext cx="3467819" cy="1200329"/>
          </a:xfrm>
          <a:prstGeom prst="rect">
            <a:avLst/>
          </a:prstGeom>
          <a:noFill/>
          <a:effectLst>
            <a:outerShdw blurRad="50800" dist="50800" dir="5400000" algn="ctr" rotWithShape="0">
              <a:schemeClr val="accent2">
                <a:alpha val="45000"/>
              </a:schemeClr>
            </a:outerShdw>
          </a:effectLst>
        </p:spPr>
        <p:txBody>
          <a:bodyPr wrap="square">
            <a:spAutoFit/>
          </a:bodyPr>
          <a:lstStyle/>
          <a:p>
            <a:r>
              <a:rPr lang="en-IN" dirty="0"/>
              <a:t>light.css</a:t>
            </a:r>
          </a:p>
          <a:p>
            <a:r>
              <a:rPr lang="en-IN" dirty="0"/>
              <a:t>body{</a:t>
            </a:r>
          </a:p>
          <a:p>
            <a:r>
              <a:rPr lang="en-IN" dirty="0"/>
              <a:t>    </a:t>
            </a:r>
            <a:r>
              <a:rPr lang="en-IN" dirty="0" err="1"/>
              <a:t>background-color:lightyellow</a:t>
            </a:r>
            <a:r>
              <a:rPr lang="en-IN" dirty="0"/>
              <a:t>;</a:t>
            </a:r>
          </a:p>
          <a:p>
            <a:r>
              <a:rPr lang="en-IN" dirty="0"/>
              <a:t>   }</a:t>
            </a:r>
          </a:p>
        </p:txBody>
      </p:sp>
      <p:sp>
        <p:nvSpPr>
          <p:cNvPr id="10" name="TextBox 9">
            <a:extLst>
              <a:ext uri="{FF2B5EF4-FFF2-40B4-BE49-F238E27FC236}">
                <a16:creationId xmlns:a16="http://schemas.microsoft.com/office/drawing/2014/main" id="{B044425E-C827-ACFF-B640-2ED0BA73F1D4}"/>
              </a:ext>
            </a:extLst>
          </p:cNvPr>
          <p:cNvSpPr txBox="1"/>
          <p:nvPr/>
        </p:nvSpPr>
        <p:spPr>
          <a:xfrm>
            <a:off x="5555411" y="2904090"/>
            <a:ext cx="3221966" cy="1754326"/>
          </a:xfrm>
          <a:prstGeom prst="rect">
            <a:avLst/>
          </a:prstGeom>
          <a:noFill/>
          <a:effectLst>
            <a:outerShdw blurRad="50800" dist="50800" dir="5400000" algn="ctr" rotWithShape="0">
              <a:schemeClr val="accent2">
                <a:alpha val="45000"/>
              </a:schemeClr>
            </a:outerShdw>
          </a:effectLst>
        </p:spPr>
        <p:txBody>
          <a:bodyPr wrap="square">
            <a:spAutoFit/>
          </a:bodyPr>
          <a:lstStyle/>
          <a:p>
            <a:r>
              <a:rPr lang="en-IN" dirty="0"/>
              <a:t>lighter.css</a:t>
            </a:r>
          </a:p>
          <a:p>
            <a:r>
              <a:rPr lang="en-IN" dirty="0"/>
              <a:t>body{</a:t>
            </a:r>
          </a:p>
          <a:p>
            <a:r>
              <a:rPr lang="en-IN" dirty="0"/>
              <a:t>    background-</a:t>
            </a:r>
            <a:r>
              <a:rPr lang="en-IN" dirty="0" err="1"/>
              <a:t>color</a:t>
            </a:r>
            <a:r>
              <a:rPr lang="en-IN" dirty="0"/>
              <a:t>: </a:t>
            </a:r>
            <a:r>
              <a:rPr lang="en-IN" dirty="0" err="1"/>
              <a:t>lightpink</a:t>
            </a:r>
            <a:r>
              <a:rPr lang="en-IN" dirty="0"/>
              <a:t>;</a:t>
            </a:r>
          </a:p>
          <a:p>
            <a:r>
              <a:rPr lang="en-IN" dirty="0"/>
              <a:t>    </a:t>
            </a:r>
            <a:r>
              <a:rPr lang="en-IN" dirty="0" err="1"/>
              <a:t>color</a:t>
            </a:r>
            <a:r>
              <a:rPr lang="en-IN" dirty="0"/>
              <a:t>: white;</a:t>
            </a:r>
          </a:p>
          <a:p>
            <a:r>
              <a:rPr lang="en-IN" dirty="0"/>
              <a:t> letter-spacing: 3px;</a:t>
            </a:r>
          </a:p>
          <a:p>
            <a:r>
              <a:rPr lang="en-IN" dirty="0"/>
              <a:t>}</a:t>
            </a:r>
          </a:p>
        </p:txBody>
      </p:sp>
      <p:sp>
        <p:nvSpPr>
          <p:cNvPr id="12" name="TextBox 11">
            <a:extLst>
              <a:ext uri="{FF2B5EF4-FFF2-40B4-BE49-F238E27FC236}">
                <a16:creationId xmlns:a16="http://schemas.microsoft.com/office/drawing/2014/main" id="{5F46C8ED-8F5D-6BE8-C8DC-55BAC98A1001}"/>
              </a:ext>
            </a:extLst>
          </p:cNvPr>
          <p:cNvSpPr txBox="1"/>
          <p:nvPr/>
        </p:nvSpPr>
        <p:spPr>
          <a:xfrm>
            <a:off x="5417390" y="4912700"/>
            <a:ext cx="3359988" cy="1754326"/>
          </a:xfrm>
          <a:prstGeom prst="rect">
            <a:avLst/>
          </a:prstGeom>
          <a:noFill/>
          <a:effectLst>
            <a:outerShdw blurRad="50800" dist="50800" dir="5400000" algn="ctr" rotWithShape="0">
              <a:schemeClr val="accent2">
                <a:alpha val="45000"/>
              </a:schemeClr>
            </a:outerShdw>
          </a:effectLst>
        </p:spPr>
        <p:txBody>
          <a:bodyPr wrap="square">
            <a:spAutoFit/>
          </a:bodyPr>
          <a:lstStyle/>
          <a:p>
            <a:r>
              <a:rPr lang="en-IN" dirty="0"/>
              <a:t>dark.css</a:t>
            </a:r>
          </a:p>
          <a:p>
            <a:r>
              <a:rPr lang="en-IN" dirty="0"/>
              <a:t>body{</a:t>
            </a:r>
          </a:p>
          <a:p>
            <a:r>
              <a:rPr lang="en-IN" dirty="0"/>
              <a:t>    background-</a:t>
            </a:r>
            <a:r>
              <a:rPr lang="en-IN" dirty="0" err="1"/>
              <a:t>color</a:t>
            </a:r>
            <a:r>
              <a:rPr lang="en-IN" dirty="0"/>
              <a:t>: </a:t>
            </a:r>
            <a:r>
              <a:rPr lang="en-IN" dirty="0" err="1"/>
              <a:t>lightblue</a:t>
            </a:r>
            <a:r>
              <a:rPr lang="en-IN" dirty="0"/>
              <a:t>;</a:t>
            </a:r>
          </a:p>
          <a:p>
            <a:r>
              <a:rPr lang="en-IN" dirty="0"/>
              <a:t>    </a:t>
            </a:r>
            <a:r>
              <a:rPr lang="en-IN" dirty="0" err="1"/>
              <a:t>color</a:t>
            </a:r>
            <a:r>
              <a:rPr lang="en-IN" dirty="0"/>
              <a:t>: white;</a:t>
            </a:r>
          </a:p>
          <a:p>
            <a:r>
              <a:rPr lang="en-IN" dirty="0"/>
              <a:t>}</a:t>
            </a:r>
          </a:p>
          <a:p>
            <a:endParaRPr lang="en-IN" dirty="0"/>
          </a:p>
        </p:txBody>
      </p:sp>
    </p:spTree>
    <p:extLst>
      <p:ext uri="{BB962C8B-B14F-4D97-AF65-F5344CB8AC3E}">
        <p14:creationId xmlns:p14="http://schemas.microsoft.com/office/powerpoint/2010/main" val="2892263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8FDA8C-B975-4CC9-699A-F22DBD160721}"/>
              </a:ext>
            </a:extLst>
          </p:cNvPr>
          <p:cNvPicPr>
            <a:picLocks noChangeAspect="1"/>
          </p:cNvPicPr>
          <p:nvPr/>
        </p:nvPicPr>
        <p:blipFill>
          <a:blip r:embed="rId2"/>
          <a:stretch>
            <a:fillRect/>
          </a:stretch>
        </p:blipFill>
        <p:spPr>
          <a:xfrm>
            <a:off x="286596" y="1363491"/>
            <a:ext cx="2505331" cy="3006396"/>
          </a:xfrm>
          <a:prstGeom prst="rect">
            <a:avLst/>
          </a:prstGeom>
        </p:spPr>
      </p:pic>
      <p:sp>
        <p:nvSpPr>
          <p:cNvPr id="6" name="Title 1">
            <a:extLst>
              <a:ext uri="{FF2B5EF4-FFF2-40B4-BE49-F238E27FC236}">
                <a16:creationId xmlns:a16="http://schemas.microsoft.com/office/drawing/2014/main" id="{6F203DC0-820F-83B0-CC7E-8E22B59229C8}"/>
              </a:ext>
            </a:extLst>
          </p:cNvPr>
          <p:cNvSpPr>
            <a:spLocks noGrp="1"/>
          </p:cNvSpPr>
          <p:nvPr>
            <p:ph type="title"/>
          </p:nvPr>
        </p:nvSpPr>
        <p:spPr>
          <a:xfrm>
            <a:off x="3227164" y="760729"/>
            <a:ext cx="2441276" cy="480263"/>
          </a:xfrm>
        </p:spPr>
        <p:txBody>
          <a:bodyPr>
            <a:noAutofit/>
          </a:bodyPr>
          <a:lstStyle/>
          <a:p>
            <a:r>
              <a:rPr lang="en-US" sz="2400" b="1" dirty="0">
                <a:solidFill>
                  <a:srgbClr val="C00000"/>
                </a:solidFill>
              </a:rPr>
              <a:t>Lighter theme</a:t>
            </a:r>
            <a:endParaRPr lang="en-IN" sz="2400" b="1" dirty="0">
              <a:solidFill>
                <a:srgbClr val="C00000"/>
              </a:solidFill>
            </a:endParaRPr>
          </a:p>
        </p:txBody>
      </p:sp>
      <p:pic>
        <p:nvPicPr>
          <p:cNvPr id="8" name="Picture 7">
            <a:extLst>
              <a:ext uri="{FF2B5EF4-FFF2-40B4-BE49-F238E27FC236}">
                <a16:creationId xmlns:a16="http://schemas.microsoft.com/office/drawing/2014/main" id="{3D4DD805-AFB3-729A-FFD8-E21CEAB8E608}"/>
              </a:ext>
            </a:extLst>
          </p:cNvPr>
          <p:cNvPicPr>
            <a:picLocks noChangeAspect="1"/>
          </p:cNvPicPr>
          <p:nvPr/>
        </p:nvPicPr>
        <p:blipFill>
          <a:blip r:embed="rId3"/>
          <a:stretch>
            <a:fillRect/>
          </a:stretch>
        </p:blipFill>
        <p:spPr>
          <a:xfrm>
            <a:off x="3227164" y="1311910"/>
            <a:ext cx="2505331" cy="3109557"/>
          </a:xfrm>
          <a:prstGeom prst="rect">
            <a:avLst/>
          </a:prstGeom>
        </p:spPr>
      </p:pic>
      <p:sp>
        <p:nvSpPr>
          <p:cNvPr id="11" name="Title 1">
            <a:extLst>
              <a:ext uri="{FF2B5EF4-FFF2-40B4-BE49-F238E27FC236}">
                <a16:creationId xmlns:a16="http://schemas.microsoft.com/office/drawing/2014/main" id="{DDB8199D-95ED-530E-16A0-F3237AE97C2D}"/>
              </a:ext>
            </a:extLst>
          </p:cNvPr>
          <p:cNvSpPr txBox="1">
            <a:spLocks/>
          </p:cNvSpPr>
          <p:nvPr/>
        </p:nvSpPr>
        <p:spPr>
          <a:xfrm>
            <a:off x="381399" y="760729"/>
            <a:ext cx="2156604" cy="4802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C00000"/>
                </a:solidFill>
              </a:rPr>
              <a:t>Light theme</a:t>
            </a:r>
            <a:endParaRPr lang="en-IN" sz="2400" b="1" dirty="0">
              <a:solidFill>
                <a:srgbClr val="C00000"/>
              </a:solidFill>
            </a:endParaRPr>
          </a:p>
        </p:txBody>
      </p:sp>
      <p:pic>
        <p:nvPicPr>
          <p:cNvPr id="13" name="Picture 12">
            <a:extLst>
              <a:ext uri="{FF2B5EF4-FFF2-40B4-BE49-F238E27FC236}">
                <a16:creationId xmlns:a16="http://schemas.microsoft.com/office/drawing/2014/main" id="{026D39AB-84AB-20A7-70C0-974BE20799A1}"/>
              </a:ext>
            </a:extLst>
          </p:cNvPr>
          <p:cNvPicPr>
            <a:picLocks noChangeAspect="1"/>
          </p:cNvPicPr>
          <p:nvPr/>
        </p:nvPicPr>
        <p:blipFill>
          <a:blip r:embed="rId4"/>
          <a:stretch>
            <a:fillRect/>
          </a:stretch>
        </p:blipFill>
        <p:spPr>
          <a:xfrm>
            <a:off x="6150866" y="1311910"/>
            <a:ext cx="2665091" cy="3006396"/>
          </a:xfrm>
          <a:prstGeom prst="rect">
            <a:avLst/>
          </a:prstGeom>
        </p:spPr>
      </p:pic>
      <p:sp>
        <p:nvSpPr>
          <p:cNvPr id="14" name="Title 1">
            <a:extLst>
              <a:ext uri="{FF2B5EF4-FFF2-40B4-BE49-F238E27FC236}">
                <a16:creationId xmlns:a16="http://schemas.microsoft.com/office/drawing/2014/main" id="{0D0FDFF0-D01E-8C91-9F23-D7DEED426571}"/>
              </a:ext>
            </a:extLst>
          </p:cNvPr>
          <p:cNvSpPr txBox="1">
            <a:spLocks/>
          </p:cNvSpPr>
          <p:nvPr/>
        </p:nvSpPr>
        <p:spPr>
          <a:xfrm>
            <a:off x="6262774" y="760728"/>
            <a:ext cx="2441276" cy="4802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C00000"/>
                </a:solidFill>
              </a:rPr>
              <a:t>Dark theme</a:t>
            </a:r>
            <a:endParaRPr lang="en-IN" sz="2400" b="1" dirty="0">
              <a:solidFill>
                <a:srgbClr val="C00000"/>
              </a:solidFill>
            </a:endParaRPr>
          </a:p>
        </p:txBody>
      </p:sp>
      <p:sp>
        <p:nvSpPr>
          <p:cNvPr id="15" name="Title 1">
            <a:extLst>
              <a:ext uri="{FF2B5EF4-FFF2-40B4-BE49-F238E27FC236}">
                <a16:creationId xmlns:a16="http://schemas.microsoft.com/office/drawing/2014/main" id="{A90C0B99-8171-8468-EE68-C4D01A4F8612}"/>
              </a:ext>
            </a:extLst>
          </p:cNvPr>
          <p:cNvSpPr txBox="1">
            <a:spLocks/>
          </p:cNvSpPr>
          <p:nvPr/>
        </p:nvSpPr>
        <p:spPr>
          <a:xfrm>
            <a:off x="120774" y="157967"/>
            <a:ext cx="5917721" cy="4802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0000FF"/>
                </a:solidFill>
              </a:rPr>
              <a:t>CSS Cascading – Alternate stylesheet</a:t>
            </a:r>
            <a:endParaRPr lang="en-IN" sz="3200" b="1" dirty="0">
              <a:solidFill>
                <a:srgbClr val="0000FF"/>
              </a:solidFill>
            </a:endParaRPr>
          </a:p>
        </p:txBody>
      </p:sp>
      <p:sp>
        <p:nvSpPr>
          <p:cNvPr id="17" name="TextBox 16">
            <a:extLst>
              <a:ext uri="{FF2B5EF4-FFF2-40B4-BE49-F238E27FC236}">
                <a16:creationId xmlns:a16="http://schemas.microsoft.com/office/drawing/2014/main" id="{52B97347-B26B-1244-E360-EA1D43328E6F}"/>
              </a:ext>
            </a:extLst>
          </p:cNvPr>
          <p:cNvSpPr txBox="1"/>
          <p:nvPr/>
        </p:nvSpPr>
        <p:spPr>
          <a:xfrm>
            <a:off x="323493" y="4492385"/>
            <a:ext cx="8497014" cy="2308324"/>
          </a:xfrm>
          <a:prstGeom prst="rect">
            <a:avLst/>
          </a:prstGeom>
          <a:noFill/>
        </p:spPr>
        <p:txBody>
          <a:bodyPr wrap="square">
            <a:spAutoFit/>
          </a:bodyPr>
          <a:lstStyle/>
          <a:p>
            <a:r>
              <a:rPr lang="en-IN" sz="2400" dirty="0">
                <a:solidFill>
                  <a:srgbClr val="C00000"/>
                </a:solidFill>
              </a:rPr>
              <a:t>For checking alternate style sheet </a:t>
            </a:r>
          </a:p>
          <a:p>
            <a:r>
              <a:rPr lang="en-IN" sz="2400" dirty="0">
                <a:sym typeface="Wingdings" panose="05000000000000000000" pitchFamily="2" charset="2"/>
              </a:rPr>
              <a:t> </a:t>
            </a:r>
            <a:r>
              <a:rPr lang="en-IN" sz="2400" dirty="0"/>
              <a:t>Open html file with Firefox browser and press alt to get menu bar</a:t>
            </a:r>
          </a:p>
          <a:p>
            <a:r>
              <a:rPr lang="en-IN" sz="2400" dirty="0">
                <a:sym typeface="Wingdings" panose="05000000000000000000" pitchFamily="2" charset="2"/>
              </a:rPr>
              <a:t> </a:t>
            </a:r>
            <a:r>
              <a:rPr lang="en-IN" sz="2400" dirty="0"/>
              <a:t>in view menu bar --&gt; under style --&gt; we will be able to see the titles of the alternate style sheets</a:t>
            </a:r>
          </a:p>
          <a:p>
            <a:r>
              <a:rPr lang="en-IN" sz="2400" dirty="0">
                <a:sym typeface="Wingdings" panose="05000000000000000000" pitchFamily="2" charset="2"/>
              </a:rPr>
              <a:t> </a:t>
            </a:r>
            <a:r>
              <a:rPr lang="en-IN" sz="2400" dirty="0"/>
              <a:t>Choose style to view the application of styles</a:t>
            </a:r>
          </a:p>
        </p:txBody>
      </p:sp>
    </p:spTree>
    <p:extLst>
      <p:ext uri="{BB962C8B-B14F-4D97-AF65-F5344CB8AC3E}">
        <p14:creationId xmlns:p14="http://schemas.microsoft.com/office/powerpoint/2010/main" val="3748734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4">
            <a:extLst>
              <a:ext uri="{FF2B5EF4-FFF2-40B4-BE49-F238E27FC236}">
                <a16:creationId xmlns:a16="http://schemas.microsoft.com/office/drawing/2014/main" id="{0319E5E0-CEB8-DEDE-F606-61D4EF8A94A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000"/>
              <a:t>Jackson, Web Technologies: A Computer Science Perspective, © 2007 Prentice-Hall, Inc. All rights reserved. 0-13-185603-0 </a:t>
            </a:r>
          </a:p>
        </p:txBody>
      </p:sp>
      <p:sp>
        <p:nvSpPr>
          <p:cNvPr id="66564" name="Rectangle 3">
            <a:extLst>
              <a:ext uri="{FF2B5EF4-FFF2-40B4-BE49-F238E27FC236}">
                <a16:creationId xmlns:a16="http://schemas.microsoft.com/office/drawing/2014/main" id="{DEC17065-0BF6-7031-BBAA-89EAEE3A9BE4}"/>
              </a:ext>
            </a:extLst>
          </p:cNvPr>
          <p:cNvSpPr>
            <a:spLocks noGrp="1" noChangeArrowheads="1"/>
          </p:cNvSpPr>
          <p:nvPr>
            <p:ph type="body" idx="1"/>
          </p:nvPr>
        </p:nvSpPr>
        <p:spPr>
          <a:xfrm>
            <a:off x="628650" y="1104958"/>
            <a:ext cx="7886700" cy="692941"/>
          </a:xfrm>
        </p:spPr>
        <p:txBody>
          <a:bodyPr/>
          <a:lstStyle/>
          <a:p>
            <a:pPr eaLnBrk="1" hangingPunct="1"/>
            <a:r>
              <a:rPr lang="en-US" altLang="en-US" dirty="0"/>
              <a:t>Every rendered element occupies a box:</a:t>
            </a:r>
          </a:p>
        </p:txBody>
      </p:sp>
      <p:pic>
        <p:nvPicPr>
          <p:cNvPr id="66565" name="Picture 4" descr="BoxModel">
            <a:extLst>
              <a:ext uri="{FF2B5EF4-FFF2-40B4-BE49-F238E27FC236}">
                <a16:creationId xmlns:a16="http://schemas.microsoft.com/office/drawing/2014/main" id="{D77D87B5-1B0F-7DF4-D6A2-1FD687B078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8698" y="2083280"/>
            <a:ext cx="5562600" cy="329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6" name="Text Box 5">
            <a:extLst>
              <a:ext uri="{FF2B5EF4-FFF2-40B4-BE49-F238E27FC236}">
                <a16:creationId xmlns:a16="http://schemas.microsoft.com/office/drawing/2014/main" id="{F21E05A1-B769-A068-1AD2-51E976825D4B}"/>
              </a:ext>
            </a:extLst>
          </p:cNvPr>
          <p:cNvSpPr txBox="1">
            <a:spLocks noChangeArrowheads="1"/>
          </p:cNvSpPr>
          <p:nvPr/>
        </p:nvSpPr>
        <p:spPr bwMode="auto">
          <a:xfrm>
            <a:off x="5546725" y="5522913"/>
            <a:ext cx="168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(or </a:t>
            </a:r>
            <a:r>
              <a:rPr lang="en-US" altLang="en-US" sz="1800" i="1"/>
              <a:t>inner</a:t>
            </a:r>
            <a:r>
              <a:rPr lang="en-US" altLang="en-US" sz="1800"/>
              <a:t> edge)</a:t>
            </a:r>
          </a:p>
        </p:txBody>
      </p:sp>
      <p:sp>
        <p:nvSpPr>
          <p:cNvPr id="66567" name="Text Box 6">
            <a:extLst>
              <a:ext uri="{FF2B5EF4-FFF2-40B4-BE49-F238E27FC236}">
                <a16:creationId xmlns:a16="http://schemas.microsoft.com/office/drawing/2014/main" id="{EEBB1EFF-5DBE-D4AC-754D-CACB8ED12B85}"/>
              </a:ext>
            </a:extLst>
          </p:cNvPr>
          <p:cNvSpPr txBox="1">
            <a:spLocks noChangeArrowheads="1"/>
          </p:cNvSpPr>
          <p:nvPr/>
        </p:nvSpPr>
        <p:spPr bwMode="auto">
          <a:xfrm>
            <a:off x="6858000" y="2438400"/>
            <a:ext cx="169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(or </a:t>
            </a:r>
            <a:r>
              <a:rPr lang="en-US" altLang="en-US" sz="1800" i="1"/>
              <a:t>outer</a:t>
            </a:r>
            <a:r>
              <a:rPr lang="en-US" altLang="en-US" sz="1800"/>
              <a:t> edge)</a:t>
            </a:r>
          </a:p>
        </p:txBody>
      </p:sp>
      <p:sp>
        <p:nvSpPr>
          <p:cNvPr id="4" name="Title 1">
            <a:extLst>
              <a:ext uri="{FF2B5EF4-FFF2-40B4-BE49-F238E27FC236}">
                <a16:creationId xmlns:a16="http://schemas.microsoft.com/office/drawing/2014/main" id="{893A68A9-5FB2-A29B-BCF6-2F0623CDE7F8}"/>
              </a:ext>
            </a:extLst>
          </p:cNvPr>
          <p:cNvSpPr>
            <a:spLocks noGrp="1"/>
          </p:cNvSpPr>
          <p:nvPr>
            <p:ph type="title"/>
          </p:nvPr>
        </p:nvSpPr>
        <p:spPr>
          <a:xfrm>
            <a:off x="120774" y="157967"/>
            <a:ext cx="3096879" cy="480263"/>
          </a:xfrm>
        </p:spPr>
        <p:txBody>
          <a:bodyPr>
            <a:noAutofit/>
          </a:bodyPr>
          <a:lstStyle/>
          <a:p>
            <a:r>
              <a:rPr lang="en-US" sz="2400" b="1" dirty="0">
                <a:solidFill>
                  <a:srgbClr val="0000FF"/>
                </a:solidFill>
              </a:rPr>
              <a:t>CSS Box model</a:t>
            </a:r>
            <a:endParaRPr lang="en-IN" sz="2400" b="1" dirty="0">
              <a:solidFill>
                <a:srgbClr val="0000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3">
            <a:extLst>
              <a:ext uri="{FF2B5EF4-FFF2-40B4-BE49-F238E27FC236}">
                <a16:creationId xmlns:a16="http://schemas.microsoft.com/office/drawing/2014/main" id="{663BB481-B6AD-A592-618E-B0AC844A6DD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000"/>
              <a:t>Jackson, Web Technologies: A Computer Science Perspective, © 2007 Prentice-Hall, Inc. All rights reserved. 0-13-185603-0 </a:t>
            </a:r>
          </a:p>
        </p:txBody>
      </p:sp>
      <p:pic>
        <p:nvPicPr>
          <p:cNvPr id="67588" name="Picture 4" descr="BoxModel2">
            <a:extLst>
              <a:ext uri="{FF2B5EF4-FFF2-40B4-BE49-F238E27FC236}">
                <a16:creationId xmlns:a16="http://schemas.microsoft.com/office/drawing/2014/main" id="{6348282E-F0F7-DEE2-F5D5-F16034F4B6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405063"/>
            <a:ext cx="8305800"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3ECE3825-38BE-84D8-748F-51A212FE0C6D}"/>
              </a:ext>
            </a:extLst>
          </p:cNvPr>
          <p:cNvSpPr txBox="1">
            <a:spLocks/>
          </p:cNvSpPr>
          <p:nvPr/>
        </p:nvSpPr>
        <p:spPr>
          <a:xfrm>
            <a:off x="120774" y="157967"/>
            <a:ext cx="2717318" cy="6097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00FF"/>
                </a:solidFill>
              </a:rPr>
              <a:t>CSS Box model</a:t>
            </a:r>
            <a:endParaRPr lang="en-IN" sz="2800" b="1" dirty="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3">
            <a:extLst>
              <a:ext uri="{FF2B5EF4-FFF2-40B4-BE49-F238E27FC236}">
                <a16:creationId xmlns:a16="http://schemas.microsoft.com/office/drawing/2014/main" id="{56FC3ADA-D7BA-5D29-DE89-368DF8F19F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000"/>
              <a:t>Jackson, Web Technologies: A Computer Science Perspective, © 2007 Prentice-Hall, Inc. All rights reserved. 0-13-185603-0 </a:t>
            </a:r>
          </a:p>
        </p:txBody>
      </p:sp>
      <p:pic>
        <p:nvPicPr>
          <p:cNvPr id="71684" name="Picture 7">
            <a:extLst>
              <a:ext uri="{FF2B5EF4-FFF2-40B4-BE49-F238E27FC236}">
                <a16:creationId xmlns:a16="http://schemas.microsoft.com/office/drawing/2014/main" id="{77ECB807-6E8D-2DD5-B987-FEF8274E10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71600"/>
            <a:ext cx="7254875"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5" name="Picture 8">
            <a:extLst>
              <a:ext uri="{FF2B5EF4-FFF2-40B4-BE49-F238E27FC236}">
                <a16:creationId xmlns:a16="http://schemas.microsoft.com/office/drawing/2014/main" id="{2970BFD6-6227-8726-54A7-C6BD51F83A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819400"/>
            <a:ext cx="692150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F0FFE30B-8156-7D40-A579-FFC18D47ED93}"/>
              </a:ext>
            </a:extLst>
          </p:cNvPr>
          <p:cNvSpPr txBox="1">
            <a:spLocks/>
          </p:cNvSpPr>
          <p:nvPr/>
        </p:nvSpPr>
        <p:spPr>
          <a:xfrm>
            <a:off x="120774" y="157967"/>
            <a:ext cx="2717318" cy="6097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00FF"/>
                </a:solidFill>
              </a:rPr>
              <a:t>CSS Box model</a:t>
            </a:r>
            <a:endParaRPr lang="en-IN" sz="2800" b="1" dirty="0">
              <a:solidFill>
                <a:srgbClr val="00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id="{E06CDE33-7497-1FEE-5E35-D953964ED4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000"/>
              <a:t>Jackson, Web Technologies: A Computer Science Perspective, © 2007 Prentice-Hall, Inc. All rights reserved. 0-13-185603-0 </a:t>
            </a:r>
          </a:p>
        </p:txBody>
      </p:sp>
      <p:pic>
        <p:nvPicPr>
          <p:cNvPr id="72708" name="Picture 5">
            <a:extLst>
              <a:ext uri="{FF2B5EF4-FFF2-40B4-BE49-F238E27FC236}">
                <a16:creationId xmlns:a16="http://schemas.microsoft.com/office/drawing/2014/main" id="{937F5D67-24F8-E40E-312E-A05F3922E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375" y="2571750"/>
            <a:ext cx="7207250"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9" name="Picture 6">
            <a:extLst>
              <a:ext uri="{FF2B5EF4-FFF2-40B4-BE49-F238E27FC236}">
                <a16:creationId xmlns:a16="http://schemas.microsoft.com/office/drawing/2014/main" id="{96AAE08E-1FC6-6027-A4DE-C07119603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133600"/>
            <a:ext cx="70643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9A9BCCF9-A9FD-9CC9-D0D0-99BD6B36921F}"/>
              </a:ext>
            </a:extLst>
          </p:cNvPr>
          <p:cNvSpPr txBox="1">
            <a:spLocks/>
          </p:cNvSpPr>
          <p:nvPr/>
        </p:nvSpPr>
        <p:spPr>
          <a:xfrm>
            <a:off x="120774" y="157967"/>
            <a:ext cx="2717318" cy="6097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00FF"/>
                </a:solidFill>
              </a:rPr>
              <a:t>CSS Box model</a:t>
            </a:r>
            <a:endParaRPr lang="en-IN" sz="2800" b="1" dirty="0">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a:extLst>
              <a:ext uri="{FF2B5EF4-FFF2-40B4-BE49-F238E27FC236}">
                <a16:creationId xmlns:a16="http://schemas.microsoft.com/office/drawing/2014/main" id="{F2108552-FA3F-E9CE-63D1-D575C94CD72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000"/>
              <a:t>Jackson, Web Technologies: A Computer Science Perspective, © 2007 Prentice-Hall, Inc. All rights reserved. 0-13-185603-0 </a:t>
            </a:r>
          </a:p>
        </p:txBody>
      </p:sp>
      <p:pic>
        <p:nvPicPr>
          <p:cNvPr id="73732" name="Picture 4">
            <a:extLst>
              <a:ext uri="{FF2B5EF4-FFF2-40B4-BE49-F238E27FC236}">
                <a16:creationId xmlns:a16="http://schemas.microsoft.com/office/drawing/2014/main" id="{B4FBEB10-AD52-AA63-444D-1FA0127578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76400"/>
            <a:ext cx="7254875"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3" name="Picture 6">
            <a:extLst>
              <a:ext uri="{FF2B5EF4-FFF2-40B4-BE49-F238E27FC236}">
                <a16:creationId xmlns:a16="http://schemas.microsoft.com/office/drawing/2014/main" id="{40BC5882-62CD-F453-174B-75C473DE0C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971800"/>
            <a:ext cx="4191000"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4" name="Picture 7">
            <a:extLst>
              <a:ext uri="{FF2B5EF4-FFF2-40B4-BE49-F238E27FC236}">
                <a16:creationId xmlns:a16="http://schemas.microsoft.com/office/drawing/2014/main" id="{7A4DEC0A-7A10-7D4F-892A-49C25CDC03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2971800"/>
            <a:ext cx="419100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5" name="Picture 8">
            <a:extLst>
              <a:ext uri="{FF2B5EF4-FFF2-40B4-BE49-F238E27FC236}">
                <a16:creationId xmlns:a16="http://schemas.microsoft.com/office/drawing/2014/main" id="{E77415CB-272C-98EC-881A-C0AFD8DBD7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1447800"/>
            <a:ext cx="70643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E5BE90E9-1B18-5D91-5B23-95C21039F03E}"/>
              </a:ext>
            </a:extLst>
          </p:cNvPr>
          <p:cNvSpPr txBox="1">
            <a:spLocks/>
          </p:cNvSpPr>
          <p:nvPr/>
        </p:nvSpPr>
        <p:spPr>
          <a:xfrm>
            <a:off x="120774" y="157967"/>
            <a:ext cx="2717318" cy="6097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00FF"/>
                </a:solidFill>
              </a:rPr>
              <a:t>CSS Box model</a:t>
            </a:r>
            <a:endParaRPr lang="en-IN" sz="2800" b="1" dirty="0">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6" name="Picture 5">
            <a:extLst>
              <a:ext uri="{FF2B5EF4-FFF2-40B4-BE49-F238E27FC236}">
                <a16:creationId xmlns:a16="http://schemas.microsoft.com/office/drawing/2014/main" id="{23CBEC31-72CF-E869-9151-0F6F30138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752600"/>
            <a:ext cx="70643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Picture 6">
            <a:extLst>
              <a:ext uri="{FF2B5EF4-FFF2-40B4-BE49-F238E27FC236}">
                <a16:creationId xmlns:a16="http://schemas.microsoft.com/office/drawing/2014/main" id="{FD9F497C-F915-898F-9032-796D9C3EB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133600"/>
            <a:ext cx="720725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196C5C13-9BA3-1319-2EFF-FB1994BEAD39}"/>
              </a:ext>
            </a:extLst>
          </p:cNvPr>
          <p:cNvSpPr txBox="1">
            <a:spLocks/>
          </p:cNvSpPr>
          <p:nvPr/>
        </p:nvSpPr>
        <p:spPr>
          <a:xfrm>
            <a:off x="120774" y="157967"/>
            <a:ext cx="2717318" cy="6097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0000FF"/>
                </a:solidFill>
              </a:rPr>
              <a:t>CSS Box model</a:t>
            </a:r>
            <a:endParaRPr lang="en-IN" sz="2800" b="1" dirty="0">
              <a:solidFill>
                <a:srgbClr val="00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3711F3-13E3-558D-C8D6-D5895F54C98C}"/>
              </a:ext>
            </a:extLst>
          </p:cNvPr>
          <p:cNvPicPr>
            <a:picLocks noChangeAspect="1"/>
          </p:cNvPicPr>
          <p:nvPr/>
        </p:nvPicPr>
        <p:blipFill>
          <a:blip r:embed="rId2"/>
          <a:stretch>
            <a:fillRect/>
          </a:stretch>
        </p:blipFill>
        <p:spPr>
          <a:xfrm>
            <a:off x="0" y="2507250"/>
            <a:ext cx="9144000" cy="3534276"/>
          </a:xfrm>
          <a:prstGeom prst="rect">
            <a:avLst/>
          </a:prstGeom>
        </p:spPr>
      </p:pic>
      <p:sp>
        <p:nvSpPr>
          <p:cNvPr id="8" name="Title 1">
            <a:extLst>
              <a:ext uri="{FF2B5EF4-FFF2-40B4-BE49-F238E27FC236}">
                <a16:creationId xmlns:a16="http://schemas.microsoft.com/office/drawing/2014/main" id="{8CE9E3DC-1047-DE49-F9F4-771D6CC06239}"/>
              </a:ext>
            </a:extLst>
          </p:cNvPr>
          <p:cNvSpPr>
            <a:spLocks noGrp="1"/>
          </p:cNvSpPr>
          <p:nvPr>
            <p:ph type="title"/>
          </p:nvPr>
        </p:nvSpPr>
        <p:spPr>
          <a:xfrm>
            <a:off x="120774" y="157967"/>
            <a:ext cx="5917721" cy="480263"/>
          </a:xfrm>
        </p:spPr>
        <p:txBody>
          <a:bodyPr>
            <a:noAutofit/>
          </a:bodyPr>
          <a:lstStyle/>
          <a:p>
            <a:r>
              <a:rPr lang="en-US" sz="2400" b="1" dirty="0">
                <a:solidFill>
                  <a:srgbClr val="0000FF"/>
                </a:solidFill>
              </a:rPr>
              <a:t>CSS Box model - Example</a:t>
            </a:r>
            <a:endParaRPr lang="en-IN" sz="2400" b="1" dirty="0">
              <a:solidFill>
                <a:srgbClr val="0000FF"/>
              </a:solidFill>
            </a:endParaRPr>
          </a:p>
        </p:txBody>
      </p:sp>
      <p:sp>
        <p:nvSpPr>
          <p:cNvPr id="10" name="TextBox 9">
            <a:extLst>
              <a:ext uri="{FF2B5EF4-FFF2-40B4-BE49-F238E27FC236}">
                <a16:creationId xmlns:a16="http://schemas.microsoft.com/office/drawing/2014/main" id="{370CA38C-F0D7-7360-A18B-20830BFE229E}"/>
              </a:ext>
            </a:extLst>
          </p:cNvPr>
          <p:cNvSpPr txBox="1"/>
          <p:nvPr/>
        </p:nvSpPr>
        <p:spPr>
          <a:xfrm>
            <a:off x="362309" y="972575"/>
            <a:ext cx="8264105" cy="1200329"/>
          </a:xfrm>
          <a:prstGeom prst="rect">
            <a:avLst/>
          </a:prstGeom>
          <a:noFill/>
        </p:spPr>
        <p:txBody>
          <a:bodyPr wrap="square">
            <a:spAutoFit/>
          </a:bodyPr>
          <a:lstStyle/>
          <a:p>
            <a:pPr marL="342900" indent="-342900">
              <a:buFont typeface="Wingdings" panose="05000000000000000000" pitchFamily="2" charset="2"/>
              <a:buChar char="à"/>
            </a:pPr>
            <a:r>
              <a:rPr lang="en-IN" sz="2400" dirty="0"/>
              <a:t>describes how every HTML element is represented as a rectangular box</a:t>
            </a:r>
          </a:p>
          <a:p>
            <a:pPr marL="342900" indent="-342900">
              <a:buFont typeface="Wingdings" panose="05000000000000000000" pitchFamily="2" charset="2"/>
              <a:buChar char="à"/>
            </a:pPr>
            <a:r>
              <a:rPr lang="en-IN" sz="2400" dirty="0"/>
              <a:t>determines the space an element occupies on a webpage</a:t>
            </a:r>
          </a:p>
        </p:txBody>
      </p:sp>
    </p:spTree>
    <p:extLst>
      <p:ext uri="{BB962C8B-B14F-4D97-AF65-F5344CB8AC3E}">
        <p14:creationId xmlns:p14="http://schemas.microsoft.com/office/powerpoint/2010/main" val="173185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74B9BAA-01CC-43C0-4F6D-6570C2FC0138}"/>
              </a:ext>
            </a:extLst>
          </p:cNvPr>
          <p:cNvSpPr>
            <a:spLocks noGrp="1"/>
          </p:cNvSpPr>
          <p:nvPr>
            <p:ph type="title"/>
          </p:nvPr>
        </p:nvSpPr>
        <p:spPr>
          <a:xfrm>
            <a:off x="120774" y="157967"/>
            <a:ext cx="5917721" cy="480263"/>
          </a:xfrm>
        </p:spPr>
        <p:txBody>
          <a:bodyPr>
            <a:normAutofit fontScale="90000"/>
          </a:bodyPr>
          <a:lstStyle/>
          <a:p>
            <a:r>
              <a:rPr lang="en-US" sz="3200" b="1" dirty="0">
                <a:solidFill>
                  <a:srgbClr val="0000FF"/>
                </a:solidFill>
              </a:rPr>
              <a:t>Responsive Layout – Two Columns</a:t>
            </a:r>
            <a:endParaRPr lang="en-IN" sz="3200" b="1" dirty="0">
              <a:solidFill>
                <a:srgbClr val="0000FF"/>
              </a:solidFill>
            </a:endParaRPr>
          </a:p>
        </p:txBody>
      </p:sp>
      <p:sp>
        <p:nvSpPr>
          <p:cNvPr id="14" name="TextBox 13">
            <a:extLst>
              <a:ext uri="{FF2B5EF4-FFF2-40B4-BE49-F238E27FC236}">
                <a16:creationId xmlns:a16="http://schemas.microsoft.com/office/drawing/2014/main" id="{39576B06-70FB-77C6-7F9C-F3D6428B8675}"/>
              </a:ext>
            </a:extLst>
          </p:cNvPr>
          <p:cNvSpPr txBox="1"/>
          <p:nvPr/>
        </p:nvSpPr>
        <p:spPr>
          <a:xfrm>
            <a:off x="145227" y="641321"/>
            <a:ext cx="8565297" cy="1200329"/>
          </a:xfrm>
          <a:prstGeom prst="rect">
            <a:avLst/>
          </a:prstGeom>
          <a:noFill/>
        </p:spPr>
        <p:txBody>
          <a:bodyPr wrap="square">
            <a:spAutoFit/>
          </a:bodyPr>
          <a:lstStyle/>
          <a:p>
            <a:r>
              <a:rPr lang="en-IN" sz="2400" dirty="0">
                <a:sym typeface="Wingdings" panose="05000000000000000000" pitchFamily="2" charset="2"/>
              </a:rPr>
              <a:t> </a:t>
            </a:r>
            <a:r>
              <a:rPr lang="en-IN" sz="2400" dirty="0"/>
              <a:t>that automatically adjusts its structure, size, and arrangement to fit different screen sizes and devices, such as desktops, laptops, tablets, and mobile phones.</a:t>
            </a:r>
          </a:p>
        </p:txBody>
      </p:sp>
      <p:pic>
        <p:nvPicPr>
          <p:cNvPr id="16" name="Picture 15">
            <a:extLst>
              <a:ext uri="{FF2B5EF4-FFF2-40B4-BE49-F238E27FC236}">
                <a16:creationId xmlns:a16="http://schemas.microsoft.com/office/drawing/2014/main" id="{FE8B339E-CB84-F587-C2F0-AA80E916581D}"/>
              </a:ext>
            </a:extLst>
          </p:cNvPr>
          <p:cNvPicPr>
            <a:picLocks noChangeAspect="1"/>
          </p:cNvPicPr>
          <p:nvPr/>
        </p:nvPicPr>
        <p:blipFill>
          <a:blip r:embed="rId2"/>
          <a:stretch>
            <a:fillRect/>
          </a:stretch>
        </p:blipFill>
        <p:spPr>
          <a:xfrm>
            <a:off x="0" y="2359478"/>
            <a:ext cx="9144000" cy="2139043"/>
          </a:xfrm>
          <a:prstGeom prst="rect">
            <a:avLst/>
          </a:prstGeom>
        </p:spPr>
      </p:pic>
    </p:spTree>
    <p:extLst>
      <p:ext uri="{BB962C8B-B14F-4D97-AF65-F5344CB8AC3E}">
        <p14:creationId xmlns:p14="http://schemas.microsoft.com/office/powerpoint/2010/main" val="1616245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E07E27-C7B2-EF6E-3C58-683FCE040C0A}"/>
              </a:ext>
            </a:extLst>
          </p:cNvPr>
          <p:cNvPicPr>
            <a:picLocks noChangeAspect="1"/>
          </p:cNvPicPr>
          <p:nvPr/>
        </p:nvPicPr>
        <p:blipFill>
          <a:blip r:embed="rId2"/>
          <a:stretch>
            <a:fillRect/>
          </a:stretch>
        </p:blipFill>
        <p:spPr>
          <a:xfrm>
            <a:off x="295492" y="955878"/>
            <a:ext cx="8391307" cy="5224640"/>
          </a:xfrm>
          <a:prstGeom prst="rect">
            <a:avLst/>
          </a:prstGeom>
        </p:spPr>
      </p:pic>
      <p:sp>
        <p:nvSpPr>
          <p:cNvPr id="5" name="Title 1">
            <a:extLst>
              <a:ext uri="{FF2B5EF4-FFF2-40B4-BE49-F238E27FC236}">
                <a16:creationId xmlns:a16="http://schemas.microsoft.com/office/drawing/2014/main" id="{7F9374E5-0E3A-8DFD-5F18-122B8C5A8E65}"/>
              </a:ext>
            </a:extLst>
          </p:cNvPr>
          <p:cNvSpPr>
            <a:spLocks noGrp="1"/>
          </p:cNvSpPr>
          <p:nvPr>
            <p:ph type="title"/>
          </p:nvPr>
        </p:nvSpPr>
        <p:spPr>
          <a:xfrm>
            <a:off x="120774" y="157967"/>
            <a:ext cx="5917721" cy="480263"/>
          </a:xfrm>
        </p:spPr>
        <p:txBody>
          <a:bodyPr>
            <a:normAutofit fontScale="90000"/>
          </a:bodyPr>
          <a:lstStyle/>
          <a:p>
            <a:r>
              <a:rPr lang="en-US" sz="3200" b="1" dirty="0">
                <a:solidFill>
                  <a:srgbClr val="0000FF"/>
                </a:solidFill>
              </a:rPr>
              <a:t>Responsive Layout - Two Columns</a:t>
            </a:r>
            <a:endParaRPr lang="en-IN" sz="3200" b="1" dirty="0">
              <a:solidFill>
                <a:srgbClr val="0000FF"/>
              </a:solidFill>
            </a:endParaRPr>
          </a:p>
        </p:txBody>
      </p:sp>
    </p:spTree>
    <p:extLst>
      <p:ext uri="{BB962C8B-B14F-4D97-AF65-F5344CB8AC3E}">
        <p14:creationId xmlns:p14="http://schemas.microsoft.com/office/powerpoint/2010/main" val="804245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D6CD4AC-EEE7-0971-7B49-65156A8258EB}"/>
              </a:ext>
            </a:extLst>
          </p:cNvPr>
          <p:cNvSpPr>
            <a:spLocks noGrp="1"/>
          </p:cNvSpPr>
          <p:nvPr>
            <p:ph type="title"/>
          </p:nvPr>
        </p:nvSpPr>
        <p:spPr>
          <a:xfrm>
            <a:off x="120774" y="157967"/>
            <a:ext cx="5917721" cy="480263"/>
          </a:xfrm>
        </p:spPr>
        <p:txBody>
          <a:bodyPr>
            <a:normAutofit fontScale="90000"/>
          </a:bodyPr>
          <a:lstStyle/>
          <a:p>
            <a:r>
              <a:rPr lang="en-US" sz="3200" b="1" dirty="0">
                <a:solidFill>
                  <a:srgbClr val="0000FF"/>
                </a:solidFill>
              </a:rPr>
              <a:t>Responsive Layout - Two Columns</a:t>
            </a:r>
            <a:endParaRPr lang="en-IN" sz="3200" b="1" dirty="0">
              <a:solidFill>
                <a:srgbClr val="0000FF"/>
              </a:solidFill>
            </a:endParaRPr>
          </a:p>
        </p:txBody>
      </p:sp>
      <p:pic>
        <p:nvPicPr>
          <p:cNvPr id="7" name="Picture 6">
            <a:extLst>
              <a:ext uri="{FF2B5EF4-FFF2-40B4-BE49-F238E27FC236}">
                <a16:creationId xmlns:a16="http://schemas.microsoft.com/office/drawing/2014/main" id="{EE484C39-CE52-C9F8-8473-EBD8A04E4C24}"/>
              </a:ext>
            </a:extLst>
          </p:cNvPr>
          <p:cNvPicPr>
            <a:picLocks noChangeAspect="1"/>
          </p:cNvPicPr>
          <p:nvPr/>
        </p:nvPicPr>
        <p:blipFill>
          <a:blip r:embed="rId2"/>
          <a:stretch>
            <a:fillRect/>
          </a:stretch>
        </p:blipFill>
        <p:spPr>
          <a:xfrm>
            <a:off x="0" y="1947260"/>
            <a:ext cx="9144000" cy="2963480"/>
          </a:xfrm>
          <a:prstGeom prst="rect">
            <a:avLst/>
          </a:prstGeom>
        </p:spPr>
      </p:pic>
    </p:spTree>
    <p:extLst>
      <p:ext uri="{BB962C8B-B14F-4D97-AF65-F5344CB8AC3E}">
        <p14:creationId xmlns:p14="http://schemas.microsoft.com/office/powerpoint/2010/main" val="4283158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AA51BF-F3DB-ACBF-8B99-380B5043759C}"/>
              </a:ext>
            </a:extLst>
          </p:cNvPr>
          <p:cNvSpPr>
            <a:spLocks noGrp="1"/>
          </p:cNvSpPr>
          <p:nvPr>
            <p:ph type="title"/>
          </p:nvPr>
        </p:nvSpPr>
        <p:spPr>
          <a:xfrm>
            <a:off x="120774" y="157967"/>
            <a:ext cx="5917721" cy="480263"/>
          </a:xfrm>
        </p:spPr>
        <p:txBody>
          <a:bodyPr>
            <a:normAutofit fontScale="90000"/>
          </a:bodyPr>
          <a:lstStyle/>
          <a:p>
            <a:r>
              <a:rPr lang="en-US" sz="3200" b="1" dirty="0">
                <a:solidFill>
                  <a:srgbClr val="0000FF"/>
                </a:solidFill>
              </a:rPr>
              <a:t>Responsive Layout - Example</a:t>
            </a:r>
            <a:endParaRPr lang="en-IN" sz="3200" b="1" dirty="0">
              <a:solidFill>
                <a:srgbClr val="0000FF"/>
              </a:solidFill>
            </a:endParaRPr>
          </a:p>
        </p:txBody>
      </p:sp>
      <p:sp>
        <p:nvSpPr>
          <p:cNvPr id="6" name="TextBox 5">
            <a:extLst>
              <a:ext uri="{FF2B5EF4-FFF2-40B4-BE49-F238E27FC236}">
                <a16:creationId xmlns:a16="http://schemas.microsoft.com/office/drawing/2014/main" id="{9D7A6D6C-0183-B881-E0DA-08943E23ABB7}"/>
              </a:ext>
            </a:extLst>
          </p:cNvPr>
          <p:cNvSpPr txBox="1"/>
          <p:nvPr/>
        </p:nvSpPr>
        <p:spPr>
          <a:xfrm>
            <a:off x="120774" y="759494"/>
            <a:ext cx="4576312" cy="3970318"/>
          </a:xfrm>
          <a:prstGeom prst="rect">
            <a:avLst/>
          </a:prstGeom>
          <a:noFill/>
        </p:spPr>
        <p:txBody>
          <a:bodyPr wrap="square">
            <a:spAutoFit/>
          </a:bodyPr>
          <a:lstStyle/>
          <a:p>
            <a:r>
              <a:rPr lang="en-IN" dirty="0"/>
              <a:t>&lt;body&gt;</a:t>
            </a:r>
          </a:p>
          <a:p>
            <a:r>
              <a:rPr lang="en-IN" dirty="0"/>
              <a:t>&lt;h1 style="</a:t>
            </a:r>
            <a:r>
              <a:rPr lang="en-IN" dirty="0" err="1"/>
              <a:t>text-align:center</a:t>
            </a:r>
            <a:r>
              <a:rPr lang="en-IN" dirty="0"/>
              <a:t>;"&gt;Responsive Two-Column Layout&lt;/h1&gt;</a:t>
            </a:r>
          </a:p>
          <a:p>
            <a:r>
              <a:rPr lang="en-IN" dirty="0"/>
              <a:t>&lt;div class="container"&gt;</a:t>
            </a:r>
          </a:p>
          <a:p>
            <a:r>
              <a:rPr lang="en-IN" dirty="0"/>
              <a:t>    </a:t>
            </a:r>
            <a:r>
              <a:rPr lang="en-IN" dirty="0">
                <a:solidFill>
                  <a:srgbClr val="C00000"/>
                </a:solidFill>
              </a:rPr>
              <a:t>&lt;div class="left"&gt;</a:t>
            </a:r>
          </a:p>
          <a:p>
            <a:r>
              <a:rPr lang="en-IN" dirty="0">
                <a:solidFill>
                  <a:srgbClr val="C00000"/>
                </a:solidFill>
              </a:rPr>
              <a:t>        &lt;h2&gt;Left Column&lt;/h2&gt;</a:t>
            </a:r>
          </a:p>
          <a:p>
            <a:r>
              <a:rPr lang="en-IN" dirty="0">
                <a:solidFill>
                  <a:srgbClr val="C00000"/>
                </a:solidFill>
              </a:rPr>
              <a:t>        &lt;p&gt;This is the left column.&lt;/p&gt;</a:t>
            </a:r>
          </a:p>
          <a:p>
            <a:r>
              <a:rPr lang="en-IN" dirty="0">
                <a:solidFill>
                  <a:srgbClr val="C00000"/>
                </a:solidFill>
              </a:rPr>
              <a:t>    &lt;/div&gt;</a:t>
            </a:r>
          </a:p>
          <a:p>
            <a:r>
              <a:rPr lang="en-IN" dirty="0">
                <a:solidFill>
                  <a:srgbClr val="C00000"/>
                </a:solidFill>
              </a:rPr>
              <a:t>    &lt;div class="right"&gt;</a:t>
            </a:r>
          </a:p>
          <a:p>
            <a:r>
              <a:rPr lang="en-IN" dirty="0">
                <a:solidFill>
                  <a:srgbClr val="C00000"/>
                </a:solidFill>
              </a:rPr>
              <a:t>        &lt;h2&gt;Right Column&lt;/h2&gt;</a:t>
            </a:r>
          </a:p>
          <a:p>
            <a:r>
              <a:rPr lang="en-IN" dirty="0">
                <a:solidFill>
                  <a:srgbClr val="C00000"/>
                </a:solidFill>
              </a:rPr>
              <a:t>        &lt;p&gt;This is the right column.&lt;/p&gt;</a:t>
            </a:r>
          </a:p>
          <a:p>
            <a:r>
              <a:rPr lang="en-IN" dirty="0">
                <a:solidFill>
                  <a:srgbClr val="C00000"/>
                </a:solidFill>
              </a:rPr>
              <a:t>    &lt;/div&gt;</a:t>
            </a:r>
          </a:p>
          <a:p>
            <a:r>
              <a:rPr lang="en-IN" dirty="0"/>
              <a:t>&lt;/div&gt;</a:t>
            </a:r>
          </a:p>
          <a:p>
            <a:r>
              <a:rPr lang="en-IN" dirty="0"/>
              <a:t>&lt;/body&gt;</a:t>
            </a:r>
          </a:p>
        </p:txBody>
      </p:sp>
      <p:sp>
        <p:nvSpPr>
          <p:cNvPr id="8" name="TextBox 7">
            <a:extLst>
              <a:ext uri="{FF2B5EF4-FFF2-40B4-BE49-F238E27FC236}">
                <a16:creationId xmlns:a16="http://schemas.microsoft.com/office/drawing/2014/main" id="{9DCDC6DF-C442-E509-7E0E-87257F215F99}"/>
              </a:ext>
            </a:extLst>
          </p:cNvPr>
          <p:cNvSpPr txBox="1"/>
          <p:nvPr/>
        </p:nvSpPr>
        <p:spPr>
          <a:xfrm>
            <a:off x="4446914" y="157967"/>
            <a:ext cx="4576312" cy="5755422"/>
          </a:xfrm>
          <a:prstGeom prst="rect">
            <a:avLst/>
          </a:prstGeom>
          <a:noFill/>
        </p:spPr>
        <p:txBody>
          <a:bodyPr wrap="square">
            <a:spAutoFit/>
          </a:bodyPr>
          <a:lstStyle/>
          <a:p>
            <a:r>
              <a:rPr lang="en-IN" sz="1600" dirty="0"/>
              <a:t>&lt;style&gt;</a:t>
            </a:r>
          </a:p>
          <a:p>
            <a:r>
              <a:rPr lang="en-IN" sz="1600" dirty="0"/>
              <a:t>.container {    display: flex;      }</a:t>
            </a:r>
          </a:p>
          <a:p>
            <a:r>
              <a:rPr lang="en-IN" sz="1600" dirty="0"/>
              <a:t>        .left {</a:t>
            </a:r>
          </a:p>
          <a:p>
            <a:r>
              <a:rPr lang="en-IN" sz="1600" dirty="0"/>
              <a:t>            width: 30%;</a:t>
            </a:r>
          </a:p>
          <a:p>
            <a:r>
              <a:rPr lang="en-IN" sz="1600" dirty="0"/>
              <a:t>            background-</a:t>
            </a:r>
            <a:r>
              <a:rPr lang="en-IN" sz="1600" dirty="0" err="1"/>
              <a:t>color</a:t>
            </a:r>
            <a:r>
              <a:rPr lang="en-IN" sz="1600" dirty="0"/>
              <a:t>: </a:t>
            </a:r>
            <a:r>
              <a:rPr lang="en-IN" sz="1600" dirty="0" err="1"/>
              <a:t>lightblue</a:t>
            </a:r>
            <a:r>
              <a:rPr lang="en-IN" sz="1600" dirty="0"/>
              <a:t>;</a:t>
            </a:r>
          </a:p>
          <a:p>
            <a:r>
              <a:rPr lang="en-IN" sz="1600" dirty="0"/>
              <a:t>            padding: 20px;</a:t>
            </a:r>
          </a:p>
          <a:p>
            <a:r>
              <a:rPr lang="en-IN" sz="1600" dirty="0"/>
              <a:t>        }</a:t>
            </a:r>
          </a:p>
          <a:p>
            <a:r>
              <a:rPr lang="en-IN" sz="1600" dirty="0"/>
              <a:t>        .right {</a:t>
            </a:r>
          </a:p>
          <a:p>
            <a:r>
              <a:rPr lang="en-IN" sz="1600" dirty="0"/>
              <a:t>            width: 70%;</a:t>
            </a:r>
          </a:p>
          <a:p>
            <a:r>
              <a:rPr lang="en-IN" sz="1600" dirty="0"/>
              <a:t>            background-</a:t>
            </a:r>
            <a:r>
              <a:rPr lang="en-IN" sz="1600" dirty="0" err="1"/>
              <a:t>color</a:t>
            </a:r>
            <a:r>
              <a:rPr lang="en-IN" sz="1600" dirty="0"/>
              <a:t>: </a:t>
            </a:r>
            <a:r>
              <a:rPr lang="en-IN" sz="1600" dirty="0" err="1"/>
              <a:t>lightgreen</a:t>
            </a:r>
            <a:r>
              <a:rPr lang="en-IN" sz="1600" dirty="0"/>
              <a:t>;</a:t>
            </a:r>
          </a:p>
          <a:p>
            <a:r>
              <a:rPr lang="en-IN" sz="1600" dirty="0"/>
              <a:t>            padding: 20px;</a:t>
            </a:r>
          </a:p>
          <a:p>
            <a:r>
              <a:rPr lang="en-IN" sz="1600" dirty="0"/>
              <a:t>        }</a:t>
            </a:r>
          </a:p>
          <a:p>
            <a:r>
              <a:rPr lang="en-IN" sz="1600" dirty="0"/>
              <a:t>        /* Responsive Layout */</a:t>
            </a:r>
          </a:p>
          <a:p>
            <a:r>
              <a:rPr lang="en-IN" sz="1600" dirty="0"/>
              <a:t>        @media (max-width: 600px) {</a:t>
            </a:r>
          </a:p>
          <a:p>
            <a:r>
              <a:rPr lang="en-IN" sz="1600" dirty="0"/>
              <a:t>            .container {</a:t>
            </a:r>
          </a:p>
          <a:p>
            <a:r>
              <a:rPr lang="en-IN" sz="1600" dirty="0"/>
              <a:t>                flex-direction: column;</a:t>
            </a:r>
          </a:p>
          <a:p>
            <a:r>
              <a:rPr lang="en-IN" sz="1600" dirty="0"/>
              <a:t>            }</a:t>
            </a:r>
          </a:p>
          <a:p>
            <a:r>
              <a:rPr lang="en-IN" sz="1600" dirty="0"/>
              <a:t>            .left,</a:t>
            </a:r>
          </a:p>
          <a:p>
            <a:r>
              <a:rPr lang="en-IN" sz="1600" dirty="0"/>
              <a:t>            .right {</a:t>
            </a:r>
          </a:p>
          <a:p>
            <a:r>
              <a:rPr lang="en-IN" sz="1600" dirty="0"/>
              <a:t>                width: 100%;</a:t>
            </a:r>
          </a:p>
          <a:p>
            <a:r>
              <a:rPr lang="en-IN" sz="1600" dirty="0"/>
              <a:t>            }</a:t>
            </a:r>
          </a:p>
          <a:p>
            <a:r>
              <a:rPr lang="en-IN" sz="1600" dirty="0"/>
              <a:t>        }</a:t>
            </a:r>
          </a:p>
          <a:p>
            <a:r>
              <a:rPr lang="en-IN" sz="1600" dirty="0"/>
              <a:t>    &lt;/style&gt;</a:t>
            </a:r>
          </a:p>
        </p:txBody>
      </p:sp>
      <p:sp>
        <p:nvSpPr>
          <p:cNvPr id="10" name="TextBox 9">
            <a:extLst>
              <a:ext uri="{FF2B5EF4-FFF2-40B4-BE49-F238E27FC236}">
                <a16:creationId xmlns:a16="http://schemas.microsoft.com/office/drawing/2014/main" id="{4203DBEB-0EEE-230A-70E7-15FB4F1B505E}"/>
              </a:ext>
            </a:extLst>
          </p:cNvPr>
          <p:cNvSpPr txBox="1"/>
          <p:nvPr/>
        </p:nvSpPr>
        <p:spPr>
          <a:xfrm>
            <a:off x="120773" y="4620727"/>
            <a:ext cx="5132713" cy="2308324"/>
          </a:xfrm>
          <a:prstGeom prst="rect">
            <a:avLst/>
          </a:prstGeom>
          <a:noFill/>
        </p:spPr>
        <p:txBody>
          <a:bodyPr wrap="square">
            <a:spAutoFit/>
          </a:bodyPr>
          <a:lstStyle/>
          <a:p>
            <a:r>
              <a:rPr lang="en-IN" dirty="0">
                <a:solidFill>
                  <a:srgbClr val="0000FF"/>
                </a:solidFill>
              </a:rPr>
              <a:t>&lt;meta name="viewport" content="width=device-width, initial-scale=1.0"&gt;</a:t>
            </a:r>
          </a:p>
          <a:p>
            <a:endParaRPr lang="en-IN" dirty="0"/>
          </a:p>
          <a:p>
            <a:r>
              <a:rPr lang="en-US" dirty="0"/>
              <a:t>initial-scale=1.0</a:t>
            </a:r>
          </a:p>
          <a:p>
            <a:pPr marL="285750" indent="-285750">
              <a:buFont typeface="Arial" panose="020B0604020202020204" pitchFamily="34" charset="0"/>
              <a:buChar char="•"/>
            </a:pPr>
            <a:r>
              <a:rPr lang="en-US" dirty="0"/>
              <a:t>Specifies the initial zoom level when the page first loads.</a:t>
            </a:r>
          </a:p>
          <a:p>
            <a:pPr marL="285750" indent="-285750">
              <a:buFont typeface="Arial" panose="020B0604020202020204" pitchFamily="34" charset="0"/>
              <a:buChar char="•"/>
            </a:pPr>
            <a:r>
              <a:rPr lang="en-US" dirty="0"/>
              <a:t>Display the page at 100% zoom (no zoom in or out).</a:t>
            </a:r>
            <a:endParaRPr lang="en-IN" dirty="0"/>
          </a:p>
        </p:txBody>
      </p:sp>
    </p:spTree>
    <p:extLst>
      <p:ext uri="{BB962C8B-B14F-4D97-AF65-F5344CB8AC3E}">
        <p14:creationId xmlns:p14="http://schemas.microsoft.com/office/powerpoint/2010/main" val="2514526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F608DD7-67AC-F7ED-66FC-A5A585DA6372}"/>
              </a:ext>
            </a:extLst>
          </p:cNvPr>
          <p:cNvSpPr>
            <a:spLocks noGrp="1"/>
          </p:cNvSpPr>
          <p:nvPr>
            <p:ph type="title"/>
          </p:nvPr>
        </p:nvSpPr>
        <p:spPr>
          <a:xfrm>
            <a:off x="120774" y="157967"/>
            <a:ext cx="5917721" cy="480263"/>
          </a:xfrm>
        </p:spPr>
        <p:txBody>
          <a:bodyPr>
            <a:noAutofit/>
          </a:bodyPr>
          <a:lstStyle/>
          <a:p>
            <a:r>
              <a:rPr lang="en-US" sz="2400" b="1" dirty="0">
                <a:solidFill>
                  <a:srgbClr val="0000FF"/>
                </a:solidFill>
              </a:rPr>
              <a:t>Various Device Width for Viewport - Details</a:t>
            </a:r>
            <a:endParaRPr lang="en-IN" sz="2400" b="1" dirty="0">
              <a:solidFill>
                <a:srgbClr val="0000FF"/>
              </a:solidFill>
            </a:endParaRPr>
          </a:p>
        </p:txBody>
      </p:sp>
      <p:pic>
        <p:nvPicPr>
          <p:cNvPr id="9" name="Picture 8">
            <a:extLst>
              <a:ext uri="{FF2B5EF4-FFF2-40B4-BE49-F238E27FC236}">
                <a16:creationId xmlns:a16="http://schemas.microsoft.com/office/drawing/2014/main" id="{FCF3194F-3B7D-992A-1D09-9A75A27A5AF4}"/>
              </a:ext>
            </a:extLst>
          </p:cNvPr>
          <p:cNvPicPr>
            <a:picLocks noChangeAspect="1"/>
          </p:cNvPicPr>
          <p:nvPr/>
        </p:nvPicPr>
        <p:blipFill>
          <a:blip r:embed="rId2"/>
          <a:stretch>
            <a:fillRect/>
          </a:stretch>
        </p:blipFill>
        <p:spPr>
          <a:xfrm>
            <a:off x="1068118" y="1035517"/>
            <a:ext cx="6790546" cy="5435019"/>
          </a:xfrm>
          <a:prstGeom prst="rect">
            <a:avLst/>
          </a:prstGeom>
        </p:spPr>
      </p:pic>
    </p:spTree>
    <p:extLst>
      <p:ext uri="{BB962C8B-B14F-4D97-AF65-F5344CB8AC3E}">
        <p14:creationId xmlns:p14="http://schemas.microsoft.com/office/powerpoint/2010/main" val="364298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4">
            <a:extLst>
              <a:ext uri="{FF2B5EF4-FFF2-40B4-BE49-F238E27FC236}">
                <a16:creationId xmlns:a16="http://schemas.microsoft.com/office/drawing/2014/main" id="{DE4006C0-236C-181D-1510-1A80F1486C3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000"/>
              <a:t>Jackson, Web Technologies: A Computer Science Perspective, © 2007 Prentice-Hall, Inc. All rights reserved. 0-13-185603-0 </a:t>
            </a:r>
          </a:p>
        </p:txBody>
      </p:sp>
      <p:sp>
        <p:nvSpPr>
          <p:cNvPr id="48131" name="Rectangle 2">
            <a:extLst>
              <a:ext uri="{FF2B5EF4-FFF2-40B4-BE49-F238E27FC236}">
                <a16:creationId xmlns:a16="http://schemas.microsoft.com/office/drawing/2014/main" id="{F2A98CD9-C26F-5BE7-E7CA-50DCF371AF82}"/>
              </a:ext>
            </a:extLst>
          </p:cNvPr>
          <p:cNvSpPr>
            <a:spLocks noGrp="1" noChangeArrowheads="1"/>
          </p:cNvSpPr>
          <p:nvPr>
            <p:ph type="title"/>
          </p:nvPr>
        </p:nvSpPr>
        <p:spPr/>
        <p:txBody>
          <a:bodyPr/>
          <a:lstStyle/>
          <a:p>
            <a:pPr eaLnBrk="1" hangingPunct="1"/>
            <a:r>
              <a:rPr lang="en-US" altLang="en-US"/>
              <a:t>CSS Font Properties</a:t>
            </a:r>
          </a:p>
        </p:txBody>
      </p:sp>
      <p:sp>
        <p:nvSpPr>
          <p:cNvPr id="48132" name="Rectangle 3">
            <a:extLst>
              <a:ext uri="{FF2B5EF4-FFF2-40B4-BE49-F238E27FC236}">
                <a16:creationId xmlns:a16="http://schemas.microsoft.com/office/drawing/2014/main" id="{DEBBD7AA-7221-97C3-9324-359FC561649D}"/>
              </a:ext>
            </a:extLst>
          </p:cNvPr>
          <p:cNvSpPr>
            <a:spLocks noGrp="1" noChangeArrowheads="1"/>
          </p:cNvSpPr>
          <p:nvPr>
            <p:ph type="body" idx="1"/>
          </p:nvPr>
        </p:nvSpPr>
        <p:spPr/>
        <p:txBody>
          <a:bodyPr/>
          <a:lstStyle/>
          <a:p>
            <a:pPr eaLnBrk="1" hangingPunct="1"/>
            <a:r>
              <a:rPr lang="en-US" altLang="en-US"/>
              <a:t>Many properties, such as </a:t>
            </a:r>
            <a:r>
              <a:rPr lang="en-US" altLang="en-US">
                <a:latin typeface="Lucida Sans Typewriter" panose="020B0509030504030204" pitchFamily="49" charset="0"/>
              </a:rPr>
              <a:t>font-size</a:t>
            </a:r>
            <a:r>
              <a:rPr lang="en-US" altLang="en-US"/>
              <a:t>, have a value that is a </a:t>
            </a:r>
            <a:r>
              <a:rPr lang="en-US" altLang="en-US">
                <a:solidFill>
                  <a:schemeClr val="hlink"/>
                </a:solidFill>
              </a:rPr>
              <a:t>CSS length</a:t>
            </a:r>
          </a:p>
          <a:p>
            <a:pPr eaLnBrk="1" hangingPunct="1"/>
            <a:r>
              <a:rPr lang="en-US" altLang="en-US"/>
              <a:t>All CSS length values except 0 need units</a:t>
            </a:r>
          </a:p>
        </p:txBody>
      </p:sp>
      <p:pic>
        <p:nvPicPr>
          <p:cNvPr id="48133" name="Picture 4">
            <a:extLst>
              <a:ext uri="{FF2B5EF4-FFF2-40B4-BE49-F238E27FC236}">
                <a16:creationId xmlns:a16="http://schemas.microsoft.com/office/drawing/2014/main" id="{F83ED38E-8E57-9F91-E4C9-EECE82047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270250"/>
            <a:ext cx="6781800" cy="327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a:extLst>
              <a:ext uri="{FF2B5EF4-FFF2-40B4-BE49-F238E27FC236}">
                <a16:creationId xmlns:a16="http://schemas.microsoft.com/office/drawing/2014/main" id="{53230612-C09B-8DBB-BBA0-B62C28DB2C3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000"/>
              <a:t>Jackson, Web Technologies: A Computer Science Perspective, © 2007 Prentice-Hall, Inc. All rights reserved. 0-13-185603-0 </a:t>
            </a:r>
          </a:p>
        </p:txBody>
      </p:sp>
      <p:sp>
        <p:nvSpPr>
          <p:cNvPr id="49155" name="Rectangle 2">
            <a:extLst>
              <a:ext uri="{FF2B5EF4-FFF2-40B4-BE49-F238E27FC236}">
                <a16:creationId xmlns:a16="http://schemas.microsoft.com/office/drawing/2014/main" id="{43129818-243D-FABF-74C1-51C503473DE9}"/>
              </a:ext>
            </a:extLst>
          </p:cNvPr>
          <p:cNvSpPr>
            <a:spLocks noGrp="1" noChangeArrowheads="1"/>
          </p:cNvSpPr>
          <p:nvPr>
            <p:ph type="title"/>
          </p:nvPr>
        </p:nvSpPr>
        <p:spPr/>
        <p:txBody>
          <a:bodyPr/>
          <a:lstStyle/>
          <a:p>
            <a:pPr eaLnBrk="1" hangingPunct="1"/>
            <a:r>
              <a:rPr lang="en-US" altLang="en-US"/>
              <a:t>CSS Font Properties</a:t>
            </a:r>
          </a:p>
        </p:txBody>
      </p:sp>
      <p:pic>
        <p:nvPicPr>
          <p:cNvPr id="49156" name="Picture 4" descr="FontQuantities">
            <a:extLst>
              <a:ext uri="{FF2B5EF4-FFF2-40B4-BE49-F238E27FC236}">
                <a16:creationId xmlns:a16="http://schemas.microsoft.com/office/drawing/2014/main" id="{4C91C53D-8FDE-AAE7-EBB1-9081D78A56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438400"/>
            <a:ext cx="7620000" cy="280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Oval 5">
            <a:extLst>
              <a:ext uri="{FF2B5EF4-FFF2-40B4-BE49-F238E27FC236}">
                <a16:creationId xmlns:a16="http://schemas.microsoft.com/office/drawing/2014/main" id="{5325C88F-65C9-04B3-8DE9-233A15BB55C2}"/>
              </a:ext>
            </a:extLst>
          </p:cNvPr>
          <p:cNvSpPr>
            <a:spLocks noChangeArrowheads="1"/>
          </p:cNvSpPr>
          <p:nvPr/>
        </p:nvSpPr>
        <p:spPr bwMode="auto">
          <a:xfrm>
            <a:off x="1524000" y="3124200"/>
            <a:ext cx="685800" cy="533400"/>
          </a:xfrm>
          <a:prstGeom prst="ellipse">
            <a:avLst/>
          </a:prstGeom>
          <a:solidFill>
            <a:srgbClr val="008080">
              <a:alpha val="50195"/>
            </a:srgbClr>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49158" name="Text Box 6">
            <a:extLst>
              <a:ext uri="{FF2B5EF4-FFF2-40B4-BE49-F238E27FC236}">
                <a16:creationId xmlns:a16="http://schemas.microsoft.com/office/drawing/2014/main" id="{3D997962-1F29-FC31-55F0-488DDE2312E0}"/>
              </a:ext>
            </a:extLst>
          </p:cNvPr>
          <p:cNvSpPr txBox="1">
            <a:spLocks noChangeArrowheads="1"/>
          </p:cNvSpPr>
          <p:nvPr/>
        </p:nvSpPr>
        <p:spPr bwMode="auto">
          <a:xfrm>
            <a:off x="304800" y="2438400"/>
            <a:ext cx="18478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008080"/>
                </a:solidFill>
              </a:rPr>
              <a:t>Computed value</a:t>
            </a:r>
          </a:p>
          <a:p>
            <a:pPr eaLnBrk="1" hangingPunct="1">
              <a:spcBef>
                <a:spcPct val="0"/>
              </a:spcBef>
              <a:buFontTx/>
              <a:buNone/>
            </a:pPr>
            <a:r>
              <a:rPr lang="en-US" altLang="en-US" sz="1800">
                <a:solidFill>
                  <a:srgbClr val="008080"/>
                </a:solidFill>
              </a:rPr>
              <a:t>of </a:t>
            </a:r>
            <a:r>
              <a:rPr lang="en-US" altLang="en-US" sz="1800">
                <a:solidFill>
                  <a:srgbClr val="008080"/>
                </a:solidFill>
                <a:latin typeface="Lucida Sans Typewriter" panose="020B0509030504030204" pitchFamily="49" charset="0"/>
              </a:rPr>
              <a:t>font-size</a:t>
            </a:r>
            <a:r>
              <a:rPr lang="en-US" altLang="en-US" sz="1800">
                <a:solidFill>
                  <a:srgbClr val="008080"/>
                </a:solidFill>
              </a:rPr>
              <a:t> </a:t>
            </a:r>
            <a:br>
              <a:rPr lang="en-US" altLang="en-US" sz="1800">
                <a:solidFill>
                  <a:srgbClr val="008080"/>
                </a:solidFill>
              </a:rPr>
            </a:br>
            <a:r>
              <a:rPr lang="en-US" altLang="en-US" sz="1800">
                <a:solidFill>
                  <a:srgbClr val="008080"/>
                </a:solidFill>
              </a:rPr>
              <a:t>property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a:extLst>
              <a:ext uri="{FF2B5EF4-FFF2-40B4-BE49-F238E27FC236}">
                <a16:creationId xmlns:a16="http://schemas.microsoft.com/office/drawing/2014/main" id="{36D0E815-FAED-ACC0-EAFE-89B91BAB97A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000"/>
              <a:t>Jackson, Web Technologies: A Computer Science Perspective, © 2007 Prentice-Hall, Inc. All rights reserved. 0-13-185603-0 </a:t>
            </a:r>
          </a:p>
        </p:txBody>
      </p:sp>
      <p:sp>
        <p:nvSpPr>
          <p:cNvPr id="52227" name="Rectangle 2">
            <a:extLst>
              <a:ext uri="{FF2B5EF4-FFF2-40B4-BE49-F238E27FC236}">
                <a16:creationId xmlns:a16="http://schemas.microsoft.com/office/drawing/2014/main" id="{0539208A-760D-D8D6-32C2-17ACC80E240D}"/>
              </a:ext>
            </a:extLst>
          </p:cNvPr>
          <p:cNvSpPr>
            <a:spLocks noGrp="1" noChangeArrowheads="1"/>
          </p:cNvSpPr>
          <p:nvPr>
            <p:ph type="title"/>
          </p:nvPr>
        </p:nvSpPr>
        <p:spPr/>
        <p:txBody>
          <a:bodyPr/>
          <a:lstStyle/>
          <a:p>
            <a:pPr eaLnBrk="1" hangingPunct="1"/>
            <a:r>
              <a:rPr lang="en-US" altLang="en-US"/>
              <a:t>CSS Font Properties</a:t>
            </a:r>
          </a:p>
        </p:txBody>
      </p:sp>
      <p:pic>
        <p:nvPicPr>
          <p:cNvPr id="52228" name="Picture 4">
            <a:extLst>
              <a:ext uri="{FF2B5EF4-FFF2-40B4-BE49-F238E27FC236}">
                <a16:creationId xmlns:a16="http://schemas.microsoft.com/office/drawing/2014/main" id="{758E7B07-C18D-C807-896A-AB99A9A7C5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027238"/>
            <a:ext cx="8229600"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033325C9-1530-5A92-9874-B83050C731A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000"/>
              <a:t>Jackson, Web Technologies: A Computer Science Perspective, © 2007 Prentice-Hall, Inc. All rights reserved. 0-13-185603-0 </a:t>
            </a:r>
          </a:p>
        </p:txBody>
      </p:sp>
      <p:sp>
        <p:nvSpPr>
          <p:cNvPr id="62467" name="Rectangle 2">
            <a:extLst>
              <a:ext uri="{FF2B5EF4-FFF2-40B4-BE49-F238E27FC236}">
                <a16:creationId xmlns:a16="http://schemas.microsoft.com/office/drawing/2014/main" id="{40BA5FE8-C898-7BAC-55B0-54FCE81FFCB6}"/>
              </a:ext>
            </a:extLst>
          </p:cNvPr>
          <p:cNvSpPr>
            <a:spLocks noGrp="1" noChangeArrowheads="1"/>
          </p:cNvSpPr>
          <p:nvPr>
            <p:ph type="title"/>
          </p:nvPr>
        </p:nvSpPr>
        <p:spPr/>
        <p:txBody>
          <a:bodyPr/>
          <a:lstStyle/>
          <a:p>
            <a:pPr eaLnBrk="1" hangingPunct="1"/>
            <a:r>
              <a:rPr lang="en-US" altLang="en-US"/>
              <a:t>CSS Text Formatting</a:t>
            </a:r>
          </a:p>
        </p:txBody>
      </p:sp>
      <p:pic>
        <p:nvPicPr>
          <p:cNvPr id="62468" name="Picture 4">
            <a:extLst>
              <a:ext uri="{FF2B5EF4-FFF2-40B4-BE49-F238E27FC236}">
                <a16:creationId xmlns:a16="http://schemas.microsoft.com/office/drawing/2014/main" id="{BC290D59-FC0E-6D48-C60E-CF59EC1CBC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295400"/>
            <a:ext cx="6969125" cy="517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3">
            <a:extLst>
              <a:ext uri="{FF2B5EF4-FFF2-40B4-BE49-F238E27FC236}">
                <a16:creationId xmlns:a16="http://schemas.microsoft.com/office/drawing/2014/main" id="{2367D6C1-B658-46A2-9D5E-C2E1B7B666E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000"/>
              <a:t>Jackson, Web Technologies: A Computer Science Perspective, © 2007 Prentice-Hall, Inc. All rights reserved. 0-13-185603-0 </a:t>
            </a:r>
          </a:p>
        </p:txBody>
      </p:sp>
      <p:sp>
        <p:nvSpPr>
          <p:cNvPr id="65539" name="Rectangle 2">
            <a:extLst>
              <a:ext uri="{FF2B5EF4-FFF2-40B4-BE49-F238E27FC236}">
                <a16:creationId xmlns:a16="http://schemas.microsoft.com/office/drawing/2014/main" id="{D43BE720-EE70-4C4D-74F7-EAC89947C4C2}"/>
              </a:ext>
            </a:extLst>
          </p:cNvPr>
          <p:cNvSpPr>
            <a:spLocks noGrp="1" noChangeArrowheads="1"/>
          </p:cNvSpPr>
          <p:nvPr>
            <p:ph type="title"/>
          </p:nvPr>
        </p:nvSpPr>
        <p:spPr/>
        <p:txBody>
          <a:bodyPr/>
          <a:lstStyle/>
          <a:p>
            <a:pPr eaLnBrk="1" hangingPunct="1"/>
            <a:r>
              <a:rPr lang="en-US" altLang="en-US"/>
              <a:t>CSS Text Color</a:t>
            </a:r>
          </a:p>
        </p:txBody>
      </p:sp>
      <p:pic>
        <p:nvPicPr>
          <p:cNvPr id="65540" name="Picture 4">
            <a:extLst>
              <a:ext uri="{FF2B5EF4-FFF2-40B4-BE49-F238E27FC236}">
                <a16:creationId xmlns:a16="http://schemas.microsoft.com/office/drawing/2014/main" id="{7D578923-704B-065D-5216-C5955DEBB2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71600"/>
            <a:ext cx="7064375"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979</TotalTime>
  <Words>1223</Words>
  <Application>Microsoft Office PowerPoint</Application>
  <PresentationFormat>On-screen Show (4:3)</PresentationFormat>
  <Paragraphs>157</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Lucida Sans Typewriter</vt:lpstr>
      <vt:lpstr>Wingdings</vt:lpstr>
      <vt:lpstr>Office Theme</vt:lpstr>
      <vt:lpstr>Cascading Style Sheet </vt:lpstr>
      <vt:lpstr>PowerPoint Presentation</vt:lpstr>
      <vt:lpstr>PowerPoint Presentation</vt:lpstr>
      <vt:lpstr>CSS Cascading – Example 1</vt:lpstr>
      <vt:lpstr>CSS Cascading – Alternate stylesheet</vt:lpstr>
      <vt:lpstr>Lighter theme</vt:lpstr>
      <vt:lpstr>CSS Box model</vt:lpstr>
      <vt:lpstr>PowerPoint Presentation</vt:lpstr>
      <vt:lpstr>PowerPoint Presentation</vt:lpstr>
      <vt:lpstr>PowerPoint Presentation</vt:lpstr>
      <vt:lpstr>PowerPoint Presentation</vt:lpstr>
      <vt:lpstr>PowerPoint Presentation</vt:lpstr>
      <vt:lpstr>CSS Box model - Example</vt:lpstr>
      <vt:lpstr>Responsive Layout – Two Columns</vt:lpstr>
      <vt:lpstr>Responsive Layout - Two Columns</vt:lpstr>
      <vt:lpstr>Responsive Layout - Two Columns</vt:lpstr>
      <vt:lpstr>Responsive Layout - Example</vt:lpstr>
      <vt:lpstr>Various Device Width for Viewport - Details</vt:lpstr>
      <vt:lpstr>CSS Font Properties</vt:lpstr>
      <vt:lpstr>CSS Font Properties</vt:lpstr>
      <vt:lpstr>CSS Font Properties</vt:lpstr>
      <vt:lpstr>CSS Text Formatting</vt:lpstr>
      <vt:lpstr>CSS Text Color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Cascading Style Sheet</dc:title>
  <dc:creator>B Prabavathy</dc:creator>
  <cp:lastModifiedBy>B Prabavathy</cp:lastModifiedBy>
  <cp:revision>120</cp:revision>
  <dcterms:created xsi:type="dcterms:W3CDTF">2026-06-30T03:05:42Z</dcterms:created>
  <dcterms:modified xsi:type="dcterms:W3CDTF">2026-07-01T11:49:03Z</dcterms:modified>
</cp:coreProperties>
</file>