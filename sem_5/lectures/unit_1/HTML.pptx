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0" r:id="rId3"/>
    <p:sldId id="279" r:id="rId4"/>
    <p:sldId id="272" r:id="rId5"/>
    <p:sldId id="277" r:id="rId6"/>
    <p:sldId id="278" r:id="rId7"/>
    <p:sldId id="273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4" r:id="rId24"/>
    <p:sldId id="276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FED35-CFBB-408E-A82A-18CC6DB0A212}" type="datetimeFigureOut">
              <a:rPr lang="en-US" smtClean="0"/>
              <a:pPr/>
              <a:t>6/24/2026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C9572-843C-4C6B-957C-E0FAA327694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FED35-CFBB-408E-A82A-18CC6DB0A212}" type="datetimeFigureOut">
              <a:rPr lang="en-US" smtClean="0"/>
              <a:pPr/>
              <a:t>6/24/2026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C9572-843C-4C6B-957C-E0FAA327694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FED35-CFBB-408E-A82A-18CC6DB0A212}" type="datetimeFigureOut">
              <a:rPr lang="en-US" smtClean="0"/>
              <a:pPr/>
              <a:t>6/24/2026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C9572-843C-4C6B-957C-E0FAA327694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FED35-CFBB-408E-A82A-18CC6DB0A212}" type="datetimeFigureOut">
              <a:rPr lang="en-US" smtClean="0"/>
              <a:pPr/>
              <a:t>6/24/2026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C9572-843C-4C6B-957C-E0FAA327694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FED35-CFBB-408E-A82A-18CC6DB0A212}" type="datetimeFigureOut">
              <a:rPr lang="en-US" smtClean="0"/>
              <a:pPr/>
              <a:t>6/24/2026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C9572-843C-4C6B-957C-E0FAA327694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FED35-CFBB-408E-A82A-18CC6DB0A212}" type="datetimeFigureOut">
              <a:rPr lang="en-US" smtClean="0"/>
              <a:pPr/>
              <a:t>6/24/2026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C9572-843C-4C6B-957C-E0FAA327694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FED35-CFBB-408E-A82A-18CC6DB0A212}" type="datetimeFigureOut">
              <a:rPr lang="en-US" smtClean="0"/>
              <a:pPr/>
              <a:t>6/24/2026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C9572-843C-4C6B-957C-E0FAA327694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FED35-CFBB-408E-A82A-18CC6DB0A212}" type="datetimeFigureOut">
              <a:rPr lang="en-US" smtClean="0"/>
              <a:pPr/>
              <a:t>6/24/2026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C9572-843C-4C6B-957C-E0FAA327694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FED35-CFBB-408E-A82A-18CC6DB0A212}" type="datetimeFigureOut">
              <a:rPr lang="en-US" smtClean="0"/>
              <a:pPr/>
              <a:t>6/24/2026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C9572-843C-4C6B-957C-E0FAA327694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FED35-CFBB-408E-A82A-18CC6DB0A212}" type="datetimeFigureOut">
              <a:rPr lang="en-US" smtClean="0"/>
              <a:pPr/>
              <a:t>6/24/2026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C9572-843C-4C6B-957C-E0FAA327694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FED35-CFBB-408E-A82A-18CC6DB0A212}" type="datetimeFigureOut">
              <a:rPr lang="en-US" smtClean="0"/>
              <a:pPr/>
              <a:t>6/24/2026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C9572-843C-4C6B-957C-E0FAA327694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FED35-CFBB-408E-A82A-18CC6DB0A212}" type="datetimeFigureOut">
              <a:rPr lang="en-US" smtClean="0"/>
              <a:pPr/>
              <a:t>6/24/2026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C9572-843C-4C6B-957C-E0FAA3276945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HTML – Input Types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6FB29-B98E-8D19-0B1D-B1A00B44D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40" y="332656"/>
            <a:ext cx="8229600" cy="562074"/>
          </a:xfrm>
        </p:spPr>
        <p:txBody>
          <a:bodyPr>
            <a:noAutofit/>
          </a:bodyPr>
          <a:lstStyle/>
          <a:p>
            <a:r>
              <a:rPr lang="en-US" sz="3600" dirty="0"/>
              <a:t>Core Elements of HTML</a:t>
            </a:r>
            <a:endParaRPr lang="en-IN" sz="3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E030CA-A114-965E-BFFD-8AFEA1454D3B}"/>
              </a:ext>
            </a:extLst>
          </p:cNvPr>
          <p:cNvSpPr txBox="1"/>
          <p:nvPr/>
        </p:nvSpPr>
        <p:spPr>
          <a:xfrm>
            <a:off x="673296" y="1268760"/>
            <a:ext cx="843528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00FF"/>
                </a:solidFill>
              </a:rPr>
              <a:t>Category			Core Elements</a:t>
            </a:r>
          </a:p>
          <a:p>
            <a:r>
              <a:rPr lang="en-IN" sz="2400" dirty="0"/>
              <a:t>Document Structure		&lt;html&gt;, &lt;head&gt;, &lt;title&gt;, &lt;body&gt;</a:t>
            </a:r>
          </a:p>
          <a:p>
            <a:r>
              <a:rPr lang="en-IN" sz="2400" dirty="0"/>
              <a:t>Headings			&lt;h1&gt; to &lt;h6&gt;</a:t>
            </a:r>
          </a:p>
          <a:p>
            <a:r>
              <a:rPr lang="en-IN" sz="2400" dirty="0"/>
              <a:t>Text Content			&lt;p&gt;, &lt;</a:t>
            </a:r>
            <a:r>
              <a:rPr lang="en-IN" sz="2400" dirty="0" err="1"/>
              <a:t>br</a:t>
            </a:r>
            <a:r>
              <a:rPr lang="en-IN" sz="2400" dirty="0"/>
              <a:t>&gt;, &lt;hr&gt;</a:t>
            </a:r>
          </a:p>
          <a:p>
            <a:r>
              <a:rPr lang="en-IN" sz="2400" dirty="0"/>
              <a:t>Text Formatting		&lt;b&gt;, &lt;</a:t>
            </a:r>
            <a:r>
              <a:rPr lang="en-IN" sz="2400" dirty="0" err="1"/>
              <a:t>i</a:t>
            </a:r>
            <a:r>
              <a:rPr lang="en-IN" sz="2400" dirty="0"/>
              <a:t>&gt;, &lt;u&gt;, &lt;strong&gt;, &lt;</a:t>
            </a:r>
            <a:r>
              <a:rPr lang="en-IN" sz="2400" dirty="0" err="1"/>
              <a:t>em</a:t>
            </a:r>
            <a:r>
              <a:rPr lang="en-IN" sz="2400" dirty="0"/>
              <a:t>&gt;</a:t>
            </a:r>
          </a:p>
          <a:p>
            <a:r>
              <a:rPr lang="en-IN" sz="2400" dirty="0"/>
              <a:t>Links				&lt;a&gt;</a:t>
            </a:r>
          </a:p>
          <a:p>
            <a:r>
              <a:rPr lang="en-IN" sz="2400" dirty="0"/>
              <a:t>Images				&lt;</a:t>
            </a:r>
            <a:r>
              <a:rPr lang="en-IN" sz="2400" dirty="0" err="1"/>
              <a:t>img</a:t>
            </a:r>
            <a:r>
              <a:rPr lang="en-IN" sz="2400" dirty="0"/>
              <a:t>&gt;</a:t>
            </a:r>
          </a:p>
          <a:p>
            <a:r>
              <a:rPr lang="en-IN" sz="2400" dirty="0"/>
              <a:t>Lists				&lt;</a:t>
            </a:r>
            <a:r>
              <a:rPr lang="en-IN" sz="2400" dirty="0" err="1"/>
              <a:t>ul</a:t>
            </a:r>
            <a:r>
              <a:rPr lang="en-IN" sz="2400" dirty="0"/>
              <a:t>&gt;, &lt;</a:t>
            </a:r>
            <a:r>
              <a:rPr lang="en-IN" sz="2400" dirty="0" err="1"/>
              <a:t>ol</a:t>
            </a:r>
            <a:r>
              <a:rPr lang="en-IN" sz="2400" dirty="0"/>
              <a:t>&gt;, &lt;li&gt;</a:t>
            </a:r>
          </a:p>
          <a:p>
            <a:r>
              <a:rPr lang="en-IN" sz="2400" dirty="0"/>
              <a:t>Tables				&lt;table&gt;, &lt;tr&gt;, &lt;</a:t>
            </a:r>
            <a:r>
              <a:rPr lang="en-IN" sz="2400" dirty="0" err="1"/>
              <a:t>th</a:t>
            </a:r>
            <a:r>
              <a:rPr lang="en-IN" sz="2400" dirty="0"/>
              <a:t>&gt;, &lt;td&gt;</a:t>
            </a:r>
          </a:p>
          <a:p>
            <a:r>
              <a:rPr lang="en-IN" sz="2400" dirty="0"/>
              <a:t>Forms				&lt;form&gt;, &lt;input&gt;, &lt;</a:t>
            </a:r>
            <a:r>
              <a:rPr lang="en-IN" sz="2400" dirty="0" err="1"/>
              <a:t>textarea</a:t>
            </a:r>
            <a:r>
              <a:rPr lang="en-IN" sz="2400" dirty="0"/>
              <a:t>&gt;, </a:t>
            </a:r>
          </a:p>
          <a:p>
            <a:r>
              <a:rPr lang="en-IN" sz="2400" dirty="0"/>
              <a:t>				&lt;select&gt;, &lt;option&gt;, &lt;button&gt;, </a:t>
            </a:r>
          </a:p>
          <a:p>
            <a:r>
              <a:rPr lang="en-IN" sz="2400" dirty="0"/>
              <a:t>				&lt;label&gt;</a:t>
            </a:r>
          </a:p>
          <a:p>
            <a:r>
              <a:rPr lang="en-IN" sz="2400" dirty="0"/>
              <a:t>Generic Containers		&lt;div&gt;, &lt;span&gt;</a:t>
            </a:r>
          </a:p>
        </p:txBody>
      </p:sp>
    </p:spTree>
    <p:extLst>
      <p:ext uri="{BB962C8B-B14F-4D97-AF65-F5344CB8AC3E}">
        <p14:creationId xmlns:p14="http://schemas.microsoft.com/office/powerpoint/2010/main" val="1113560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AFB7E-1898-607A-575B-A563264EE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txBody>
          <a:bodyPr>
            <a:normAutofit fontScale="90000"/>
          </a:bodyPr>
          <a:lstStyle/>
          <a:p>
            <a:r>
              <a:rPr lang="en-US" sz="3600" dirty="0" err="1"/>
              <a:t>Div</a:t>
            </a:r>
            <a:r>
              <a:rPr lang="en-US" sz="3600" dirty="0"/>
              <a:t> and Span Elements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8F08D-36BC-A80A-3F80-22C487D28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&lt;div&gt; is a large container that can contain almost anything:</a:t>
            </a:r>
          </a:p>
          <a:p>
            <a:r>
              <a:rPr lang="en-US" dirty="0"/>
              <a:t>text</a:t>
            </a:r>
          </a:p>
          <a:p>
            <a:r>
              <a:rPr lang="en-US" dirty="0"/>
              <a:t>images</a:t>
            </a:r>
          </a:p>
          <a:p>
            <a:r>
              <a:rPr lang="en-US" dirty="0"/>
              <a:t>headings</a:t>
            </a:r>
          </a:p>
          <a:p>
            <a:r>
              <a:rPr lang="en-US" dirty="0"/>
              <a:t>paragraphs</a:t>
            </a:r>
          </a:p>
          <a:p>
            <a:r>
              <a:rPr lang="en-US" dirty="0"/>
              <a:t>other </a:t>
            </a:r>
            <a:r>
              <a:rPr lang="en-US" dirty="0" err="1"/>
              <a:t>divs</a:t>
            </a:r>
            <a:endParaRPr lang="en-US" dirty="0"/>
          </a:p>
          <a:p>
            <a:r>
              <a:rPr lang="en-US" dirty="0"/>
              <a:t>forms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Can a &lt;span&gt; contain other elements?</a:t>
            </a:r>
          </a:p>
          <a:p>
            <a:r>
              <a:rPr lang="en-US" dirty="0"/>
              <a:t>Yes. </a:t>
            </a:r>
          </a:p>
          <a:p>
            <a:r>
              <a:rPr lang="en-US" dirty="0"/>
              <a:t>A &lt;span&gt; can contain text and other inline elements such as &lt;b&gt;, &lt;</a:t>
            </a:r>
            <a:r>
              <a:rPr lang="en-US" dirty="0" err="1"/>
              <a:t>i</a:t>
            </a:r>
            <a:r>
              <a:rPr lang="en-US" dirty="0"/>
              <a:t>&gt;, &lt;a&gt;, &lt;</a:t>
            </a:r>
            <a:r>
              <a:rPr lang="en-US" dirty="0" err="1"/>
              <a:t>em</a:t>
            </a:r>
            <a:r>
              <a:rPr lang="en-US" dirty="0"/>
              <a:t>&gt;, and even another &lt;span&gt;. It should not contain block-level elements like &lt;div&gt;, &lt;p&gt;, or &lt;h1&gt;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6726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720080"/>
          </a:xfrm>
        </p:spPr>
        <p:txBody>
          <a:bodyPr>
            <a:noAutofit/>
          </a:bodyPr>
          <a:lstStyle/>
          <a:p>
            <a:r>
              <a:rPr lang="en-IN" sz="3600" dirty="0"/>
              <a:t>New Elements in HTML5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624" y="1196752"/>
            <a:ext cx="8229600" cy="5145435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Autofocus attribute - </a:t>
            </a:r>
            <a:r>
              <a:rPr lang="en-IN" dirty="0">
                <a:solidFill>
                  <a:srgbClr val="FF0000"/>
                </a:solidFill>
              </a:rPr>
              <a:t>S</a:t>
            </a:r>
            <a:r>
              <a:rPr lang="en-US" dirty="0">
                <a:solidFill>
                  <a:srgbClr val="FF0000"/>
                </a:solidFill>
              </a:rPr>
              <a:t>peed up the data entry if the cursor is placed in the first field </a:t>
            </a:r>
            <a:endParaRPr lang="en-IN" dirty="0">
              <a:solidFill>
                <a:srgbClr val="FF0000"/>
              </a:solidFill>
            </a:endParaRPr>
          </a:p>
          <a:p>
            <a:r>
              <a:rPr lang="en-US" dirty="0"/>
              <a:t>Placeholder  - </a:t>
            </a:r>
            <a:r>
              <a:rPr lang="en-US" dirty="0">
                <a:solidFill>
                  <a:srgbClr val="FF0000"/>
                </a:solidFill>
              </a:rPr>
              <a:t>text helps in providing the users with the instructions on how they should fill</a:t>
            </a:r>
            <a:endParaRPr lang="en-IN" dirty="0">
              <a:solidFill>
                <a:srgbClr val="FF0000"/>
              </a:solidFill>
            </a:endParaRPr>
          </a:p>
          <a:p>
            <a:r>
              <a:rPr lang="en-IN" b="1" dirty="0"/>
              <a:t>Semantic</a:t>
            </a:r>
            <a:r>
              <a:rPr lang="en-IN" dirty="0"/>
              <a:t> elements like &lt;header&gt;, &lt;footer&gt;, &lt;article&gt;, and &lt;section&gt; </a:t>
            </a:r>
            <a:r>
              <a:rPr lang="en-IN" dirty="0">
                <a:sym typeface="Wingdings" panose="05000000000000000000" pitchFamily="2" charset="2"/>
              </a:rPr>
              <a:t> 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Form </a:t>
            </a:r>
            <a:r>
              <a:rPr lang="en-IN" b="1" dirty="0"/>
              <a:t>control elements</a:t>
            </a:r>
            <a:r>
              <a:rPr lang="en-IN" dirty="0"/>
              <a:t> like number, date, time, calendar, and range</a:t>
            </a:r>
          </a:p>
          <a:p>
            <a:r>
              <a:rPr lang="en-IN" b="1" dirty="0"/>
              <a:t>Multimedia</a:t>
            </a:r>
            <a:r>
              <a:rPr lang="en-IN" dirty="0"/>
              <a:t> elements: &lt;audio&gt; and &lt;video&gt;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B23CDA-3C70-F31C-0C27-67EED75B8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3212976"/>
            <a:ext cx="332271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Developers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Easier to understand the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Better understanding of page content.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Autofocus attribute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410200"/>
          </a:xfrm>
        </p:spPr>
        <p:txBody>
          <a:bodyPr>
            <a:normAutofit/>
          </a:bodyPr>
          <a:lstStyle/>
          <a:p>
            <a:r>
              <a:rPr lang="en-US" dirty="0"/>
              <a:t>It is possible to speed up the data entry if the cursor is placed in the first field </a:t>
            </a:r>
          </a:p>
          <a:p>
            <a:r>
              <a:rPr lang="en-US" dirty="0"/>
              <a:t>It is possible to do with </a:t>
            </a:r>
            <a:r>
              <a:rPr lang="en-US" dirty="0" err="1"/>
              <a:t>Javascript</a:t>
            </a:r>
            <a:endParaRPr lang="en-US" dirty="0"/>
          </a:p>
          <a:p>
            <a:r>
              <a:rPr lang="en-US" dirty="0"/>
              <a:t>HTML5 provides this capability as part of the language with </a:t>
            </a:r>
            <a:r>
              <a:rPr lang="en-US" b="1" dirty="0">
                <a:solidFill>
                  <a:srgbClr val="C00000"/>
                </a:solidFill>
              </a:rPr>
              <a:t>autofocus</a:t>
            </a:r>
            <a:r>
              <a:rPr lang="en-US" dirty="0"/>
              <a:t> attribute</a:t>
            </a:r>
          </a:p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Example</a:t>
            </a:r>
          </a:p>
          <a:p>
            <a:pPr>
              <a:buNone/>
            </a:pPr>
            <a:r>
              <a:rPr lang="en-US" dirty="0"/>
              <a:t>&lt;label&gt;Name:</a:t>
            </a:r>
          </a:p>
          <a:p>
            <a:pPr>
              <a:buNone/>
            </a:pPr>
            <a:r>
              <a:rPr lang="en-US" dirty="0"/>
              <a:t>&lt;input type=“text” </a:t>
            </a:r>
            <a:r>
              <a:rPr lang="en-US" b="1" dirty="0">
                <a:solidFill>
                  <a:srgbClr val="C00000"/>
                </a:solidFill>
              </a:rPr>
              <a:t>autofocus</a:t>
            </a:r>
            <a:r>
              <a:rPr lang="en-US" dirty="0"/>
              <a:t> name=“name”&gt;</a:t>
            </a:r>
          </a:p>
          <a:p>
            <a:pPr>
              <a:buNone/>
            </a:pPr>
            <a:r>
              <a:rPr lang="en-US" dirty="0"/>
              <a:t>&lt;/label&gt;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 Holder Attribute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Placeholder text helps in providing the users with the instructions on how they should fill</a:t>
            </a:r>
          </a:p>
          <a:p>
            <a:r>
              <a:rPr lang="en-US" dirty="0"/>
              <a:t>It is possible to do with </a:t>
            </a:r>
            <a:r>
              <a:rPr lang="en-US" dirty="0" err="1"/>
              <a:t>Javascript</a:t>
            </a:r>
            <a:r>
              <a:rPr lang="en-US" dirty="0"/>
              <a:t>.</a:t>
            </a:r>
          </a:p>
          <a:p>
            <a:r>
              <a:rPr lang="en-US" dirty="0"/>
              <a:t>HTML5 provides this capability as part of the language with </a:t>
            </a:r>
            <a:r>
              <a:rPr lang="en-US" b="1" dirty="0">
                <a:solidFill>
                  <a:srgbClr val="C00000"/>
                </a:solidFill>
              </a:rPr>
              <a:t>placeholder</a:t>
            </a:r>
            <a:r>
              <a:rPr lang="en-US" dirty="0"/>
              <a:t> attribute</a:t>
            </a:r>
          </a:p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Example</a:t>
            </a:r>
          </a:p>
          <a:p>
            <a:pPr>
              <a:buNone/>
            </a:pPr>
            <a:r>
              <a:rPr lang="en-US" dirty="0"/>
              <a:t>&lt;label&gt;Name:</a:t>
            </a:r>
          </a:p>
          <a:p>
            <a:pPr>
              <a:buNone/>
            </a:pPr>
            <a:r>
              <a:rPr lang="en-US" sz="3000" dirty="0"/>
              <a:t>&lt;input type=“text” autofocus </a:t>
            </a:r>
            <a:r>
              <a:rPr lang="en-US" sz="3000" b="1" dirty="0">
                <a:solidFill>
                  <a:srgbClr val="C00000"/>
                </a:solidFill>
              </a:rPr>
              <a:t>placeholder=“’name’”</a:t>
            </a:r>
            <a:r>
              <a:rPr lang="en-US" sz="3000" dirty="0"/>
              <a:t>&gt;</a:t>
            </a:r>
          </a:p>
          <a:p>
            <a:pPr>
              <a:buNone/>
            </a:pPr>
            <a:r>
              <a:rPr lang="en-US" dirty="0"/>
              <a:t>&lt;/label&gt;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/>
          <a:p>
            <a:r>
              <a:rPr lang="en-IN" dirty="0"/>
              <a:t>Semantic Elements</a:t>
            </a:r>
          </a:p>
        </p:txBody>
      </p:sp>
      <p:pic>
        <p:nvPicPr>
          <p:cNvPr id="1026" name="Picture 2" descr="HTML5 Semantic Element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1720" y="1268760"/>
            <a:ext cx="4643470" cy="54703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654032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Input Type: text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4071967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&lt;input type="text"&gt;</a:t>
            </a:r>
            <a:r>
              <a:rPr lang="en-IN" dirty="0"/>
              <a:t> defines a one-line input field for </a:t>
            </a:r>
            <a:r>
              <a:rPr lang="en-IN" b="1" dirty="0"/>
              <a:t>text input</a:t>
            </a:r>
            <a:r>
              <a:rPr lang="en-IN" dirty="0"/>
              <a:t>:</a:t>
            </a:r>
          </a:p>
          <a:p>
            <a:pPr>
              <a:buNone/>
            </a:pPr>
            <a:r>
              <a:rPr lang="en-IN" dirty="0"/>
              <a:t>Example:</a:t>
            </a:r>
          </a:p>
          <a:p>
            <a:pPr>
              <a:buNone/>
            </a:pPr>
            <a:r>
              <a:rPr lang="en-IN" dirty="0"/>
              <a:t>&lt;form&gt;</a:t>
            </a:r>
            <a:br>
              <a:rPr lang="en-IN" dirty="0"/>
            </a:br>
            <a:r>
              <a:rPr lang="en-IN" dirty="0"/>
              <a:t>  First name:&lt;</a:t>
            </a:r>
            <a:r>
              <a:rPr lang="en-IN" dirty="0" err="1"/>
              <a:t>br</a:t>
            </a:r>
            <a:r>
              <a:rPr lang="en-IN" dirty="0"/>
              <a:t>&gt;</a:t>
            </a:r>
            <a:br>
              <a:rPr lang="en-IN" dirty="0"/>
            </a:br>
            <a:r>
              <a:rPr lang="en-IN" dirty="0"/>
              <a:t>  &lt;input type="text" name="</a:t>
            </a:r>
            <a:r>
              <a:rPr lang="en-IN" dirty="0" err="1"/>
              <a:t>firstname</a:t>
            </a:r>
            <a:r>
              <a:rPr lang="en-IN" dirty="0"/>
              <a:t>"&gt;&lt;</a:t>
            </a:r>
            <a:r>
              <a:rPr lang="en-IN" dirty="0" err="1"/>
              <a:t>br</a:t>
            </a:r>
            <a:r>
              <a:rPr lang="en-IN" dirty="0"/>
              <a:t>&gt;</a:t>
            </a:r>
            <a:br>
              <a:rPr lang="en-IN" dirty="0"/>
            </a:br>
            <a:r>
              <a:rPr lang="en-IN" dirty="0"/>
              <a:t>  Last name:&lt;</a:t>
            </a:r>
            <a:r>
              <a:rPr lang="en-IN" dirty="0" err="1"/>
              <a:t>br</a:t>
            </a:r>
            <a:r>
              <a:rPr lang="en-IN" dirty="0"/>
              <a:t>&gt;</a:t>
            </a:r>
            <a:br>
              <a:rPr lang="en-IN" dirty="0"/>
            </a:br>
            <a:r>
              <a:rPr lang="en-IN" dirty="0"/>
              <a:t>  &lt;input type="text" name="</a:t>
            </a:r>
            <a:r>
              <a:rPr lang="en-IN" dirty="0" err="1"/>
              <a:t>lastname</a:t>
            </a:r>
            <a:r>
              <a:rPr lang="en-IN" dirty="0"/>
              <a:t>"&gt;</a:t>
            </a:r>
          </a:p>
          <a:p>
            <a:pPr>
              <a:buNone/>
            </a:pPr>
            <a:r>
              <a:rPr lang="en-IN" dirty="0"/>
              <a:t>&lt;/form&gt;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43372" y="5143512"/>
            <a:ext cx="3500462" cy="171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Input Type: password</a:t>
            </a:r>
            <a:br>
              <a:rPr lang="en-IN" dirty="0"/>
            </a:b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3971940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&lt;input type="password"&gt;</a:t>
            </a:r>
            <a:r>
              <a:rPr lang="en-IN" dirty="0"/>
              <a:t> defines a </a:t>
            </a:r>
            <a:r>
              <a:rPr lang="en-IN" b="1" dirty="0"/>
              <a:t>password field</a:t>
            </a:r>
            <a:r>
              <a:rPr lang="en-IN" dirty="0"/>
              <a:t>:</a:t>
            </a:r>
          </a:p>
          <a:p>
            <a:pPr>
              <a:buNone/>
            </a:pPr>
            <a:r>
              <a:rPr lang="en-IN" dirty="0"/>
              <a:t>Example</a:t>
            </a:r>
          </a:p>
          <a:p>
            <a:pPr>
              <a:buNone/>
            </a:pPr>
            <a:r>
              <a:rPr lang="en-IN" dirty="0"/>
              <a:t>&lt;form&gt;</a:t>
            </a:r>
            <a:br>
              <a:rPr lang="en-IN" dirty="0"/>
            </a:br>
            <a:r>
              <a:rPr lang="en-IN" dirty="0"/>
              <a:t>  User name:&lt;</a:t>
            </a:r>
            <a:r>
              <a:rPr lang="en-IN" dirty="0" err="1"/>
              <a:t>br</a:t>
            </a:r>
            <a:r>
              <a:rPr lang="en-IN" dirty="0"/>
              <a:t>&gt;</a:t>
            </a:r>
            <a:br>
              <a:rPr lang="en-IN" dirty="0"/>
            </a:br>
            <a:r>
              <a:rPr lang="en-IN" dirty="0"/>
              <a:t>  &lt;input type="text" name="username"&gt;&lt;</a:t>
            </a:r>
            <a:r>
              <a:rPr lang="en-IN" dirty="0" err="1"/>
              <a:t>br</a:t>
            </a:r>
            <a:r>
              <a:rPr lang="en-IN" dirty="0"/>
              <a:t>&gt;</a:t>
            </a:r>
            <a:br>
              <a:rPr lang="en-IN" dirty="0"/>
            </a:br>
            <a:r>
              <a:rPr lang="en-IN" dirty="0"/>
              <a:t>  User password:&lt;</a:t>
            </a:r>
            <a:r>
              <a:rPr lang="en-IN" dirty="0" err="1"/>
              <a:t>br</a:t>
            </a:r>
            <a:r>
              <a:rPr lang="en-IN" dirty="0"/>
              <a:t>&gt;</a:t>
            </a:r>
            <a:br>
              <a:rPr lang="en-IN" dirty="0"/>
            </a:br>
            <a:r>
              <a:rPr lang="en-IN" dirty="0"/>
              <a:t>  &lt;input type="password" name="</a:t>
            </a:r>
            <a:r>
              <a:rPr lang="en-IN" dirty="0" err="1"/>
              <a:t>psw</a:t>
            </a:r>
            <a:r>
              <a:rPr lang="en-IN" dirty="0"/>
              <a:t>"&gt;</a:t>
            </a:r>
            <a:br>
              <a:rPr lang="en-IN" dirty="0"/>
            </a:br>
            <a:r>
              <a:rPr lang="en-IN" dirty="0"/>
              <a:t>&lt;/form&gt;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0430" y="4929198"/>
            <a:ext cx="3071834" cy="1500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9718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Input Type: submit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197493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&lt;input type="submit"&gt;</a:t>
            </a:r>
            <a:r>
              <a:rPr lang="en-IN" dirty="0"/>
              <a:t> defines a button for </a:t>
            </a:r>
            <a:r>
              <a:rPr lang="en-IN" b="1" dirty="0"/>
              <a:t>submitting</a:t>
            </a:r>
            <a:r>
              <a:rPr lang="en-IN" dirty="0"/>
              <a:t> form input to a </a:t>
            </a:r>
            <a:r>
              <a:rPr lang="en-IN" b="1" dirty="0"/>
              <a:t>form-handler</a:t>
            </a:r>
            <a:r>
              <a:rPr lang="en-IN" dirty="0"/>
              <a:t>.</a:t>
            </a:r>
          </a:p>
          <a:p>
            <a:r>
              <a:rPr lang="en-IN" dirty="0"/>
              <a:t>The form-handler is typically a server page with a script for processing input data.</a:t>
            </a:r>
          </a:p>
          <a:p>
            <a:r>
              <a:rPr lang="en-IN" dirty="0"/>
              <a:t>The form-handler is specified in the form's action attribute:</a:t>
            </a:r>
          </a:p>
          <a:p>
            <a:pPr>
              <a:buNone/>
            </a:pPr>
            <a:r>
              <a:rPr lang="en-IN" dirty="0"/>
              <a:t>Example</a:t>
            </a:r>
          </a:p>
          <a:p>
            <a:pPr>
              <a:buNone/>
            </a:pPr>
            <a:r>
              <a:rPr lang="en-IN" sz="3100" dirty="0"/>
              <a:t>&lt;form action="action_page.php"&gt;</a:t>
            </a:r>
            <a:br>
              <a:rPr lang="en-IN" sz="3100" dirty="0"/>
            </a:br>
            <a:r>
              <a:rPr lang="en-IN" sz="3100" dirty="0"/>
              <a:t>  First name:&lt;</a:t>
            </a:r>
            <a:r>
              <a:rPr lang="en-IN" sz="3100" dirty="0" err="1"/>
              <a:t>br</a:t>
            </a:r>
            <a:r>
              <a:rPr lang="en-IN" sz="3100" dirty="0"/>
              <a:t>&gt;</a:t>
            </a:r>
            <a:br>
              <a:rPr lang="en-IN" sz="3100" dirty="0"/>
            </a:br>
            <a:r>
              <a:rPr lang="en-IN" sz="3100" dirty="0"/>
              <a:t>  &lt;input type="text" name="</a:t>
            </a:r>
            <a:r>
              <a:rPr lang="en-IN" sz="3100" dirty="0" err="1"/>
              <a:t>firstname</a:t>
            </a:r>
            <a:r>
              <a:rPr lang="en-IN" sz="3100" dirty="0"/>
              <a:t>" value="Mickey"&gt;&lt;</a:t>
            </a:r>
            <a:r>
              <a:rPr lang="en-IN" sz="3100" dirty="0" err="1"/>
              <a:t>br</a:t>
            </a:r>
            <a:r>
              <a:rPr lang="en-IN" sz="3100" dirty="0"/>
              <a:t>&gt;</a:t>
            </a:r>
            <a:br>
              <a:rPr lang="en-IN" sz="3100" dirty="0"/>
            </a:br>
            <a:r>
              <a:rPr lang="en-IN" sz="3100" dirty="0"/>
              <a:t>  Last name:&lt;</a:t>
            </a:r>
            <a:r>
              <a:rPr lang="en-IN" sz="3100" dirty="0" err="1"/>
              <a:t>br</a:t>
            </a:r>
            <a:r>
              <a:rPr lang="en-IN" sz="3100" dirty="0"/>
              <a:t>&gt;</a:t>
            </a:r>
            <a:br>
              <a:rPr lang="en-IN" sz="3100" dirty="0"/>
            </a:br>
            <a:r>
              <a:rPr lang="en-IN" sz="3100" dirty="0"/>
              <a:t>  &lt;input type="text" name="</a:t>
            </a:r>
            <a:r>
              <a:rPr lang="en-IN" sz="3100" dirty="0" err="1"/>
              <a:t>lastname</a:t>
            </a:r>
            <a:r>
              <a:rPr lang="en-IN" sz="3100" dirty="0"/>
              <a:t>" value="Mouse"&gt;&lt;</a:t>
            </a:r>
            <a:r>
              <a:rPr lang="en-IN" sz="3100" dirty="0" err="1"/>
              <a:t>br</a:t>
            </a:r>
            <a:r>
              <a:rPr lang="en-IN" sz="3100" dirty="0"/>
              <a:t>&gt;&lt;</a:t>
            </a:r>
            <a:r>
              <a:rPr lang="en-IN" sz="3100" dirty="0" err="1"/>
              <a:t>br</a:t>
            </a:r>
            <a:r>
              <a:rPr lang="en-IN" sz="3100" dirty="0"/>
              <a:t>&gt;</a:t>
            </a:r>
            <a:br>
              <a:rPr lang="en-IN" sz="3100" dirty="0"/>
            </a:br>
            <a:r>
              <a:rPr lang="en-IN" sz="3100" dirty="0"/>
              <a:t>  &lt;input type="submit" value="Submit"&gt;</a:t>
            </a:r>
            <a:br>
              <a:rPr lang="en-IN" sz="3100" dirty="0"/>
            </a:br>
            <a:r>
              <a:rPr lang="en-IN" sz="3100" dirty="0"/>
              <a:t>&lt;/form&gt;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Input Type: radio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1"/>
            <a:ext cx="8229600" cy="4000528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&lt;input type="radio"&gt;</a:t>
            </a:r>
            <a:r>
              <a:rPr lang="en-IN" dirty="0"/>
              <a:t> defines a </a:t>
            </a:r>
            <a:r>
              <a:rPr lang="en-IN" b="1" dirty="0"/>
              <a:t>radio button</a:t>
            </a:r>
            <a:r>
              <a:rPr lang="en-IN" dirty="0"/>
              <a:t>.</a:t>
            </a:r>
          </a:p>
          <a:p>
            <a:r>
              <a:rPr lang="en-IN" dirty="0"/>
              <a:t>Radio buttons let a user select ONLY ONE of a limited number of choices:</a:t>
            </a:r>
          </a:p>
          <a:p>
            <a:pPr>
              <a:buNone/>
            </a:pPr>
            <a:r>
              <a:rPr lang="en-IN" dirty="0"/>
              <a:t>Example</a:t>
            </a:r>
          </a:p>
          <a:p>
            <a:pPr>
              <a:buNone/>
            </a:pPr>
            <a:r>
              <a:rPr lang="en-IN" sz="2200" dirty="0"/>
              <a:t>&lt;form&gt;</a:t>
            </a:r>
            <a:br>
              <a:rPr lang="en-IN" sz="2200" dirty="0"/>
            </a:br>
            <a:r>
              <a:rPr lang="en-IN" sz="2200" dirty="0"/>
              <a:t>  &lt;input type="radio" name="gender" value="male" checked&gt; Male&lt;</a:t>
            </a:r>
            <a:r>
              <a:rPr lang="en-IN" sz="2200" dirty="0" err="1"/>
              <a:t>br</a:t>
            </a:r>
            <a:r>
              <a:rPr lang="en-IN" sz="2200" dirty="0"/>
              <a:t>&gt;</a:t>
            </a:r>
            <a:br>
              <a:rPr lang="en-IN" sz="2200" dirty="0"/>
            </a:br>
            <a:r>
              <a:rPr lang="en-IN" sz="2200" dirty="0"/>
              <a:t>  &lt;input type="radio" name="gender" value="female"&gt; Female&lt;</a:t>
            </a:r>
            <a:r>
              <a:rPr lang="en-IN" sz="2200" dirty="0" err="1"/>
              <a:t>br</a:t>
            </a:r>
            <a:r>
              <a:rPr lang="en-IN" sz="2200" dirty="0"/>
              <a:t>&gt;</a:t>
            </a:r>
            <a:br>
              <a:rPr lang="en-IN" sz="2200" dirty="0"/>
            </a:br>
            <a:r>
              <a:rPr lang="en-IN" sz="2200" dirty="0"/>
              <a:t>  &lt;input type="radio" name="gender" value="other"&gt; Other</a:t>
            </a:r>
          </a:p>
          <a:p>
            <a:pPr>
              <a:buNone/>
            </a:pPr>
            <a:r>
              <a:rPr lang="en-IN" sz="2200" dirty="0"/>
              <a:t>&lt;/form&gt;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29124" y="5286388"/>
            <a:ext cx="1857388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Input Type: checkbox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3214709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&lt;input type="checkbox"&gt;</a:t>
            </a:r>
            <a:r>
              <a:rPr lang="en-IN" dirty="0"/>
              <a:t> defines a </a:t>
            </a:r>
            <a:r>
              <a:rPr lang="en-IN" b="1" dirty="0"/>
              <a:t>checkbox</a:t>
            </a:r>
            <a:r>
              <a:rPr lang="en-IN" dirty="0"/>
              <a:t>.</a:t>
            </a:r>
          </a:p>
          <a:p>
            <a:r>
              <a:rPr lang="en-IN" dirty="0"/>
              <a:t>Checkboxes let a user select ZERO or MORE options of a limited number of choices.</a:t>
            </a:r>
          </a:p>
          <a:p>
            <a:pPr>
              <a:buNone/>
            </a:pPr>
            <a:r>
              <a:rPr lang="en-IN" dirty="0"/>
              <a:t>Example</a:t>
            </a:r>
          </a:p>
          <a:p>
            <a:pPr>
              <a:buNone/>
            </a:pPr>
            <a:r>
              <a:rPr lang="en-IN" sz="1900" dirty="0"/>
              <a:t>&lt;form&gt;</a:t>
            </a:r>
            <a:br>
              <a:rPr lang="en-IN" sz="1900" dirty="0"/>
            </a:br>
            <a:r>
              <a:rPr lang="en-IN" sz="1900" dirty="0"/>
              <a:t>  &lt;input type="checkbox" name="vehicle1" value="Bike"&gt; I have a bike&lt;</a:t>
            </a:r>
            <a:r>
              <a:rPr lang="en-IN" sz="1900" dirty="0" err="1"/>
              <a:t>br</a:t>
            </a:r>
            <a:r>
              <a:rPr lang="en-IN" sz="1900" dirty="0"/>
              <a:t>&gt;</a:t>
            </a:r>
            <a:br>
              <a:rPr lang="en-IN" sz="1900" dirty="0"/>
            </a:br>
            <a:r>
              <a:rPr lang="en-IN" sz="1900" dirty="0"/>
              <a:t>  &lt;input type="checkbox" name="vehicle2" value="Car"&gt; I have a car </a:t>
            </a:r>
          </a:p>
          <a:p>
            <a:pPr>
              <a:buNone/>
            </a:pPr>
            <a:r>
              <a:rPr lang="en-IN" sz="1900" dirty="0"/>
              <a:t>&lt;/form&gt;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86116" y="4429132"/>
            <a:ext cx="2428892" cy="121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Input Type: button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1"/>
            <a:ext cx="8229600" cy="2214578"/>
          </a:xfrm>
        </p:spPr>
        <p:txBody>
          <a:bodyPr/>
          <a:lstStyle/>
          <a:p>
            <a:r>
              <a:rPr lang="en-IN" b="1" dirty="0"/>
              <a:t>&lt;input type="button"&gt;</a:t>
            </a:r>
            <a:r>
              <a:rPr lang="en-IN" dirty="0"/>
              <a:t> defines a </a:t>
            </a:r>
            <a:r>
              <a:rPr lang="en-IN" b="1" dirty="0"/>
              <a:t>button</a:t>
            </a:r>
            <a:r>
              <a:rPr lang="en-IN" dirty="0"/>
              <a:t>:</a:t>
            </a:r>
          </a:p>
          <a:p>
            <a:r>
              <a:rPr lang="en-IN" dirty="0"/>
              <a:t>Example</a:t>
            </a:r>
          </a:p>
          <a:p>
            <a:r>
              <a:rPr lang="en-IN" sz="2000" dirty="0"/>
              <a:t>&lt;input type="button" </a:t>
            </a:r>
            <a:r>
              <a:rPr lang="en-IN" sz="2000" dirty="0" err="1"/>
              <a:t>onclick</a:t>
            </a:r>
            <a:r>
              <a:rPr lang="en-IN" sz="2000" dirty="0"/>
              <a:t>="alert('Hello World!')" value="Click Me!"&gt;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43306" y="3571876"/>
            <a:ext cx="2286016" cy="1133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Input Type: number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7"/>
            <a:ext cx="8229600" cy="4143404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The </a:t>
            </a:r>
            <a:r>
              <a:rPr lang="en-IN" b="1" dirty="0"/>
              <a:t>&lt;input type="number"&gt;</a:t>
            </a:r>
            <a:r>
              <a:rPr lang="en-IN" dirty="0"/>
              <a:t> is used for input fields that should contain a numeric value.</a:t>
            </a:r>
          </a:p>
          <a:p>
            <a:r>
              <a:rPr lang="en-IN" dirty="0"/>
              <a:t>You can set restrictions on the numbers.</a:t>
            </a:r>
          </a:p>
          <a:p>
            <a:r>
              <a:rPr lang="en-IN" dirty="0"/>
              <a:t>Depending on browser support, the restrictions can apply to the input field.</a:t>
            </a:r>
          </a:p>
          <a:p>
            <a:pPr>
              <a:buNone/>
            </a:pPr>
            <a:r>
              <a:rPr lang="en-IN" dirty="0"/>
              <a:t>Example</a:t>
            </a:r>
          </a:p>
          <a:p>
            <a:pPr>
              <a:buNone/>
            </a:pPr>
            <a:r>
              <a:rPr lang="en-IN" dirty="0"/>
              <a:t>&lt;form&gt;</a:t>
            </a:r>
            <a:br>
              <a:rPr lang="en-IN" dirty="0"/>
            </a:br>
            <a:r>
              <a:rPr lang="en-IN" dirty="0"/>
              <a:t>  Quantity (between 1 and 5):</a:t>
            </a:r>
            <a:br>
              <a:rPr lang="en-IN" dirty="0"/>
            </a:br>
            <a:r>
              <a:rPr lang="en-IN" sz="2600" dirty="0"/>
              <a:t>  &lt;input type="number" name="quantity" min="1" max="5"&gt;</a:t>
            </a:r>
          </a:p>
          <a:p>
            <a:pPr>
              <a:buNone/>
            </a:pPr>
            <a:r>
              <a:rPr lang="en-IN" dirty="0"/>
              <a:t>&lt;/form&gt;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7554" y="5429264"/>
            <a:ext cx="3000396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9718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Input Type: date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09"/>
            <a:ext cx="8229600" cy="3643337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The </a:t>
            </a:r>
            <a:r>
              <a:rPr lang="en-IN" b="1" dirty="0"/>
              <a:t>&lt;input type="date"&gt;</a:t>
            </a:r>
            <a:r>
              <a:rPr lang="en-IN" dirty="0"/>
              <a:t> is used for input fields that should contain a date.</a:t>
            </a:r>
          </a:p>
          <a:p>
            <a:r>
              <a:rPr lang="en-IN" dirty="0"/>
              <a:t>Depending on browser support, a date picker can show up in the input field.</a:t>
            </a:r>
          </a:p>
          <a:p>
            <a:pPr>
              <a:buNone/>
            </a:pPr>
            <a:r>
              <a:rPr lang="en-IN" dirty="0"/>
              <a:t>Example</a:t>
            </a:r>
          </a:p>
          <a:p>
            <a:pPr>
              <a:buNone/>
            </a:pPr>
            <a:r>
              <a:rPr lang="en-IN" dirty="0"/>
              <a:t>&lt;form&gt;</a:t>
            </a:r>
            <a:br>
              <a:rPr lang="en-IN" dirty="0"/>
            </a:br>
            <a:r>
              <a:rPr lang="en-IN" dirty="0"/>
              <a:t>  Birthday:</a:t>
            </a:r>
            <a:br>
              <a:rPr lang="en-IN" dirty="0"/>
            </a:br>
            <a:r>
              <a:rPr lang="en-IN" dirty="0"/>
              <a:t>  &lt;input type="date" name="</a:t>
            </a:r>
            <a:r>
              <a:rPr lang="en-IN" dirty="0" err="1"/>
              <a:t>bday</a:t>
            </a:r>
            <a:r>
              <a:rPr lang="en-IN" dirty="0"/>
              <a:t>"&gt;</a:t>
            </a:r>
          </a:p>
          <a:p>
            <a:pPr>
              <a:buNone/>
            </a:pPr>
            <a:r>
              <a:rPr lang="en-IN" dirty="0"/>
              <a:t>&lt;/form&gt;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8992" y="4357694"/>
            <a:ext cx="3714776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Input Type: </a:t>
            </a:r>
            <a:r>
              <a:rPr lang="en-IN" dirty="0" err="1"/>
              <a:t>color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09"/>
            <a:ext cx="8229600" cy="3071833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The </a:t>
            </a:r>
            <a:r>
              <a:rPr lang="en-IN" b="1" dirty="0"/>
              <a:t>&lt;input type="</a:t>
            </a:r>
            <a:r>
              <a:rPr lang="en-IN" b="1" dirty="0" err="1"/>
              <a:t>color</a:t>
            </a:r>
            <a:r>
              <a:rPr lang="en-IN" b="1" dirty="0"/>
              <a:t>"&gt;</a:t>
            </a:r>
            <a:r>
              <a:rPr lang="en-IN" dirty="0"/>
              <a:t> is used for input fields that should contain a </a:t>
            </a:r>
            <a:r>
              <a:rPr lang="en-IN" dirty="0" err="1"/>
              <a:t>color</a:t>
            </a:r>
            <a:r>
              <a:rPr lang="en-IN" dirty="0"/>
              <a:t>.</a:t>
            </a:r>
          </a:p>
          <a:p>
            <a:r>
              <a:rPr lang="en-IN" dirty="0"/>
              <a:t>Depending on browser support, a </a:t>
            </a:r>
            <a:r>
              <a:rPr lang="en-IN" dirty="0" err="1"/>
              <a:t>color</a:t>
            </a:r>
            <a:r>
              <a:rPr lang="en-IN" dirty="0"/>
              <a:t> picker can show up in the input field.</a:t>
            </a:r>
          </a:p>
          <a:p>
            <a:pPr>
              <a:buNone/>
            </a:pPr>
            <a:r>
              <a:rPr lang="en-IN" dirty="0"/>
              <a:t>Example</a:t>
            </a:r>
          </a:p>
          <a:p>
            <a:pPr>
              <a:buNone/>
            </a:pPr>
            <a:r>
              <a:rPr lang="en-IN" dirty="0"/>
              <a:t>&lt;form&gt;</a:t>
            </a:r>
            <a:br>
              <a:rPr lang="en-IN" dirty="0"/>
            </a:br>
            <a:r>
              <a:rPr lang="en-IN" dirty="0"/>
              <a:t>  Select your </a:t>
            </a:r>
            <a:r>
              <a:rPr lang="en-IN" dirty="0" err="1"/>
              <a:t>favorite</a:t>
            </a:r>
            <a:r>
              <a:rPr lang="en-IN" dirty="0"/>
              <a:t> </a:t>
            </a:r>
            <a:r>
              <a:rPr lang="en-IN" dirty="0" err="1"/>
              <a:t>color</a:t>
            </a:r>
            <a:r>
              <a:rPr lang="en-IN" dirty="0"/>
              <a:t>:</a:t>
            </a:r>
            <a:br>
              <a:rPr lang="en-IN" dirty="0"/>
            </a:br>
            <a:r>
              <a:rPr lang="en-IN" dirty="0"/>
              <a:t>  &lt;input type="</a:t>
            </a:r>
            <a:r>
              <a:rPr lang="en-IN" dirty="0" err="1"/>
              <a:t>color</a:t>
            </a:r>
            <a:r>
              <a:rPr lang="en-IN" dirty="0"/>
              <a:t>" name="</a:t>
            </a:r>
            <a:r>
              <a:rPr lang="en-IN" dirty="0" err="1"/>
              <a:t>favcolor</a:t>
            </a:r>
            <a:r>
              <a:rPr lang="en-IN" dirty="0"/>
              <a:t>"&gt;</a:t>
            </a:r>
          </a:p>
          <a:p>
            <a:pPr>
              <a:buNone/>
            </a:pPr>
            <a:r>
              <a:rPr lang="en-IN" dirty="0"/>
              <a:t>&lt;/form&gt;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29058" y="3481414"/>
            <a:ext cx="4562475" cy="3376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Input Type: range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5"/>
            <a:ext cx="8229600" cy="3714776"/>
          </a:xfrm>
        </p:spPr>
        <p:txBody>
          <a:bodyPr>
            <a:normAutofit fontScale="92500" lnSpcReduction="10000"/>
          </a:bodyPr>
          <a:lstStyle/>
          <a:p>
            <a:r>
              <a:rPr lang="en-IN" sz="3000" dirty="0"/>
              <a:t>The </a:t>
            </a:r>
            <a:r>
              <a:rPr lang="en-IN" sz="3000" b="1" dirty="0"/>
              <a:t>&lt;input type="range"&gt;</a:t>
            </a:r>
            <a:r>
              <a:rPr lang="en-IN" sz="3000" dirty="0"/>
              <a:t> is used for input fields that should contain a value within a range.</a:t>
            </a:r>
          </a:p>
          <a:p>
            <a:r>
              <a:rPr lang="en-IN" sz="3000" dirty="0"/>
              <a:t>Depending on browser support, the input field can be displayed as a slider control.</a:t>
            </a:r>
          </a:p>
          <a:p>
            <a:pPr>
              <a:buNone/>
            </a:pPr>
            <a:r>
              <a:rPr lang="en-IN" dirty="0"/>
              <a:t>Example</a:t>
            </a:r>
          </a:p>
          <a:p>
            <a:pPr>
              <a:buNone/>
            </a:pPr>
            <a:r>
              <a:rPr lang="en-IN" dirty="0"/>
              <a:t>&lt;form&gt;</a:t>
            </a:r>
            <a:br>
              <a:rPr lang="en-IN" dirty="0"/>
            </a:br>
            <a:r>
              <a:rPr lang="en-IN" sz="2400" dirty="0"/>
              <a:t>  &lt;input type="range" name="points" min="0" max="10"&gt;</a:t>
            </a:r>
          </a:p>
          <a:p>
            <a:pPr>
              <a:buNone/>
            </a:pPr>
            <a:r>
              <a:rPr lang="en-IN" dirty="0"/>
              <a:t>&lt;/form&gt;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43240" y="4857760"/>
            <a:ext cx="2786082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Input Type: month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7"/>
            <a:ext cx="8229600" cy="3500462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The </a:t>
            </a:r>
            <a:r>
              <a:rPr lang="en-IN" b="1" dirty="0"/>
              <a:t>&lt;input type="month"&gt;</a:t>
            </a:r>
            <a:r>
              <a:rPr lang="en-IN" dirty="0"/>
              <a:t> allows the user to select a month and year.</a:t>
            </a:r>
          </a:p>
          <a:p>
            <a:r>
              <a:rPr lang="en-IN" dirty="0"/>
              <a:t>Depending on browser support, a date picker can show up in the input field.</a:t>
            </a:r>
          </a:p>
          <a:p>
            <a:pPr>
              <a:buNone/>
            </a:pPr>
            <a:r>
              <a:rPr lang="en-IN" dirty="0"/>
              <a:t>Example</a:t>
            </a:r>
          </a:p>
          <a:p>
            <a:pPr>
              <a:buNone/>
            </a:pPr>
            <a:r>
              <a:rPr lang="en-IN" dirty="0"/>
              <a:t>&lt;form&gt;</a:t>
            </a:r>
            <a:br>
              <a:rPr lang="en-IN" dirty="0"/>
            </a:br>
            <a:r>
              <a:rPr lang="en-IN" dirty="0"/>
              <a:t>  Birthday (month and year):</a:t>
            </a:r>
            <a:br>
              <a:rPr lang="en-IN" dirty="0"/>
            </a:br>
            <a:r>
              <a:rPr lang="en-IN" dirty="0"/>
              <a:t>  &lt;input type="month" name="</a:t>
            </a:r>
            <a:r>
              <a:rPr lang="en-IN" dirty="0" err="1"/>
              <a:t>bdaymonth</a:t>
            </a:r>
            <a:r>
              <a:rPr lang="en-IN" dirty="0"/>
              <a:t>"&gt;</a:t>
            </a:r>
          </a:p>
          <a:p>
            <a:pPr>
              <a:buNone/>
            </a:pPr>
            <a:r>
              <a:rPr lang="en-IN" dirty="0"/>
              <a:t>&lt;/form&gt;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86182" y="4500570"/>
            <a:ext cx="4381500" cy="216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en-IN" dirty="0"/>
              <a:t>Input Type: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3786214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The </a:t>
            </a:r>
            <a:r>
              <a:rPr lang="en-IN" b="1" dirty="0"/>
              <a:t>&lt;input type="time"&gt;</a:t>
            </a:r>
            <a:r>
              <a:rPr lang="en-IN" dirty="0"/>
              <a:t> allows the user to select a time (no time zone).</a:t>
            </a:r>
          </a:p>
          <a:p>
            <a:r>
              <a:rPr lang="en-IN" dirty="0"/>
              <a:t>Depending on browser support, a time picker can show up in the input field.</a:t>
            </a:r>
          </a:p>
          <a:p>
            <a:pPr>
              <a:buNone/>
            </a:pPr>
            <a:r>
              <a:rPr lang="en-IN" dirty="0"/>
              <a:t>Example</a:t>
            </a:r>
          </a:p>
          <a:p>
            <a:pPr>
              <a:buNone/>
            </a:pPr>
            <a:r>
              <a:rPr lang="en-IN" dirty="0"/>
              <a:t>&lt;form&gt;</a:t>
            </a:r>
            <a:br>
              <a:rPr lang="en-IN" dirty="0"/>
            </a:br>
            <a:r>
              <a:rPr lang="en-IN" dirty="0"/>
              <a:t>  Select a time:</a:t>
            </a:r>
            <a:br>
              <a:rPr lang="en-IN" dirty="0"/>
            </a:br>
            <a:r>
              <a:rPr lang="en-IN" dirty="0"/>
              <a:t>  &lt;input type="time" name="</a:t>
            </a:r>
            <a:r>
              <a:rPr lang="en-IN" dirty="0" err="1"/>
              <a:t>usr_time</a:t>
            </a:r>
            <a:r>
              <a:rPr lang="en-IN" dirty="0"/>
              <a:t>"&gt;</a:t>
            </a:r>
          </a:p>
          <a:p>
            <a:pPr>
              <a:buNone/>
            </a:pPr>
            <a:r>
              <a:rPr lang="en-IN" dirty="0"/>
              <a:t>&lt;/form&gt;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0430" y="5286388"/>
            <a:ext cx="3071834" cy="519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Input Type: </a:t>
            </a:r>
            <a:r>
              <a:rPr lang="en-IN" dirty="0" err="1"/>
              <a:t>datetime</a:t>
            </a:r>
            <a:r>
              <a:rPr lang="en-IN" dirty="0"/>
              <a:t>-local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09"/>
            <a:ext cx="8229600" cy="3857652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The </a:t>
            </a:r>
            <a:r>
              <a:rPr lang="en-IN" b="1" dirty="0"/>
              <a:t>&lt;input type="</a:t>
            </a:r>
            <a:r>
              <a:rPr lang="en-IN" b="1" dirty="0" err="1"/>
              <a:t>datetime</a:t>
            </a:r>
            <a:r>
              <a:rPr lang="en-IN" b="1" dirty="0"/>
              <a:t>-local"&gt;</a:t>
            </a:r>
            <a:r>
              <a:rPr lang="en-IN" dirty="0"/>
              <a:t> allows the user to select a date and time (no time zone).</a:t>
            </a:r>
          </a:p>
          <a:p>
            <a:r>
              <a:rPr lang="en-IN" dirty="0"/>
              <a:t>Depending on browser support, a date picker can show up in the input field.</a:t>
            </a:r>
          </a:p>
          <a:p>
            <a:pPr>
              <a:buNone/>
            </a:pPr>
            <a:r>
              <a:rPr lang="en-IN" dirty="0"/>
              <a:t>Example</a:t>
            </a:r>
          </a:p>
          <a:p>
            <a:pPr>
              <a:buNone/>
            </a:pPr>
            <a:r>
              <a:rPr lang="en-IN" dirty="0"/>
              <a:t>&lt;form&gt;</a:t>
            </a:r>
            <a:br>
              <a:rPr lang="en-IN" dirty="0"/>
            </a:br>
            <a:r>
              <a:rPr lang="en-IN" dirty="0"/>
              <a:t>  Birthday (date and time):</a:t>
            </a:r>
            <a:br>
              <a:rPr lang="en-IN" dirty="0"/>
            </a:br>
            <a:r>
              <a:rPr lang="en-IN" sz="2800" dirty="0"/>
              <a:t> &lt;input type="</a:t>
            </a:r>
            <a:r>
              <a:rPr lang="en-IN" sz="2800" dirty="0" err="1"/>
              <a:t>datetime</a:t>
            </a:r>
            <a:r>
              <a:rPr lang="en-IN" sz="2800" dirty="0"/>
              <a:t>-local" name="</a:t>
            </a:r>
            <a:r>
              <a:rPr lang="en-IN" sz="2800" dirty="0" err="1"/>
              <a:t>bdaytime</a:t>
            </a:r>
            <a:r>
              <a:rPr lang="en-IN" sz="2800" dirty="0"/>
              <a:t>"&gt;</a:t>
            </a:r>
          </a:p>
          <a:p>
            <a:pPr>
              <a:buNone/>
            </a:pPr>
            <a:r>
              <a:rPr lang="en-IN" dirty="0"/>
              <a:t>&lt;/form&gt;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43306" y="4286256"/>
            <a:ext cx="4133850" cy="216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Input Type: email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472" y="1071546"/>
            <a:ext cx="8229600" cy="4071966"/>
          </a:xfrm>
        </p:spPr>
        <p:txBody>
          <a:bodyPr>
            <a:normAutofit fontScale="77500" lnSpcReduction="20000"/>
          </a:bodyPr>
          <a:lstStyle/>
          <a:p>
            <a:r>
              <a:rPr lang="en-IN" dirty="0"/>
              <a:t>The </a:t>
            </a:r>
            <a:r>
              <a:rPr lang="en-IN" b="1" dirty="0"/>
              <a:t>&lt;input type="email"&gt;</a:t>
            </a:r>
            <a:r>
              <a:rPr lang="en-IN" dirty="0"/>
              <a:t> is used for input fields that should contain an e-mail address.</a:t>
            </a:r>
          </a:p>
          <a:p>
            <a:r>
              <a:rPr lang="en-IN" dirty="0"/>
              <a:t>Depending on browser support, the e-mail address can be automatically validated when submitted.</a:t>
            </a:r>
          </a:p>
          <a:p>
            <a:r>
              <a:rPr lang="en-IN" dirty="0"/>
              <a:t>Some </a:t>
            </a:r>
            <a:r>
              <a:rPr lang="en-IN" dirty="0" err="1"/>
              <a:t>smartphones</a:t>
            </a:r>
            <a:r>
              <a:rPr lang="en-IN" dirty="0"/>
              <a:t> recognize the email type, and adds ".com" to the keyboard to match email input.</a:t>
            </a:r>
          </a:p>
          <a:p>
            <a:pPr>
              <a:buNone/>
            </a:pPr>
            <a:r>
              <a:rPr lang="en-IN" dirty="0"/>
              <a:t>Example</a:t>
            </a:r>
          </a:p>
          <a:p>
            <a:pPr>
              <a:buNone/>
            </a:pPr>
            <a:r>
              <a:rPr lang="en-IN" dirty="0"/>
              <a:t>&lt;form&gt;</a:t>
            </a:r>
            <a:br>
              <a:rPr lang="en-IN" dirty="0"/>
            </a:br>
            <a:r>
              <a:rPr lang="en-IN" dirty="0"/>
              <a:t>  E-mail:</a:t>
            </a:r>
            <a:br>
              <a:rPr lang="en-IN" dirty="0"/>
            </a:br>
            <a:r>
              <a:rPr lang="en-IN" dirty="0"/>
              <a:t>  &lt;input type="email" name="email"&gt;</a:t>
            </a:r>
          </a:p>
          <a:p>
            <a:pPr>
              <a:buNone/>
            </a:pPr>
            <a:r>
              <a:rPr lang="en-IN" dirty="0"/>
              <a:t>&lt;/form&gt;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8992" y="4714884"/>
            <a:ext cx="4000528" cy="14859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Input Type: </a:t>
            </a:r>
            <a:r>
              <a:rPr lang="en-IN" dirty="0" err="1"/>
              <a:t>url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910" y="1117615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The </a:t>
            </a:r>
            <a:r>
              <a:rPr lang="en-IN" b="1" dirty="0"/>
              <a:t>&lt;input type="</a:t>
            </a:r>
            <a:r>
              <a:rPr lang="en-IN" b="1" dirty="0" err="1"/>
              <a:t>url</a:t>
            </a:r>
            <a:r>
              <a:rPr lang="en-IN" b="1" dirty="0"/>
              <a:t>"&gt;</a:t>
            </a:r>
            <a:r>
              <a:rPr lang="en-IN" dirty="0"/>
              <a:t> is used for input fields that should contain a URL address.</a:t>
            </a:r>
          </a:p>
          <a:p>
            <a:r>
              <a:rPr lang="en-IN" dirty="0"/>
              <a:t>Depending on browser support, the </a:t>
            </a:r>
            <a:r>
              <a:rPr lang="en-IN" dirty="0" err="1"/>
              <a:t>url</a:t>
            </a:r>
            <a:r>
              <a:rPr lang="en-IN" dirty="0"/>
              <a:t> field can be automatically validated when submitted.</a:t>
            </a:r>
          </a:p>
          <a:p>
            <a:r>
              <a:rPr lang="en-IN" dirty="0"/>
              <a:t>Some </a:t>
            </a:r>
            <a:r>
              <a:rPr lang="en-IN" dirty="0" err="1"/>
              <a:t>smartphones</a:t>
            </a:r>
            <a:r>
              <a:rPr lang="en-IN" dirty="0"/>
              <a:t> recognize the </a:t>
            </a:r>
            <a:r>
              <a:rPr lang="en-IN" dirty="0" err="1"/>
              <a:t>url</a:t>
            </a:r>
            <a:r>
              <a:rPr lang="en-IN" dirty="0"/>
              <a:t> type, and adds ".com" to the keyboard to match </a:t>
            </a:r>
            <a:r>
              <a:rPr lang="en-IN" dirty="0" err="1"/>
              <a:t>url</a:t>
            </a:r>
            <a:r>
              <a:rPr lang="en-IN" dirty="0"/>
              <a:t> input.</a:t>
            </a:r>
          </a:p>
          <a:p>
            <a:pPr>
              <a:buNone/>
            </a:pPr>
            <a:r>
              <a:rPr lang="en-IN" dirty="0"/>
              <a:t>Example</a:t>
            </a:r>
          </a:p>
          <a:p>
            <a:pPr>
              <a:buNone/>
            </a:pPr>
            <a:r>
              <a:rPr lang="en-IN" dirty="0"/>
              <a:t>&lt;form&gt;</a:t>
            </a:r>
            <a:br>
              <a:rPr lang="en-IN" dirty="0"/>
            </a:br>
            <a:r>
              <a:rPr lang="en-IN" dirty="0"/>
              <a:t>  Add your homepage:</a:t>
            </a:r>
            <a:br>
              <a:rPr lang="en-IN" dirty="0"/>
            </a:br>
            <a:r>
              <a:rPr lang="en-IN" dirty="0"/>
              <a:t>  &lt;input type="</a:t>
            </a:r>
            <a:r>
              <a:rPr lang="en-IN" dirty="0" err="1"/>
              <a:t>url</a:t>
            </a:r>
            <a:r>
              <a:rPr lang="en-IN" dirty="0"/>
              <a:t>" name="homepage"&gt;</a:t>
            </a:r>
          </a:p>
          <a:p>
            <a:pPr>
              <a:buNone/>
            </a:pPr>
            <a:r>
              <a:rPr lang="en-IN" dirty="0"/>
              <a:t>&lt;/form&gt;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0430" y="5286388"/>
            <a:ext cx="4500594" cy="1143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How to run audio content?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IN" dirty="0"/>
              <a:t>&lt;!DOCTYPE html&gt;</a:t>
            </a:r>
          </a:p>
          <a:p>
            <a:pPr>
              <a:buNone/>
            </a:pPr>
            <a:r>
              <a:rPr lang="en-IN" dirty="0"/>
              <a:t>&lt;html&gt;</a:t>
            </a:r>
          </a:p>
          <a:p>
            <a:pPr>
              <a:buNone/>
            </a:pPr>
            <a:r>
              <a:rPr lang="en-IN" dirty="0"/>
              <a:t>&lt;body&gt;</a:t>
            </a:r>
          </a:p>
          <a:p>
            <a:pPr>
              <a:buNone/>
            </a:pPr>
            <a:r>
              <a:rPr lang="en-IN" dirty="0"/>
              <a:t>&lt;audio width="100" controls&gt;</a:t>
            </a:r>
          </a:p>
          <a:p>
            <a:pPr>
              <a:buNone/>
            </a:pPr>
            <a:r>
              <a:rPr lang="en-IN" dirty="0"/>
              <a:t>  &lt;source </a:t>
            </a:r>
            <a:r>
              <a:rPr lang="en-IN" dirty="0" err="1"/>
              <a:t>src</a:t>
            </a:r>
            <a:r>
              <a:rPr lang="en-IN" dirty="0"/>
              <a:t>="siruponmani.mp3" type="audio/mp3"&gt;</a:t>
            </a:r>
          </a:p>
          <a:p>
            <a:pPr>
              <a:buNone/>
            </a:pPr>
            <a:r>
              <a:rPr lang="en-IN" dirty="0"/>
              <a:t>&lt;/audio&gt;</a:t>
            </a:r>
          </a:p>
          <a:p>
            <a:pPr>
              <a:buNone/>
            </a:pPr>
            <a:r>
              <a:rPr lang="en-IN" dirty="0"/>
              <a:t>&lt;/body&gt;</a:t>
            </a:r>
          </a:p>
          <a:p>
            <a:pPr>
              <a:buNone/>
            </a:pPr>
            <a:r>
              <a:rPr lang="en-IN" dirty="0"/>
              <a:t>&lt;/html&gt;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How to run video content?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IN" dirty="0"/>
              <a:t>&lt;!DOCTYPE html&gt;</a:t>
            </a:r>
          </a:p>
          <a:p>
            <a:pPr>
              <a:buNone/>
            </a:pPr>
            <a:r>
              <a:rPr lang="en-IN" dirty="0"/>
              <a:t>&lt;html&gt;</a:t>
            </a:r>
          </a:p>
          <a:p>
            <a:pPr>
              <a:buNone/>
            </a:pPr>
            <a:r>
              <a:rPr lang="en-IN" dirty="0"/>
              <a:t>&lt;body&gt;</a:t>
            </a:r>
          </a:p>
          <a:p>
            <a:pPr>
              <a:buNone/>
            </a:pPr>
            <a:r>
              <a:rPr lang="en-IN" dirty="0"/>
              <a:t>&lt;video height="400" width="400" controls="controls" </a:t>
            </a:r>
            <a:r>
              <a:rPr lang="en-IN" dirty="0" err="1"/>
              <a:t>autoplay</a:t>
            </a:r>
            <a:r>
              <a:rPr lang="en-IN" dirty="0"/>
              <a:t>="</a:t>
            </a:r>
            <a:r>
              <a:rPr lang="en-IN" dirty="0" err="1"/>
              <a:t>autoplay</a:t>
            </a:r>
            <a:r>
              <a:rPr lang="en-IN" dirty="0"/>
              <a:t>"&gt;</a:t>
            </a:r>
          </a:p>
          <a:p>
            <a:pPr>
              <a:buNone/>
            </a:pPr>
            <a:r>
              <a:rPr lang="en-IN" dirty="0"/>
              <a:t>  &lt;source </a:t>
            </a:r>
            <a:r>
              <a:rPr lang="en-IN" dirty="0" err="1"/>
              <a:t>src</a:t>
            </a:r>
            <a:r>
              <a:rPr lang="en-IN" dirty="0"/>
              <a:t>="sample.mp4" type="video/mp4"&gt;</a:t>
            </a:r>
          </a:p>
          <a:p>
            <a:pPr>
              <a:buNone/>
            </a:pPr>
            <a:r>
              <a:rPr lang="en-IN" dirty="0"/>
              <a:t>&lt;/video&gt;</a:t>
            </a:r>
          </a:p>
          <a:p>
            <a:pPr>
              <a:buNone/>
            </a:pPr>
            <a:r>
              <a:rPr lang="en-IN" dirty="0"/>
              <a:t>&lt;/body&gt;</a:t>
            </a:r>
          </a:p>
          <a:p>
            <a:pPr>
              <a:buNone/>
            </a:pPr>
            <a:r>
              <a:rPr lang="en-IN" dirty="0"/>
              <a:t>&lt;/html&gt;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1692</Words>
  <Application>Microsoft Office PowerPoint</Application>
  <PresentationFormat>On-screen Show (4:3)</PresentationFormat>
  <Paragraphs>160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HTML – Input Types</vt:lpstr>
      <vt:lpstr>Core Elements of HTML</vt:lpstr>
      <vt:lpstr>Div and Span Elements</vt:lpstr>
      <vt:lpstr>New Elements in HTML5</vt:lpstr>
      <vt:lpstr>Autofocus attribute</vt:lpstr>
      <vt:lpstr>Place Holder Attribute</vt:lpstr>
      <vt:lpstr>Semantic Elements</vt:lpstr>
      <vt:lpstr> Input Type: text </vt:lpstr>
      <vt:lpstr> Input Type: password </vt:lpstr>
      <vt:lpstr> Input Type: submit </vt:lpstr>
      <vt:lpstr> Input Type: radio </vt:lpstr>
      <vt:lpstr> Input Type: checkbox </vt:lpstr>
      <vt:lpstr> Input Type: button </vt:lpstr>
      <vt:lpstr> Input Type: number </vt:lpstr>
      <vt:lpstr> Input Type: date </vt:lpstr>
      <vt:lpstr> Input Type: color </vt:lpstr>
      <vt:lpstr> Input Type: range </vt:lpstr>
      <vt:lpstr> Input Type: month </vt:lpstr>
      <vt:lpstr>Input Type: time</vt:lpstr>
      <vt:lpstr> Input Type: datetime-local </vt:lpstr>
      <vt:lpstr> Input Type: email </vt:lpstr>
      <vt:lpstr> Input Type: url </vt:lpstr>
      <vt:lpstr>How to run audio content?</vt:lpstr>
      <vt:lpstr>How to run video content?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– Input Types</dc:title>
  <dc:creator>staff</dc:creator>
  <cp:lastModifiedBy>B Prabavathy</cp:lastModifiedBy>
  <cp:revision>53</cp:revision>
  <dcterms:created xsi:type="dcterms:W3CDTF">2016-07-07T05:51:01Z</dcterms:created>
  <dcterms:modified xsi:type="dcterms:W3CDTF">2026-06-24T09:50:45Z</dcterms:modified>
</cp:coreProperties>
</file>