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3" r:id="rId9"/>
    <p:sldId id="265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79" r:id="rId23"/>
    <p:sldId id="281" r:id="rId24"/>
    <p:sldId id="282" r:id="rId25"/>
    <p:sldId id="283" r:id="rId26"/>
    <p:sldId id="260" r:id="rId27"/>
    <p:sldId id="284" r:id="rId28"/>
    <p:sldId id="286" r:id="rId29"/>
    <p:sldId id="287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91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17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86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31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3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11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28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0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33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0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35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B6284-91A8-40CE-A2E9-7C9540731C8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8C4A3-B7CB-44F5-BF6F-D7F913FA1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8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pseudo_classes.asp" TargetMode="External"/><Relationship Id="rId2" Type="http://schemas.openxmlformats.org/officeDocument/2006/relationships/hyperlink" Target="https://www.w3schools.com/Css/css_combinators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Css/css_attribute_selectors.asp" TargetMode="External"/><Relationship Id="rId4" Type="http://schemas.openxmlformats.org/officeDocument/2006/relationships/hyperlink" Target="https://www.w3schools.com/Css/css_pseudo_elements.asp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sel_firstchild.php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w3schools.com/cssref/sel_firstline.php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w3schools.com/cssref/sel_marker.php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DAFF-0A8B-45B8-D37A-4B90A2B1B9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Cascading Style Sheet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43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EB-23A0-5EF0-37B8-39394606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8" y="195051"/>
            <a:ext cx="3606920" cy="488889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Types of Stylesheets</a:t>
            </a:r>
            <a:endParaRPr lang="en-IN" sz="3600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5DFBA-9C9D-7A42-C3E9-582431B28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38" y="1147313"/>
            <a:ext cx="4271155" cy="3416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Inline CSS - CS</a:t>
            </a:r>
            <a:r>
              <a:rPr lang="en-US" sz="1800" dirty="0">
                <a:solidFill>
                  <a:srgbClr val="FF0000"/>
                </a:solidFill>
              </a:rPr>
              <a:t>S is written directly inside the HTML element using the style attribute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&lt;p style="</a:t>
            </a:r>
            <a:r>
              <a:rPr lang="en-US" sz="1800" dirty="0" err="1">
                <a:solidFill>
                  <a:srgbClr val="0000FF"/>
                </a:solidFill>
              </a:rPr>
              <a:t>color:blue</a:t>
            </a:r>
            <a:r>
              <a:rPr lang="en-US" sz="1800" dirty="0">
                <a:solidFill>
                  <a:srgbClr val="0000FF"/>
                </a:solidFill>
              </a:rPr>
              <a:t>; font-size: 20px;"&gt;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</a:rPr>
              <a:t>    Welcome to Web Technology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</a:rPr>
              <a:t>&lt;/p&gt;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sz="1800" dirty="0">
                <a:solidFill>
                  <a:srgbClr val="000000"/>
                </a:solidFill>
              </a:rPr>
              <a:t>Easy for applying a style to a single element.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sz="1800" dirty="0">
                <a:solidFill>
                  <a:srgbClr val="000000"/>
                </a:solidFill>
              </a:rPr>
              <a:t>Useful for quick testing.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1A620-529C-B1B8-C2AE-A57147FC982E}"/>
              </a:ext>
            </a:extLst>
          </p:cNvPr>
          <p:cNvSpPr txBox="1"/>
          <p:nvPr/>
        </p:nvSpPr>
        <p:spPr>
          <a:xfrm>
            <a:off x="4114800" y="36077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are </a:t>
            </a:r>
            <a:r>
              <a:rPr lang="en-US" b="1" dirty="0"/>
              <a:t>three standard ways</a:t>
            </a:r>
            <a:r>
              <a:rPr lang="en-US" dirty="0"/>
              <a:t> to add CSS styles to an HTML document.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F2351-C0C7-854F-F1ED-522381CDE566}"/>
              </a:ext>
            </a:extLst>
          </p:cNvPr>
          <p:cNvSpPr txBox="1"/>
          <p:nvPr/>
        </p:nvSpPr>
        <p:spPr>
          <a:xfrm>
            <a:off x="4242040" y="1147313"/>
            <a:ext cx="460219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Internal CSS (Embedded CSS) - </a:t>
            </a:r>
            <a:r>
              <a:rPr lang="en-US" dirty="0">
                <a:solidFill>
                  <a:srgbClr val="FF0000"/>
                </a:solidFill>
              </a:rPr>
              <a:t>The CSS is written inside a &lt;style&gt; tag within the &lt;head&gt; section of the HTML document.</a:t>
            </a:r>
          </a:p>
          <a:p>
            <a:endParaRPr lang="en-IN" dirty="0"/>
          </a:p>
          <a:p>
            <a:r>
              <a:rPr lang="en-IN" dirty="0"/>
              <a:t>&lt;html&gt;</a:t>
            </a:r>
            <a:br>
              <a:rPr lang="en-IN" dirty="0"/>
            </a:br>
            <a:r>
              <a:rPr lang="en-IN" dirty="0"/>
              <a:t>&lt;head&gt;</a:t>
            </a:r>
            <a:br>
              <a:rPr lang="en-IN" dirty="0"/>
            </a:br>
            <a:r>
              <a:rPr lang="en-IN" dirty="0">
                <a:solidFill>
                  <a:srgbClr val="0000FF"/>
                </a:solidFill>
              </a:rPr>
              <a:t>&lt;style&gt;</a:t>
            </a:r>
            <a:br>
              <a:rPr lang="en-IN" dirty="0">
                <a:solidFill>
                  <a:srgbClr val="0000FF"/>
                </a:solidFill>
              </a:rPr>
            </a:br>
            <a:r>
              <a:rPr lang="en-IN" dirty="0">
                <a:solidFill>
                  <a:srgbClr val="0000FF"/>
                </a:solidFill>
              </a:rPr>
              <a:t>h1 { </a:t>
            </a:r>
            <a:r>
              <a:rPr lang="en-IN" dirty="0" err="1">
                <a:solidFill>
                  <a:srgbClr val="0000FF"/>
                </a:solidFill>
              </a:rPr>
              <a:t>color</a:t>
            </a:r>
            <a:r>
              <a:rPr lang="en-IN" dirty="0">
                <a:solidFill>
                  <a:srgbClr val="0000FF"/>
                </a:solidFill>
              </a:rPr>
              <a:t>: navy; text-align: </a:t>
            </a:r>
            <a:r>
              <a:rPr lang="en-IN" dirty="0" err="1">
                <a:solidFill>
                  <a:srgbClr val="0000FF"/>
                </a:solidFill>
              </a:rPr>
              <a:t>center</a:t>
            </a:r>
            <a:r>
              <a:rPr lang="en-IN" dirty="0">
                <a:solidFill>
                  <a:srgbClr val="0000FF"/>
                </a:solidFill>
              </a:rPr>
              <a:t>; }</a:t>
            </a:r>
            <a:br>
              <a:rPr lang="en-IN" dirty="0">
                <a:solidFill>
                  <a:srgbClr val="0000FF"/>
                </a:solidFill>
              </a:rPr>
            </a:br>
            <a:r>
              <a:rPr lang="en-IN" dirty="0">
                <a:solidFill>
                  <a:srgbClr val="0000FF"/>
                </a:solidFill>
              </a:rPr>
              <a:t>p { </a:t>
            </a:r>
            <a:r>
              <a:rPr lang="en-IN" dirty="0" err="1">
                <a:solidFill>
                  <a:srgbClr val="0000FF"/>
                </a:solidFill>
              </a:rPr>
              <a:t>color</a:t>
            </a:r>
            <a:r>
              <a:rPr lang="en-IN" dirty="0">
                <a:solidFill>
                  <a:srgbClr val="0000FF"/>
                </a:solidFill>
              </a:rPr>
              <a:t>: </a:t>
            </a:r>
            <a:r>
              <a:rPr lang="en-IN" dirty="0" err="1">
                <a:solidFill>
                  <a:srgbClr val="0000FF"/>
                </a:solidFill>
              </a:rPr>
              <a:t>gray</a:t>
            </a:r>
            <a:r>
              <a:rPr lang="en-IN" dirty="0">
                <a:solidFill>
                  <a:srgbClr val="0000FF"/>
                </a:solidFill>
              </a:rPr>
              <a:t>; }</a:t>
            </a:r>
            <a:br>
              <a:rPr lang="en-IN" dirty="0">
                <a:solidFill>
                  <a:srgbClr val="0000FF"/>
                </a:solidFill>
              </a:rPr>
            </a:br>
            <a:r>
              <a:rPr lang="en-IN" dirty="0">
                <a:solidFill>
                  <a:srgbClr val="0000FF"/>
                </a:solidFill>
              </a:rPr>
              <a:t>&lt;/style&gt;</a:t>
            </a:r>
            <a:br>
              <a:rPr lang="en-IN" dirty="0"/>
            </a:br>
            <a:r>
              <a:rPr lang="en-IN" dirty="0"/>
              <a:t>&lt;/head&gt;</a:t>
            </a:r>
            <a:br>
              <a:rPr lang="en-IN" dirty="0"/>
            </a:br>
            <a:r>
              <a:rPr lang="en-IN" dirty="0"/>
              <a:t>&lt;body&gt;</a:t>
            </a:r>
            <a:br>
              <a:rPr lang="en-IN" dirty="0"/>
            </a:br>
            <a:r>
              <a:rPr lang="en-IN" dirty="0"/>
              <a:t>&lt;h1&gt;</a:t>
            </a:r>
            <a:r>
              <a:rPr lang="en-IN" dirty="0" err="1"/>
              <a:t>TechNova</a:t>
            </a:r>
            <a:r>
              <a:rPr lang="en-IN" dirty="0"/>
              <a:t> 2026&lt;/h1&gt;</a:t>
            </a:r>
            <a:br>
              <a:rPr lang="en-IN" dirty="0"/>
            </a:br>
            <a:r>
              <a:rPr lang="en-IN" dirty="0"/>
              <a:t>&lt;p&gt;National Level Technical Symposium&lt;/p&gt;</a:t>
            </a:r>
            <a:br>
              <a:rPr lang="en-IN" dirty="0"/>
            </a:br>
            <a:r>
              <a:rPr lang="en-IN" dirty="0"/>
              <a:t>&lt;/body&gt;</a:t>
            </a:r>
            <a:br>
              <a:rPr lang="en-IN" dirty="0"/>
            </a:br>
            <a:r>
              <a:rPr lang="en-IN" dirty="0"/>
              <a:t>&lt;/html&gt;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Styles all elements within a single webpage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16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D59AA7-ACF8-21DC-B44D-7332CA643F86}"/>
              </a:ext>
            </a:extLst>
          </p:cNvPr>
          <p:cNvSpPr txBox="1"/>
          <p:nvPr/>
        </p:nvSpPr>
        <p:spPr>
          <a:xfrm>
            <a:off x="370935" y="1936025"/>
            <a:ext cx="40630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HTML (index.html)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&lt;!DOCTYPE html&gt;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&lt;link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rel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="stylesheet"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href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="style.css"&gt;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TechNova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2026&lt;/h1&gt;</a:t>
            </a: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&lt;/html&gt;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923BA-6652-40BA-0A34-46C69AA3BEC5}"/>
              </a:ext>
            </a:extLst>
          </p:cNvPr>
          <p:cNvSpPr txBox="1"/>
          <p:nvPr/>
        </p:nvSpPr>
        <p:spPr>
          <a:xfrm>
            <a:off x="4887403" y="2053326"/>
            <a:ext cx="34322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CSS (style.css)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h1 {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: green;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text-align: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center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5E2ED-D0BF-028C-220D-6F8C79B419D5}"/>
              </a:ext>
            </a:extLst>
          </p:cNvPr>
          <p:cNvSpPr txBox="1"/>
          <p:nvPr/>
        </p:nvSpPr>
        <p:spPr>
          <a:xfrm>
            <a:off x="257714" y="924523"/>
            <a:ext cx="8558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Consolas" panose="020B0609020204030204" pitchFamily="49" charset="0"/>
              </a:rPr>
              <a:t>External CSS 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-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The CSS is stored in a separate .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css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file and linked to the HTML document using the &lt;link&gt; tag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DA9C7-E313-7206-C263-956C4CCDFA11}"/>
              </a:ext>
            </a:extLst>
          </p:cNvPr>
          <p:cNvSpPr txBox="1"/>
          <p:nvPr/>
        </p:nvSpPr>
        <p:spPr>
          <a:xfrm>
            <a:off x="3985403" y="4331566"/>
            <a:ext cx="49601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Best for multi-page websites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Reusable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across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multiple HTML   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pages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Separates content (HTML) from presentation (CSS)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3025302-8579-7CDB-114A-70F07821808E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0000FF"/>
                </a:solidFill>
              </a:rPr>
              <a:t>Types of Stylesheets</a:t>
            </a:r>
            <a:endParaRPr lang="en-IN" sz="3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39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8ACF29-07F8-E680-D691-F050B4DD4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639849"/>
              </p:ext>
            </p:extLst>
          </p:nvPr>
        </p:nvGraphicFramePr>
        <p:xfrm>
          <a:off x="102438" y="1207698"/>
          <a:ext cx="8928340" cy="4742304"/>
        </p:xfrm>
        <a:graphic>
          <a:graphicData uri="http://schemas.openxmlformats.org/drawingml/2006/table">
            <a:tbl>
              <a:tblPr/>
              <a:tblGrid>
                <a:gridCol w="1785668">
                  <a:extLst>
                    <a:ext uri="{9D8B030D-6E8A-4147-A177-3AD203B41FA5}">
                      <a16:colId xmlns:a16="http://schemas.microsoft.com/office/drawing/2014/main" val="3340018965"/>
                    </a:ext>
                  </a:extLst>
                </a:gridCol>
                <a:gridCol w="1785668">
                  <a:extLst>
                    <a:ext uri="{9D8B030D-6E8A-4147-A177-3AD203B41FA5}">
                      <a16:colId xmlns:a16="http://schemas.microsoft.com/office/drawing/2014/main" val="100089918"/>
                    </a:ext>
                  </a:extLst>
                </a:gridCol>
                <a:gridCol w="1785668">
                  <a:extLst>
                    <a:ext uri="{9D8B030D-6E8A-4147-A177-3AD203B41FA5}">
                      <a16:colId xmlns:a16="http://schemas.microsoft.com/office/drawing/2014/main" val="3577569083"/>
                    </a:ext>
                  </a:extLst>
                </a:gridCol>
                <a:gridCol w="1785668">
                  <a:extLst>
                    <a:ext uri="{9D8B030D-6E8A-4147-A177-3AD203B41FA5}">
                      <a16:colId xmlns:a16="http://schemas.microsoft.com/office/drawing/2014/main" val="511477555"/>
                    </a:ext>
                  </a:extLst>
                </a:gridCol>
                <a:gridCol w="1785668">
                  <a:extLst>
                    <a:ext uri="{9D8B030D-6E8A-4147-A177-3AD203B41FA5}">
                      <a16:colId xmlns:a16="http://schemas.microsoft.com/office/drawing/2014/main" val="2053738561"/>
                    </a:ext>
                  </a:extLst>
                </a:gridCol>
              </a:tblGrid>
              <a:tr h="772002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00FF"/>
                          </a:solidFill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00FF"/>
                          </a:solidFill>
                        </a:rPr>
                        <a:t>Where CSS is Written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00FF"/>
                          </a:solidFill>
                        </a:rPr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00FF"/>
                          </a:solidFill>
                        </a:rPr>
                        <a:t>Reusability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00FF"/>
                          </a:solidFill>
                        </a:rPr>
                        <a:t>Best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029050"/>
                  </a:ext>
                </a:extLst>
              </a:tr>
              <a:tr h="1433720">
                <a:tc>
                  <a:txBody>
                    <a:bodyPr/>
                    <a:lstStyle/>
                    <a:p>
                      <a:r>
                        <a:rPr lang="en-IN" sz="2000"/>
                        <a:t>Inline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Inside the style attribute of an HTML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Single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Quick testing or one-off styling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009613"/>
                  </a:ext>
                </a:extLst>
              </a:tr>
              <a:tr h="1102862">
                <a:tc>
                  <a:txBody>
                    <a:bodyPr/>
                    <a:lstStyle/>
                    <a:p>
                      <a:r>
                        <a:rPr lang="en-IN" sz="2000"/>
                        <a:t>Internal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Inside a &lt;style&gt; tag in the &lt;head&gt;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Single HTML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Small, single-page websites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327315"/>
                  </a:ext>
                </a:extLst>
              </a:tr>
              <a:tr h="1433720">
                <a:tc>
                  <a:txBody>
                    <a:bodyPr/>
                    <a:lstStyle/>
                    <a:p>
                      <a:r>
                        <a:rPr lang="en-IN" sz="2000"/>
                        <a:t>External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 a separate .css file linked with &lt;link&gt;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Multiple HTML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Medium and large websites (recommended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117463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E010716-DDF8-D14D-1C81-F1E4DC8ABA70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FF"/>
                </a:solidFill>
              </a:rPr>
              <a:t>Types of Stylesheets</a:t>
            </a:r>
            <a:endParaRPr lang="en-IN" sz="3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504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DD79F-93D4-BF1D-58B6-186F1CA02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37398"/>
            <a:ext cx="7886700" cy="53395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CSS selectors are used to "find" (or select) the HTML elements you want to style.</a:t>
            </a:r>
          </a:p>
          <a:p>
            <a:pPr marL="0" indent="0">
              <a:buNone/>
            </a:pPr>
            <a:r>
              <a:rPr lang="en-IN" dirty="0"/>
              <a:t>We can divide CSS selectors into five categories: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Simple selectors (select elements based on name, id, class)</a:t>
            </a:r>
          </a:p>
          <a:p>
            <a:r>
              <a:rPr lang="en-IN" dirty="0">
                <a:hlinkClick r:id="rId2"/>
              </a:rPr>
              <a:t>Combinator selectors</a:t>
            </a:r>
            <a:r>
              <a:rPr lang="en-IN" dirty="0"/>
              <a:t> (select elements based on a specific relationship between them)</a:t>
            </a:r>
          </a:p>
          <a:p>
            <a:r>
              <a:rPr lang="en-IN" dirty="0">
                <a:hlinkClick r:id="rId3"/>
              </a:rPr>
              <a:t>Pseudo-class selectors</a:t>
            </a:r>
            <a:r>
              <a:rPr lang="en-IN" dirty="0"/>
              <a:t> (select elements based on a certain state)</a:t>
            </a:r>
          </a:p>
          <a:p>
            <a:r>
              <a:rPr lang="en-IN" dirty="0">
                <a:hlinkClick r:id="rId4"/>
              </a:rPr>
              <a:t>Pseudo-elements selectors</a:t>
            </a:r>
            <a:r>
              <a:rPr lang="en-IN" dirty="0"/>
              <a:t> (select and style a part of an element)</a:t>
            </a:r>
          </a:p>
          <a:p>
            <a:r>
              <a:rPr lang="en-IN" dirty="0">
                <a:hlinkClick r:id="rId5"/>
              </a:rPr>
              <a:t>Attribute selectors</a:t>
            </a:r>
            <a:r>
              <a:rPr lang="en-IN" dirty="0"/>
              <a:t> (select elements based on an attribute or attribute value)</a:t>
            </a: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9848BD9-9183-EA45-EA15-2A696586CAA1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FF"/>
                </a:solidFill>
              </a:rPr>
              <a:t>CSS Selectors</a:t>
            </a:r>
            <a:endParaRPr lang="en-IN" sz="3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28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D374F43-F62E-73AC-A461-7ACDB280D2BD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FF"/>
                </a:solidFill>
              </a:rPr>
              <a:t>CSS Selectors - Examples</a:t>
            </a:r>
            <a:endParaRPr lang="en-IN" sz="3600" dirty="0">
              <a:solidFill>
                <a:srgbClr val="0000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A6F330-ED7B-44BB-B914-451E18586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" y="1733313"/>
            <a:ext cx="9081181" cy="33680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CC616D-0D1D-B935-13D7-241B94A221AE}"/>
              </a:ext>
            </a:extLst>
          </p:cNvPr>
          <p:cNvSpPr txBox="1"/>
          <p:nvPr/>
        </p:nvSpPr>
        <p:spPr>
          <a:xfrm>
            <a:off x="102438" y="1023960"/>
            <a:ext cx="4581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Element Selector</a:t>
            </a:r>
          </a:p>
        </p:txBody>
      </p:sp>
    </p:spTree>
    <p:extLst>
      <p:ext uri="{BB962C8B-B14F-4D97-AF65-F5344CB8AC3E}">
        <p14:creationId xmlns:p14="http://schemas.microsoft.com/office/powerpoint/2010/main" val="768040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93A6B-77C4-B504-0C65-262100ECF893}"/>
              </a:ext>
            </a:extLst>
          </p:cNvPr>
          <p:cNvSpPr txBox="1"/>
          <p:nvPr/>
        </p:nvSpPr>
        <p:spPr>
          <a:xfrm>
            <a:off x="182880" y="683940"/>
            <a:ext cx="7883091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Segoe UI" panose="020B0502040204020203" pitchFamily="34" charset="0"/>
              </a:rPr>
              <a:t>ID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Selector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Uses the id attribute of an HTML element to select a specific element.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id of an element is unique within a page, so the id selector is used to select one unique element!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select an element with a specific id, write a hash (#) character, followed by the id of the element.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70C713-5D1B-2062-DF06-E7095CED0E0E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FF"/>
                </a:solidFill>
              </a:rPr>
              <a:t>CSS Selectors - Examples</a:t>
            </a:r>
            <a:endParaRPr lang="en-IN" sz="3600" dirty="0">
              <a:solidFill>
                <a:srgbClr val="0000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98820A-AE5F-9402-F2E1-DFC704A0B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9096"/>
            <a:ext cx="9144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03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4834D9-35BA-B69E-6E2D-46EF70E87988}"/>
              </a:ext>
            </a:extLst>
          </p:cNvPr>
          <p:cNvSpPr txBox="1"/>
          <p:nvPr/>
        </p:nvSpPr>
        <p:spPr>
          <a:xfrm>
            <a:off x="102438" y="683940"/>
            <a:ext cx="8939124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Segoe UI" panose="020B0502040204020203" pitchFamily="34" charset="0"/>
              </a:rPr>
              <a:t>C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lass Selector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Selects HTML elements with a specific class attribute.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select elements with a specific class, write a period (.) character, followed by the class name.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C6751B-BE91-B0A5-5E8C-C795BAE18735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FF"/>
                </a:solidFill>
              </a:rPr>
              <a:t>CSS Selectors - Examples</a:t>
            </a:r>
            <a:endParaRPr lang="en-IN" sz="3600" dirty="0">
              <a:solidFill>
                <a:srgbClr val="0000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78B143-D608-83F0-BD33-184CD8406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9404"/>
            <a:ext cx="9144000" cy="305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48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3CD7-BA3C-D116-2F48-C0E0A2EB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364C09-A4BB-C88C-7EE0-D59D54FE46ED}"/>
              </a:ext>
            </a:extLst>
          </p:cNvPr>
          <p:cNvSpPr txBox="1"/>
          <p:nvPr/>
        </p:nvSpPr>
        <p:spPr>
          <a:xfrm>
            <a:off x="102438" y="683940"/>
            <a:ext cx="8939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HTML elements can also refer to more than one class.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In this example the &lt;p&gt; element will be styled according to class="center" and to class="large": </a:t>
            </a:r>
            <a:endParaRPr lang="en-IN" sz="1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6E0EFA-EC79-5906-B154-ADAB903AC5F3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FF"/>
                </a:solidFill>
              </a:rPr>
              <a:t>CSS Selectors - Examples</a:t>
            </a:r>
            <a:endParaRPr lang="en-IN" sz="3600" dirty="0">
              <a:solidFill>
                <a:srgbClr val="0000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CF1074-CCBC-F4F7-2360-028B8C6FA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8" y="2399200"/>
            <a:ext cx="9041562" cy="412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5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4B9A8-7274-76E3-500D-E8770267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7E013C-4231-5E21-1F8B-15D3ECB1C24B}"/>
              </a:ext>
            </a:extLst>
          </p:cNvPr>
          <p:cNvSpPr txBox="1"/>
          <p:nvPr/>
        </p:nvSpPr>
        <p:spPr>
          <a:xfrm>
            <a:off x="102438" y="683940"/>
            <a:ext cx="8939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HTML elements can also refer to more than one class.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In this example the &lt;p&gt; element will be styled according to class="center" and to class="large": </a:t>
            </a:r>
            <a:endParaRPr lang="en-IN" sz="1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7E75D-DA01-1491-16E9-24FBDAA6C72E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FF"/>
                </a:solidFill>
              </a:rPr>
              <a:t>CSS Selectors - Examples</a:t>
            </a:r>
            <a:endParaRPr lang="en-IN" sz="3600" dirty="0">
              <a:solidFill>
                <a:srgbClr val="0000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1C499A-4AEF-82B5-346F-CC78164A0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8" y="2399200"/>
            <a:ext cx="9041562" cy="412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61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6B448-57F9-7C90-86AC-170C19D57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90" y="488890"/>
            <a:ext cx="7886700" cy="197517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/>
              <a:t>A combinator is something that defines the </a:t>
            </a:r>
            <a:r>
              <a:rPr lang="en-IN" sz="1800" dirty="0">
                <a:solidFill>
                  <a:srgbClr val="FF0000"/>
                </a:solidFill>
              </a:rPr>
              <a:t>relationship between two or more selectors</a:t>
            </a:r>
            <a:r>
              <a:rPr lang="en-IN" sz="18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/>
              <a:t>There are four different combinators in CSS: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800" dirty="0"/>
              <a:t>Descendant combinator (space)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800" dirty="0"/>
              <a:t>Child combinator (&gt;)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800" dirty="0"/>
              <a:t>Next sibling combinator (+)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800" dirty="0"/>
              <a:t>Subsequent-sibling combinator (~)</a:t>
            </a:r>
          </a:p>
          <a:p>
            <a:endParaRPr lang="en-IN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806C58-4F08-7BB8-EE85-824034BB5337}"/>
              </a:ext>
            </a:extLst>
          </p:cNvPr>
          <p:cNvSpPr txBox="1">
            <a:spLocks/>
          </p:cNvSpPr>
          <p:nvPr/>
        </p:nvSpPr>
        <p:spPr>
          <a:xfrm>
            <a:off x="102438" y="0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CSS Combinators - Examples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6FFC5-286B-86EF-67F3-D102FCFC8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66" y="2300438"/>
            <a:ext cx="8678744" cy="466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8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C7B08-475D-273F-68E5-C0D148AC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D4D0E-CF02-9543-938B-292D2C407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15" y="591493"/>
            <a:ext cx="8419096" cy="149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Child Combinator (&gt;)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IN" sz="2000" dirty="0"/>
              <a:t>Selects all elements that are direct children of a specified element.</a:t>
            </a:r>
          </a:p>
          <a:p>
            <a:r>
              <a:rPr lang="en-IN" sz="2000" dirty="0"/>
              <a:t>The following example selects all &lt;p&gt; elements that are direct children of &lt;div&gt;:</a:t>
            </a:r>
          </a:p>
          <a:p>
            <a:endParaRPr lang="en-IN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06564F-3F7D-A071-13B6-54F511BDD7EA}"/>
              </a:ext>
            </a:extLst>
          </p:cNvPr>
          <p:cNvSpPr txBox="1">
            <a:spLocks/>
          </p:cNvSpPr>
          <p:nvPr/>
        </p:nvSpPr>
        <p:spPr>
          <a:xfrm>
            <a:off x="102438" y="0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CSS Combinators - Examples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C30CE8-539E-1AB7-03BD-C3C76BDE0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8" y="2188011"/>
            <a:ext cx="8964560" cy="461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57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32AEB-6354-7859-4FD0-03DA2817F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D6D73-27A4-E2FD-EBA1-5891FCEFA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15" y="591493"/>
            <a:ext cx="8419096" cy="1493914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Next Sibling Combinator (+)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used to select an element that is directly after a specific element.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Sibling elements must have the same parent element.</a:t>
            </a:r>
          </a:p>
          <a:p>
            <a:r>
              <a:rPr lang="en-IN" dirty="0"/>
              <a:t>The following example selects the first &lt;p&gt; element that immediately follows a &lt;div&gt;, and share the same parent:</a:t>
            </a:r>
          </a:p>
          <a:p>
            <a:endParaRPr lang="en-IN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A4E533B-3BDF-E51E-7E9A-6348A6BF3F8A}"/>
              </a:ext>
            </a:extLst>
          </p:cNvPr>
          <p:cNvSpPr txBox="1">
            <a:spLocks/>
          </p:cNvSpPr>
          <p:nvPr/>
        </p:nvSpPr>
        <p:spPr>
          <a:xfrm>
            <a:off x="102438" y="0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CSS Combinators - Examples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7F962E-F573-0B11-6A10-1904213D1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15" y="2280191"/>
            <a:ext cx="8948485" cy="421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27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970A6-F16E-AAD9-D94D-0AC6A180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2474A-1CE4-5589-C401-84B41459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15" y="591493"/>
            <a:ext cx="8419096" cy="14939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Subsequent-sibling Combinator (~)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Selects all elements that are next siblings of a specified element.</a:t>
            </a:r>
          </a:p>
          <a:p>
            <a:r>
              <a:rPr lang="en-IN" dirty="0"/>
              <a:t>The following example selects all &lt;p&gt; elements that are next siblings of &lt;div&gt;, and share the same parent: 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A474ED-46F4-3A82-C550-177639263211}"/>
              </a:ext>
            </a:extLst>
          </p:cNvPr>
          <p:cNvSpPr txBox="1">
            <a:spLocks/>
          </p:cNvSpPr>
          <p:nvPr/>
        </p:nvSpPr>
        <p:spPr>
          <a:xfrm>
            <a:off x="102438" y="0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CSS Combinators - Examples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2BF846-E062-B574-3A9B-1FFD2952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8" y="2316163"/>
            <a:ext cx="9041562" cy="351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2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46A207-9A0E-99D1-86A6-8848E3A928B6}"/>
              </a:ext>
            </a:extLst>
          </p:cNvPr>
          <p:cNvSpPr txBox="1"/>
          <p:nvPr/>
        </p:nvSpPr>
        <p:spPr>
          <a:xfrm>
            <a:off x="433137" y="671769"/>
            <a:ext cx="75847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Interactive pseudo-classes apply styles based on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user interaction</a:t>
            </a:r>
            <a:r>
              <a:rPr lang="en-IN" b="0" i="0" dirty="0">
                <a:solidFill>
                  <a:srgbClr val="000000"/>
                </a:solidFill>
                <a:effectLst/>
              </a:rPr>
              <a:t>: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DC143C"/>
                </a:solidFill>
                <a:effectLst/>
              </a:rPr>
              <a:t>:hover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- When mouse is over an element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DC143C"/>
                </a:solidFill>
                <a:effectLst/>
              </a:rPr>
              <a:t>:focus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- When an element has focus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DC143C"/>
                </a:solidFill>
                <a:effectLst/>
              </a:rPr>
              <a:t>:active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- When an element is being activated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DC143C"/>
                </a:solidFill>
                <a:effectLst/>
              </a:rPr>
              <a:t>:link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- Unvisited links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DC143C"/>
                </a:solidFill>
                <a:effectLst/>
              </a:rPr>
              <a:t>:visited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- Visited links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A94408-5FCB-EBF6-E1A6-C136B21B9992}"/>
              </a:ext>
            </a:extLst>
          </p:cNvPr>
          <p:cNvSpPr txBox="1">
            <a:spLocks/>
          </p:cNvSpPr>
          <p:nvPr/>
        </p:nvSpPr>
        <p:spPr>
          <a:xfrm>
            <a:off x="121687" y="182880"/>
            <a:ext cx="5295702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solidFill>
                  <a:srgbClr val="0000FF"/>
                </a:solidFill>
              </a:rPr>
              <a:t>CSS Interactive Pseudo-classes </a:t>
            </a:r>
            <a:r>
              <a:rPr lang="en-US" sz="2400" dirty="0">
                <a:solidFill>
                  <a:srgbClr val="0000FF"/>
                </a:solidFill>
              </a:rPr>
              <a:t> - Examples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76F835-444B-12E7-F57B-67064F481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4" y="2937558"/>
            <a:ext cx="8835992" cy="36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84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5C2AAB-81DF-CB3A-A2FD-5A290BB147EB}"/>
              </a:ext>
            </a:extLst>
          </p:cNvPr>
          <p:cNvSpPr txBox="1"/>
          <p:nvPr/>
        </p:nvSpPr>
        <p:spPr>
          <a:xfrm>
            <a:off x="121688" y="671769"/>
            <a:ext cx="82939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Structural pseudo-classes</a:t>
            </a:r>
            <a:r>
              <a:rPr lang="en-IN" dirty="0"/>
              <a:t> because they select elements based on the </a:t>
            </a:r>
            <a:r>
              <a:rPr lang="en-IN" b="1" dirty="0"/>
              <a:t>structure of the HTML document (DOM tree)</a:t>
            </a:r>
            <a:r>
              <a:rPr lang="en-IN" dirty="0"/>
              <a:t>, specifically the relationship between a parent and its children.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44BEF2-FAFC-4945-9133-87F83165D834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Structural Pseudo-class Elements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D6722D-AA85-62EA-D8B8-F8DEC2A04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8" y="2084577"/>
            <a:ext cx="8875523" cy="45905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8A36EC-D7A7-5BB3-5903-57064AC84904}"/>
              </a:ext>
            </a:extLst>
          </p:cNvPr>
          <p:cNvSpPr txBox="1"/>
          <p:nvPr/>
        </p:nvSpPr>
        <p:spPr>
          <a:xfrm>
            <a:off x="3296653" y="1378173"/>
            <a:ext cx="53660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IN" sz="1800" b="0" i="0" dirty="0">
                <a:solidFill>
                  <a:srgbClr val="C00000"/>
                </a:solidFill>
                <a:effectLst/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:first-child</a:t>
            </a:r>
            <a:r>
              <a:rPr lang="en-IN" sz="1800" b="0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 pseudo-class matches a specific element that is the first child of another element.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931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FD83-87E9-95EB-2CCC-3B64B973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79FB719-89A2-1139-9A6B-9139B8D30D3A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Structural Pseudo-class Elements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526E3-717A-2EA6-42C7-0DF3A7DFF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71" y="1535322"/>
            <a:ext cx="6411874" cy="5322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0A0A83-B746-6050-DDB7-617C5ED19EA0}"/>
              </a:ext>
            </a:extLst>
          </p:cNvPr>
          <p:cNvSpPr txBox="1"/>
          <p:nvPr/>
        </p:nvSpPr>
        <p:spPr>
          <a:xfrm>
            <a:off x="814707" y="834685"/>
            <a:ext cx="4103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ourier New" panose="02070309020205020404" pitchFamily="49" charset="0"/>
              </a:rPr>
              <a:t>:last-child</a:t>
            </a:r>
            <a:endParaRPr lang="en-IN" b="1" dirty="0"/>
          </a:p>
          <a:p>
            <a:pPr>
              <a:buNone/>
            </a:pPr>
            <a:r>
              <a:rPr lang="en-IN" dirty="0"/>
              <a:t>Selects the </a:t>
            </a:r>
            <a:r>
              <a:rPr lang="en-IN" b="1" dirty="0"/>
              <a:t>last child</a:t>
            </a:r>
            <a:r>
              <a:rPr lang="en-IN" dirty="0"/>
              <a:t> of its parent.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80C0E-62CF-A1A8-5D4C-C29B4BE337FA}"/>
              </a:ext>
            </a:extLst>
          </p:cNvPr>
          <p:cNvSpPr txBox="1"/>
          <p:nvPr/>
        </p:nvSpPr>
        <p:spPr>
          <a:xfrm>
            <a:off x="4409742" y="780380"/>
            <a:ext cx="4008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ourier New" panose="02070309020205020404" pitchFamily="49" charset="0"/>
              </a:rPr>
              <a:t>:nth-child(n)</a:t>
            </a:r>
            <a:endParaRPr lang="en-IN" b="1" dirty="0"/>
          </a:p>
          <a:p>
            <a:pPr>
              <a:buNone/>
            </a:pPr>
            <a:r>
              <a:rPr lang="en-IN" dirty="0"/>
              <a:t>Selects the </a:t>
            </a:r>
            <a:r>
              <a:rPr lang="en-IN" b="1" dirty="0"/>
              <a:t>nth child</a:t>
            </a:r>
            <a:r>
              <a:rPr lang="en-IN" dirty="0"/>
              <a:t> of the parent</a:t>
            </a:r>
          </a:p>
        </p:txBody>
      </p:sp>
    </p:spTree>
    <p:extLst>
      <p:ext uri="{BB962C8B-B14F-4D97-AF65-F5344CB8AC3E}">
        <p14:creationId xmlns:p14="http://schemas.microsoft.com/office/powerpoint/2010/main" val="1565053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C6F07F-90FB-EB26-E4DF-F33555DE2A32}"/>
              </a:ext>
            </a:extLst>
          </p:cNvPr>
          <p:cNvSpPr txBox="1"/>
          <p:nvPr/>
        </p:nvSpPr>
        <p:spPr>
          <a:xfrm>
            <a:off x="351321" y="909935"/>
            <a:ext cx="8224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Pseudo-elements for text, allow you to style specific parts of text content, such as the first line or first letter.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A1D42A-3EED-263E-DAB9-65B633A43EF6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Structural Pseudo Elements</a:t>
            </a:r>
            <a:endParaRPr lang="en-IN" sz="2400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E81FC-52DB-4D0E-4525-F8F9BCE973E8}"/>
              </a:ext>
            </a:extLst>
          </p:cNvPr>
          <p:cNvSpPr txBox="1"/>
          <p:nvPr/>
        </p:nvSpPr>
        <p:spPr>
          <a:xfrm>
            <a:off x="3797166" y="13275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::first-line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pseudo-element is used to add a special style to the first line of a text.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105A62-08DC-016B-77BE-8B4329299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8220"/>
            <a:ext cx="91440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3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016DE7-65CE-5C06-0BE6-A85D2E701C28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Structural Pseudo Elements</a:t>
            </a:r>
            <a:endParaRPr lang="en-IN" sz="2400" dirty="0">
              <a:solidFill>
                <a:srgbClr val="0000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7E7217-6B15-1545-DFBE-7877CE977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165"/>
            <a:ext cx="9144000" cy="393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04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779B40-8FDB-8DF4-686C-AA3F465D28B2}"/>
              </a:ext>
            </a:extLst>
          </p:cNvPr>
          <p:cNvSpPr txBox="1"/>
          <p:nvPr/>
        </p:nvSpPr>
        <p:spPr>
          <a:xfrm>
            <a:off x="611205" y="1083190"/>
            <a:ext cx="7579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Pseudo-elements for content allow you to insert content before or after elements, style list markers, and more.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E8A5A-2B86-CFE9-AE94-FED5CB776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5588"/>
            <a:ext cx="9144000" cy="377361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AD1A25B-EE9D-F942-C9B2-CCBE1BF376EF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4450312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Structural Pseudo Elements - Content</a:t>
            </a:r>
            <a:endParaRPr lang="en-IN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439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478D5C-8D4B-0EB2-C5D9-61C98F47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7824"/>
            <a:ext cx="9066998" cy="331046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AC6D004-0C79-13A4-C214-C03A08AAEAE5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4450312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Structural Pseudo Elements - Content</a:t>
            </a:r>
            <a:endParaRPr lang="en-IN" sz="2400" dirty="0">
              <a:solidFill>
                <a:srgbClr val="0000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183AB-E5C2-D639-DF83-88D6ACE05793}"/>
              </a:ext>
            </a:extLst>
          </p:cNvPr>
          <p:cNvSpPr txBox="1"/>
          <p:nvPr/>
        </p:nvSpPr>
        <p:spPr>
          <a:xfrm>
            <a:off x="668957" y="892574"/>
            <a:ext cx="7579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Pseudo-elements for content allow you to insert content before or after elements, style list markers, and more.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183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1F41E8F-16D6-4332-9421-AB8351B9C5C1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4450312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Structural Pseudo Elements - Content</a:t>
            </a:r>
            <a:endParaRPr lang="en-IN" sz="2400" dirty="0">
              <a:solidFill>
                <a:srgbClr val="0000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AE7B3-F7CF-A61A-E559-2EDC19427AE7}"/>
              </a:ext>
            </a:extLst>
          </p:cNvPr>
          <p:cNvSpPr txBox="1"/>
          <p:nvPr/>
        </p:nvSpPr>
        <p:spPr>
          <a:xfrm>
            <a:off x="380198" y="76930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IN" sz="1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::marker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pseudo-element is used to style the list item markers.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1A0012-7783-60F5-5913-2CAD43960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82" y="1513166"/>
            <a:ext cx="6987282" cy="525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83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129B3E-0DF7-BA7A-07DF-8C336DF86AD3}"/>
              </a:ext>
            </a:extLst>
          </p:cNvPr>
          <p:cNvSpPr txBox="1"/>
          <p:nvPr/>
        </p:nvSpPr>
        <p:spPr>
          <a:xfrm>
            <a:off x="293300" y="1044165"/>
            <a:ext cx="82554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CSS attribute selectors are used to select and style </a:t>
            </a:r>
            <a:r>
              <a:rPr lang="en-IN" dirty="0">
                <a:solidFill>
                  <a:srgbClr val="FF0000"/>
                </a:solidFill>
              </a:rPr>
              <a:t>HTML elements with a specific attribute or attribute value, or both.</a:t>
            </a:r>
          </a:p>
          <a:p>
            <a:endParaRPr lang="en-IN" dirty="0"/>
          </a:p>
          <a:p>
            <a:r>
              <a:rPr lang="en-IN" dirty="0"/>
              <a:t>Attribute selectors are enclosed in square brackets []. </a:t>
            </a:r>
          </a:p>
          <a:p>
            <a:endParaRPr lang="en-IN" dirty="0"/>
          </a:p>
          <a:p>
            <a:r>
              <a:rPr lang="en-IN" dirty="0"/>
              <a:t>CSS has the following attribute selectors:</a:t>
            </a:r>
          </a:p>
          <a:p>
            <a:endParaRPr lang="en-IN" dirty="0"/>
          </a:p>
          <a:p>
            <a:r>
              <a:rPr lang="en-IN" dirty="0"/>
              <a:t>[attribute] - </a:t>
            </a:r>
            <a:r>
              <a:rPr lang="en-IN" dirty="0">
                <a:solidFill>
                  <a:srgbClr val="FF0000"/>
                </a:solidFill>
              </a:rPr>
              <a:t>Select elements with the specified attribute</a:t>
            </a:r>
          </a:p>
          <a:p>
            <a:r>
              <a:rPr lang="en-IN" dirty="0"/>
              <a:t>[attribute="value"] - Select elements with a specific attribute and an exact value</a:t>
            </a:r>
          </a:p>
          <a:p>
            <a:r>
              <a:rPr lang="en-IN" dirty="0"/>
              <a:t>[attribute~="value"] - Select elements with an attribute value containing a specific word</a:t>
            </a:r>
          </a:p>
          <a:p>
            <a:r>
              <a:rPr lang="en-IN" dirty="0"/>
              <a:t>[attribute^="value"] - Select elements whose attribute value starts with a specific value</a:t>
            </a:r>
          </a:p>
          <a:p>
            <a:r>
              <a:rPr lang="en-IN" dirty="0"/>
              <a:t>[attribute$="value"] - Select elements whose attribute value ends with a specific value</a:t>
            </a:r>
          </a:p>
          <a:p>
            <a:r>
              <a:rPr lang="en-IN" dirty="0"/>
              <a:t>[attribute*="value"] - Select elements whose attribute value contains a specific value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53545F-C041-4757-E59D-F202B6124B69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4450312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CSS Attribute Selector</a:t>
            </a:r>
            <a:endParaRPr lang="en-IN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188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129B3E-0DF7-BA7A-07DF-8C336DF86AD3}"/>
              </a:ext>
            </a:extLst>
          </p:cNvPr>
          <p:cNvSpPr txBox="1"/>
          <p:nvPr/>
        </p:nvSpPr>
        <p:spPr>
          <a:xfrm>
            <a:off x="267420" y="980904"/>
            <a:ext cx="381287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&lt;style&gt; 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1. Attribute Exists */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input[required] {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border: 2px solid blue;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2. Exact Value */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input[type="password"] {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background-</a:t>
            </a:r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lightyellow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3. Starts With */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a[</a:t>
            </a:r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href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^="https"] {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green;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4. Ends With */</a:t>
            </a:r>
          </a:p>
          <a:p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$=".</a:t>
            </a:r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png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"] {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border: 3px solid red;</a:t>
            </a:r>
          </a:p>
          <a:p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53545F-C041-4757-E59D-F202B6124B69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4450312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CSS Attribute Selector - Example</a:t>
            </a:r>
            <a:endParaRPr lang="en-IN" sz="2400" dirty="0">
              <a:solidFill>
                <a:srgbClr val="0000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4363A1-3DAF-10E1-6906-10A588045B89}"/>
              </a:ext>
            </a:extLst>
          </p:cNvPr>
          <p:cNvSpPr txBox="1"/>
          <p:nvPr/>
        </p:nvSpPr>
        <p:spPr>
          <a:xfrm>
            <a:off x="3838755" y="1291455"/>
            <a:ext cx="4917055" cy="439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&lt;input type="text" required placeholder="Name"&gt;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&lt;input type=“password" placeholder="City"&gt;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&lt;a </a:t>
            </a:r>
            <a:r>
              <a:rPr lang="en-IN" sz="1800" kern="100" dirty="0" err="1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href</a:t>
            </a:r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="https://google.com"&gt;Google&lt;/a&gt;&lt;</a:t>
            </a:r>
            <a:r>
              <a:rPr lang="en-IN" sz="1800" kern="100" dirty="0" err="1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</a:t>
            </a:r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&lt;a </a:t>
            </a:r>
            <a:r>
              <a:rPr lang="en-IN" sz="1800" kern="100" dirty="0" err="1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href</a:t>
            </a:r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="http://example.com"&gt;Example&lt;/a&gt;&lt;</a:t>
            </a:r>
            <a:r>
              <a:rPr lang="en-IN" sz="1800" kern="100" dirty="0" err="1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</a:t>
            </a:r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&lt;a </a:t>
            </a:r>
            <a:r>
              <a:rPr lang="en-IN" sz="1800" kern="100" dirty="0" err="1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href</a:t>
            </a:r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="https://github.com"&gt;GitHub&lt;/a&gt;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180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="flower.png" width="100" height="100" alt="Flower PNG"&gt;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180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="dog.jpg" width="100" height="100" alt="Dog JPG"&gt;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490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129B3E-0DF7-BA7A-07DF-8C336DF86AD3}"/>
              </a:ext>
            </a:extLst>
          </p:cNvPr>
          <p:cNvSpPr txBox="1"/>
          <p:nvPr/>
        </p:nvSpPr>
        <p:spPr>
          <a:xfrm>
            <a:off x="327805" y="808376"/>
            <a:ext cx="35713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&lt;style&gt; 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5. Contains */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div[class*="card"] {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background-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lightblue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padding: 10px;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margin: 5px;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6. Contains Whole Word */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p[class~="important"] {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red;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font-weight: bold;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7. Hyphen-Separated Value */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p[lang|="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"] {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background-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lightgray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53545F-C041-4757-E59D-F202B6124B69}"/>
              </a:ext>
            </a:extLst>
          </p:cNvPr>
          <p:cNvSpPr txBox="1">
            <a:spLocks/>
          </p:cNvSpPr>
          <p:nvPr/>
        </p:nvSpPr>
        <p:spPr>
          <a:xfrm>
            <a:off x="121688" y="182880"/>
            <a:ext cx="4450312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00FF"/>
                </a:solidFill>
              </a:rPr>
              <a:t>CSS Attribute Selector - Example</a:t>
            </a:r>
            <a:endParaRPr lang="en-IN" sz="2400" dirty="0">
              <a:solidFill>
                <a:srgbClr val="0000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4363A1-3DAF-10E1-6906-10A588045B89}"/>
              </a:ext>
            </a:extLst>
          </p:cNvPr>
          <p:cNvSpPr txBox="1"/>
          <p:nvPr/>
        </p:nvSpPr>
        <p:spPr>
          <a:xfrm>
            <a:off x="3836798" y="808376"/>
            <a:ext cx="481549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&lt;h2&gt;5. Contains *=&lt;/h2&gt;</a:t>
            </a:r>
          </a:p>
          <a:p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&lt;div class="card"&gt;Card&lt;/div&gt;</a:t>
            </a:r>
          </a:p>
          <a:p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&lt;div class="card-large"&gt;Large Card&lt;/div&gt;</a:t>
            </a:r>
          </a:p>
          <a:p>
            <a:r>
              <a:rPr lang="en-IN" sz="1800" kern="1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&lt;div class="box"&gt;Box&lt;/div&gt;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&lt;h2&gt;6. Whole Word ~=&lt;/h2&gt;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class="note important"&gt;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Paragraph 1 (Selected)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&lt;/p&gt;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class="important"&gt;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Paragraph 2 (Selected)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&lt;/p&gt;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class="important-note"&gt;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Paragraph 3 (Not Selected)</a:t>
            </a:r>
          </a:p>
          <a:p>
            <a:r>
              <a:rPr lang="en-I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&lt;/p&gt;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&lt;h2&gt;7. Hyphen-Separated |=&lt;/h2&gt;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lang="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"&gt;Hello&lt;/p&gt;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lang="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-US"&gt;Welcome&lt;/p&gt;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lang="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"&gt;Bonjour&lt;/p&gt;</a:t>
            </a:r>
          </a:p>
          <a:p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68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F968EB-0620-A7DA-D02C-72B62468CC50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FF"/>
                </a:solidFill>
              </a:rPr>
              <a:t>CSS Selectors</a:t>
            </a:r>
            <a:endParaRPr lang="en-IN" sz="3600" dirty="0">
              <a:solidFill>
                <a:srgbClr val="0000FF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FAF258-52A6-10A1-6A59-35DE386F2EE1}"/>
              </a:ext>
            </a:extLst>
          </p:cNvPr>
          <p:cNvGraphicFramePr>
            <a:graphicFrameLocks noGrp="1"/>
          </p:cNvGraphicFramePr>
          <p:nvPr/>
        </p:nvGraphicFramePr>
        <p:xfrm>
          <a:off x="654519" y="1196531"/>
          <a:ext cx="7933077" cy="4893636"/>
        </p:xfrm>
        <a:graphic>
          <a:graphicData uri="http://schemas.openxmlformats.org/drawingml/2006/table">
            <a:tbl>
              <a:tblPr/>
              <a:tblGrid>
                <a:gridCol w="2644359">
                  <a:extLst>
                    <a:ext uri="{9D8B030D-6E8A-4147-A177-3AD203B41FA5}">
                      <a16:colId xmlns:a16="http://schemas.microsoft.com/office/drawing/2014/main" val="1273506497"/>
                    </a:ext>
                  </a:extLst>
                </a:gridCol>
                <a:gridCol w="2644359">
                  <a:extLst>
                    <a:ext uri="{9D8B030D-6E8A-4147-A177-3AD203B41FA5}">
                      <a16:colId xmlns:a16="http://schemas.microsoft.com/office/drawing/2014/main" val="1224495555"/>
                    </a:ext>
                  </a:extLst>
                </a:gridCol>
                <a:gridCol w="2644359">
                  <a:extLst>
                    <a:ext uri="{9D8B030D-6E8A-4147-A177-3AD203B41FA5}">
                      <a16:colId xmlns:a16="http://schemas.microsoft.com/office/drawing/2014/main" val="3722596117"/>
                    </a:ext>
                  </a:extLst>
                </a:gridCol>
              </a:tblGrid>
              <a:tr h="260461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0000FF"/>
                          </a:solidFill>
                        </a:rPr>
                        <a:t>Selector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0000FF"/>
                          </a:solidFill>
                        </a:rPr>
                        <a:t>Syntax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0000FF"/>
                          </a:solidFill>
                        </a:rPr>
                        <a:t>Purpose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494902"/>
                  </a:ext>
                </a:extLst>
              </a:tr>
              <a:tr h="250189">
                <a:tc>
                  <a:txBody>
                    <a:bodyPr/>
                    <a:lstStyle/>
                    <a:p>
                      <a:r>
                        <a:rPr lang="en-IN" sz="2000" dirty="0"/>
                        <a:t>Universal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*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All elements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761051"/>
                  </a:ext>
                </a:extLst>
              </a:tr>
              <a:tr h="250189">
                <a:tc>
                  <a:txBody>
                    <a:bodyPr/>
                    <a:lstStyle/>
                    <a:p>
                      <a:r>
                        <a:rPr lang="en-IN" sz="2000" dirty="0"/>
                        <a:t>Element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All &lt;p&gt; elements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496812"/>
                  </a:ext>
                </a:extLst>
              </a:tr>
              <a:tr h="250189">
                <a:tc>
                  <a:txBody>
                    <a:bodyPr/>
                    <a:lstStyle/>
                    <a:p>
                      <a:r>
                        <a:rPr lang="en-IN" sz="2000"/>
                        <a:t>Class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.box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Elements with a class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833066"/>
                  </a:ext>
                </a:extLst>
              </a:tr>
              <a:tr h="250189">
                <a:tc>
                  <a:txBody>
                    <a:bodyPr/>
                    <a:lstStyle/>
                    <a:p>
                      <a:r>
                        <a:rPr lang="en-IN" sz="2000"/>
                        <a:t>ID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#header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Unique element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230543"/>
                  </a:ext>
                </a:extLst>
              </a:tr>
              <a:tr h="250189">
                <a:tc>
                  <a:txBody>
                    <a:bodyPr/>
                    <a:lstStyle/>
                    <a:p>
                      <a:r>
                        <a:rPr lang="en-IN" sz="2000"/>
                        <a:t>Group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h1, h2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Multiple selectors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985161"/>
                  </a:ext>
                </a:extLst>
              </a:tr>
              <a:tr h="250189">
                <a:tc>
                  <a:txBody>
                    <a:bodyPr/>
                    <a:lstStyle/>
                    <a:p>
                      <a:r>
                        <a:rPr lang="en-IN" sz="2000"/>
                        <a:t>Descendant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div p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Nested descendants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517795"/>
                  </a:ext>
                </a:extLst>
              </a:tr>
              <a:tr h="250189">
                <a:tc>
                  <a:txBody>
                    <a:bodyPr/>
                    <a:lstStyle/>
                    <a:p>
                      <a:r>
                        <a:rPr lang="en-IN" sz="2000"/>
                        <a:t>Child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div &gt; p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Direct children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852811"/>
                  </a:ext>
                </a:extLst>
              </a:tr>
              <a:tr h="439088">
                <a:tc>
                  <a:txBody>
                    <a:bodyPr/>
                    <a:lstStyle/>
                    <a:p>
                      <a:r>
                        <a:rPr lang="en-IN" sz="2000"/>
                        <a:t>Attribute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input[type="text"]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Elements with matching attributes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665071"/>
                  </a:ext>
                </a:extLst>
              </a:tr>
              <a:tr h="403222">
                <a:tc>
                  <a:txBody>
                    <a:bodyPr/>
                    <a:lstStyle/>
                    <a:p>
                      <a:r>
                        <a:rPr lang="en-IN" sz="2000"/>
                        <a:t>Pseudo-class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button:hover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Element state or position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115930"/>
                  </a:ext>
                </a:extLst>
              </a:tr>
              <a:tr h="250189">
                <a:tc>
                  <a:txBody>
                    <a:bodyPr/>
                    <a:lstStyle/>
                    <a:p>
                      <a:r>
                        <a:rPr lang="en-IN" sz="2000"/>
                        <a:t>Pseudo-element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p::first-letter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Part of an element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3990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DFE4F0B-3A2B-251E-7F95-F36EC58C1F53}"/>
              </a:ext>
            </a:extLst>
          </p:cNvPr>
          <p:cNvSpPr txBox="1"/>
          <p:nvPr/>
        </p:nvSpPr>
        <p:spPr>
          <a:xfrm>
            <a:off x="2806694" y="273201"/>
            <a:ext cx="46008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CSS selectors are patterns used to target HTML elements so you can apply styles or manipulate them with JavaScript.</a:t>
            </a:r>
          </a:p>
        </p:txBody>
      </p:sp>
    </p:spTree>
    <p:extLst>
      <p:ext uri="{BB962C8B-B14F-4D97-AF65-F5344CB8AC3E}">
        <p14:creationId xmlns:p14="http://schemas.microsoft.com/office/powerpoint/2010/main" val="23047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53F7-EADC-99C6-1D51-3D28F76D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18" y="683940"/>
            <a:ext cx="8151961" cy="2173857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inheritance is about what happens if no value is specified for a property on an element.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If no value is specified for a property, the value can either be inherited from the parent element, or be set to its initial (default) value.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For CSS inheritance, properties are categorized in two types: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inherited properties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non-inherited properties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/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IN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3B7B9A-B460-85DF-A9A4-D316276E7C00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00FF"/>
                </a:solidFill>
              </a:rPr>
              <a:t>CSS Inheritance</a:t>
            </a:r>
            <a:endParaRPr lang="en-IN" sz="2800" dirty="0">
              <a:solidFill>
                <a:srgbClr val="0000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92A7E-D9A9-0FA3-391F-48388EFB0D6F}"/>
              </a:ext>
            </a:extLst>
          </p:cNvPr>
          <p:cNvSpPr txBox="1"/>
          <p:nvPr/>
        </p:nvSpPr>
        <p:spPr>
          <a:xfrm>
            <a:off x="4412412" y="2059177"/>
            <a:ext cx="4580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Properties related to text, such as </a:t>
            </a:r>
            <a:r>
              <a:rPr lang="en-IN" dirty="0" err="1">
                <a:solidFill>
                  <a:srgbClr val="FF0000"/>
                </a:solidFill>
              </a:rPr>
              <a:t>color</a:t>
            </a:r>
            <a:r>
              <a:rPr lang="en-IN" dirty="0">
                <a:solidFill>
                  <a:srgbClr val="FF0000"/>
                </a:solidFill>
              </a:rPr>
              <a:t>, font-family, font-size, line-height, and text-align</a:t>
            </a:r>
            <a:r>
              <a:rPr lang="en-IN" dirty="0"/>
              <a:t>, are typically inherited. This ensures consistent text styling throughout a document.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765749-B7F7-846B-9718-D8AFD8545315}"/>
              </a:ext>
            </a:extLst>
          </p:cNvPr>
          <p:cNvCxnSpPr/>
          <p:nvPr/>
        </p:nvCxnSpPr>
        <p:spPr>
          <a:xfrm>
            <a:off x="2812211" y="2320506"/>
            <a:ext cx="1574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234EDED-B21C-FF31-A859-1CB4A888F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3" y="3376461"/>
            <a:ext cx="8488393" cy="33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27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53F7-EADC-99C6-1D51-3D28F76D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553" y="703646"/>
            <a:ext cx="8647979" cy="1291509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Non-inherited properties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Properties related to the box model or layout, like border, background, margin, padding, width, and height, are typically not inherited.</a:t>
            </a:r>
          </a:p>
          <a:p>
            <a:pPr algn="l"/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IN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3B7B9A-B460-85DF-A9A4-D316276E7C00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00FF"/>
                </a:solidFill>
              </a:rPr>
              <a:t>CSS Inheritance</a:t>
            </a:r>
            <a:endParaRPr lang="en-IN" sz="2800" dirty="0">
              <a:solidFill>
                <a:srgbClr val="0000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9F6378-91E0-1B9E-7135-BF1973260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10" y="2165394"/>
            <a:ext cx="8773064" cy="332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88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3B7B9A-B460-85DF-A9A4-D316276E7C00}"/>
              </a:ext>
            </a:extLst>
          </p:cNvPr>
          <p:cNvSpPr txBox="1">
            <a:spLocks/>
          </p:cNvSpPr>
          <p:nvPr/>
        </p:nvSpPr>
        <p:spPr>
          <a:xfrm>
            <a:off x="102438" y="195051"/>
            <a:ext cx="3606920" cy="488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00FF"/>
                </a:solidFill>
              </a:rPr>
              <a:t>CSS Inheritance</a:t>
            </a:r>
            <a:endParaRPr lang="en-IN" sz="2800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6F745-6246-BDDE-9431-AC6752EA4F63}"/>
              </a:ext>
            </a:extLst>
          </p:cNvPr>
          <p:cNvSpPr txBox="1"/>
          <p:nvPr/>
        </p:nvSpPr>
        <p:spPr>
          <a:xfrm>
            <a:off x="124287" y="683940"/>
            <a:ext cx="88954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</a:t>
            </a:r>
            <a:r>
              <a:rPr lang="en-IN" sz="2000" dirty="0">
                <a:solidFill>
                  <a:srgbClr val="FF0000"/>
                </a:solidFill>
              </a:rPr>
              <a:t>inherit keyword is used to explicitly specify inheritance</a:t>
            </a:r>
            <a:r>
              <a:rPr lang="en-IN" sz="2000" dirty="0"/>
              <a:t>. It works on both inherited and non-inherited properties.</a:t>
            </a:r>
          </a:p>
          <a:p>
            <a:endParaRPr lang="en-IN" sz="2000" dirty="0"/>
          </a:p>
          <a:p>
            <a:r>
              <a:rPr lang="en-IN" sz="2000" dirty="0"/>
              <a:t>In the following example, the &lt;strong&gt; element, inside the &lt;p&gt; element, will have an additional border, since we have used the inherit keyword to explicitly specify that the border value should be inherit.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B4CF88-3780-E76A-D9D3-45494506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80" y="2622932"/>
            <a:ext cx="8557404" cy="412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78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738</TotalTime>
  <Words>1882</Words>
  <Application>Microsoft Office PowerPoint</Application>
  <PresentationFormat>On-screen Show (4:3)</PresentationFormat>
  <Paragraphs>253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Courier New</vt:lpstr>
      <vt:lpstr>Segoe UI</vt:lpstr>
      <vt:lpstr>Wingdings</vt:lpstr>
      <vt:lpstr>Office Theme</vt:lpstr>
      <vt:lpstr>Cascading Style Sheet </vt:lpstr>
      <vt:lpstr>Types of Stylesheets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Cascading Style Sheet</dc:title>
  <dc:creator>B Prabavathy</dc:creator>
  <cp:lastModifiedBy>B Prabavathy</cp:lastModifiedBy>
  <cp:revision>66</cp:revision>
  <dcterms:created xsi:type="dcterms:W3CDTF">2026-06-30T03:05:42Z</dcterms:created>
  <dcterms:modified xsi:type="dcterms:W3CDTF">2026-07-01T04:52:44Z</dcterms:modified>
</cp:coreProperties>
</file>