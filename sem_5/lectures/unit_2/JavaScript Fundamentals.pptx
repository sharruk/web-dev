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09" r:id="rId5"/>
    <p:sldId id="308" r:id="rId6"/>
    <p:sldId id="259" r:id="rId7"/>
    <p:sldId id="260" r:id="rId8"/>
    <p:sldId id="261" r:id="rId9"/>
    <p:sldId id="268" r:id="rId10"/>
    <p:sldId id="269" r:id="rId11"/>
    <p:sldId id="270" r:id="rId12"/>
    <p:sldId id="271" r:id="rId13"/>
    <p:sldId id="272" r:id="rId14"/>
    <p:sldId id="266" r:id="rId15"/>
    <p:sldId id="273" r:id="rId16"/>
    <p:sldId id="274" r:id="rId17"/>
    <p:sldId id="275" r:id="rId18"/>
    <p:sldId id="267" r:id="rId19"/>
    <p:sldId id="276" r:id="rId20"/>
    <p:sldId id="277" r:id="rId21"/>
    <p:sldId id="262" r:id="rId22"/>
    <p:sldId id="263" r:id="rId23"/>
    <p:sldId id="264" r:id="rId24"/>
    <p:sldId id="265" r:id="rId25"/>
    <p:sldId id="299" r:id="rId26"/>
    <p:sldId id="300" r:id="rId27"/>
    <p:sldId id="301" r:id="rId28"/>
    <p:sldId id="302" r:id="rId29"/>
    <p:sldId id="303" r:id="rId30"/>
    <p:sldId id="304" r:id="rId31"/>
    <p:sldId id="305" r:id="rId32"/>
    <p:sldId id="306" r:id="rId33"/>
    <p:sldId id="307" r:id="rId34"/>
    <p:sldId id="280" r:id="rId35"/>
    <p:sldId id="282" r:id="rId36"/>
    <p:sldId id="285" r:id="rId37"/>
    <p:sldId id="283" r:id="rId38"/>
    <p:sldId id="284" r:id="rId39"/>
    <p:sldId id="296" r:id="rId40"/>
    <p:sldId id="297" r:id="rId41"/>
    <p:sldId id="288" r:id="rId42"/>
    <p:sldId id="290" r:id="rId43"/>
    <p:sldId id="291" r:id="rId44"/>
    <p:sldId id="292" r:id="rId45"/>
    <p:sldId id="293" r:id="rId46"/>
    <p:sldId id="286" r:id="rId47"/>
    <p:sldId id="287" r:id="rId48"/>
    <p:sldId id="310" r:id="rId49"/>
    <p:sldId id="311" r:id="rId50"/>
    <p:sldId id="312" r:id="rId51"/>
    <p:sldId id="313" r:id="rId52"/>
    <p:sldId id="314" r:id="rId53"/>
    <p:sldId id="315" r:id="rId54"/>
    <p:sldId id="316" r:id="rId55"/>
    <p:sldId id="317"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4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0AF1AB-1B34-4D3F-B014-177205432827}"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017390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0AF1AB-1B34-4D3F-B014-177205432827}"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3053074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0AF1AB-1B34-4D3F-B014-177205432827}"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1593437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0AF1AB-1B34-4D3F-B014-177205432827}"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616488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0AF1AB-1B34-4D3F-B014-177205432827}" type="datetimeFigureOut">
              <a:rPr lang="en-IN" smtClean="0"/>
              <a:t>15-07-2026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494843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0AF1AB-1B34-4D3F-B014-177205432827}" type="datetimeFigureOut">
              <a:rPr lang="en-IN" smtClean="0"/>
              <a:t>15-07-2026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2759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0AF1AB-1B34-4D3F-B014-177205432827}" type="datetimeFigureOut">
              <a:rPr lang="en-IN" smtClean="0"/>
              <a:t>15-07-2026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5890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AF1AB-1B34-4D3F-B014-177205432827}"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379118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AF1AB-1B34-4D3F-B014-177205432827}"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70826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0AF1AB-1B34-4D3F-B014-177205432827}"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2525732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0AF1AB-1B34-4D3F-B014-177205432827}"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DC5A78-E618-436A-9D92-B470A7BF2623}" type="slidenum">
              <a:rPr lang="en-IN" smtClean="0"/>
              <a:t>‹#›</a:t>
            </a:fld>
            <a:endParaRPr lang="en-IN"/>
          </a:p>
        </p:txBody>
      </p:sp>
    </p:spTree>
    <p:extLst>
      <p:ext uri="{BB962C8B-B14F-4D97-AF65-F5344CB8AC3E}">
        <p14:creationId xmlns:p14="http://schemas.microsoft.com/office/powerpoint/2010/main" val="11425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0AF1AB-1B34-4D3F-B014-177205432827}" type="datetimeFigureOut">
              <a:rPr lang="en-IN" smtClean="0"/>
              <a:t>15-07-2026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C5A78-E618-436A-9D92-B470A7BF2623}" type="slidenum">
              <a:rPr lang="en-IN" smtClean="0"/>
              <a:t>‹#›</a:t>
            </a:fld>
            <a:endParaRPr lang="en-IN"/>
          </a:p>
        </p:txBody>
      </p:sp>
    </p:spTree>
    <p:extLst>
      <p:ext uri="{BB962C8B-B14F-4D97-AF65-F5344CB8AC3E}">
        <p14:creationId xmlns:p14="http://schemas.microsoft.com/office/powerpoint/2010/main" val="4173365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DB292-58D6-CABC-217A-C915372CDE12}"/>
              </a:ext>
            </a:extLst>
          </p:cNvPr>
          <p:cNvSpPr>
            <a:spLocks noGrp="1"/>
          </p:cNvSpPr>
          <p:nvPr>
            <p:ph type="ctrTitle"/>
          </p:nvPr>
        </p:nvSpPr>
        <p:spPr/>
        <p:txBody>
          <a:bodyPr/>
          <a:lstStyle/>
          <a:p>
            <a:r>
              <a:rPr lang="en-IN" dirty="0"/>
              <a:t>JavaScript - Fundamentals</a:t>
            </a:r>
          </a:p>
        </p:txBody>
      </p:sp>
      <p:sp>
        <p:nvSpPr>
          <p:cNvPr id="3" name="Subtitle 2">
            <a:extLst>
              <a:ext uri="{FF2B5EF4-FFF2-40B4-BE49-F238E27FC236}">
                <a16:creationId xmlns:a16="http://schemas.microsoft.com/office/drawing/2014/main" id="{D2BF406E-0914-A297-1CFE-F967082BCEA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5838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4BAEC8-B9E9-2F51-933A-5AD8673106F1}"/>
              </a:ext>
            </a:extLst>
          </p:cNvPr>
          <p:cNvSpPr>
            <a:spLocks noGrp="1"/>
          </p:cNvSpPr>
          <p:nvPr>
            <p:ph idx="1"/>
          </p:nvPr>
        </p:nvSpPr>
        <p:spPr>
          <a:xfrm>
            <a:off x="269054" y="263953"/>
            <a:ext cx="8453706" cy="2407328"/>
          </a:xfrm>
        </p:spPr>
        <p:txBody>
          <a:bodyPr/>
          <a:lstStyle/>
          <a:p>
            <a:r>
              <a:rPr lang="en-IN" sz="3200" dirty="0"/>
              <a:t>What is JavaScript?</a:t>
            </a:r>
          </a:p>
          <a:p>
            <a:pPr lvl="1">
              <a:buFont typeface="Wingdings" panose="05000000000000000000" pitchFamily="2" charset="2"/>
              <a:buChar char="Ø"/>
            </a:pPr>
            <a:r>
              <a:rPr lang="en-IN" sz="2800" dirty="0"/>
              <a:t>JavaScript is the most widely used programming language in the world</a:t>
            </a:r>
          </a:p>
          <a:p>
            <a:pPr lvl="1">
              <a:buFont typeface="Wingdings" panose="05000000000000000000" pitchFamily="2" charset="2"/>
              <a:buChar char="Ø"/>
            </a:pPr>
            <a:r>
              <a:rPr lang="en-IN" sz="2800" dirty="0"/>
              <a:t>Big companies like Netflix, Walmart and PayPal develop internet applications using JavaScript</a:t>
            </a:r>
          </a:p>
          <a:p>
            <a:endParaRPr lang="en-IN" dirty="0"/>
          </a:p>
        </p:txBody>
      </p:sp>
      <p:pic>
        <p:nvPicPr>
          <p:cNvPr id="4" name="Picture 3">
            <a:extLst>
              <a:ext uri="{FF2B5EF4-FFF2-40B4-BE49-F238E27FC236}">
                <a16:creationId xmlns:a16="http://schemas.microsoft.com/office/drawing/2014/main" id="{85827F84-E23B-9C44-5C04-7869CC1BB551}"/>
              </a:ext>
            </a:extLst>
          </p:cNvPr>
          <p:cNvPicPr>
            <a:picLocks noChangeAspect="1"/>
          </p:cNvPicPr>
          <p:nvPr/>
        </p:nvPicPr>
        <p:blipFill>
          <a:blip r:embed="rId2"/>
          <a:stretch>
            <a:fillRect/>
          </a:stretch>
        </p:blipFill>
        <p:spPr>
          <a:xfrm>
            <a:off x="525729" y="2671281"/>
            <a:ext cx="8032643" cy="4034121"/>
          </a:xfrm>
          <a:prstGeom prst="rect">
            <a:avLst/>
          </a:prstGeom>
        </p:spPr>
      </p:pic>
    </p:spTree>
    <p:extLst>
      <p:ext uri="{BB962C8B-B14F-4D97-AF65-F5344CB8AC3E}">
        <p14:creationId xmlns:p14="http://schemas.microsoft.com/office/powerpoint/2010/main" val="2111603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C4301-DEE9-C993-537A-64EDDA2E7235}"/>
              </a:ext>
            </a:extLst>
          </p:cNvPr>
          <p:cNvSpPr>
            <a:spLocks noGrp="1"/>
          </p:cNvSpPr>
          <p:nvPr>
            <p:ph idx="1"/>
          </p:nvPr>
        </p:nvSpPr>
        <p:spPr>
          <a:xfrm>
            <a:off x="339047" y="277402"/>
            <a:ext cx="8558373" cy="6431623"/>
          </a:xfrm>
        </p:spPr>
        <p:txBody>
          <a:bodyPr>
            <a:normAutofit/>
          </a:bodyPr>
          <a:lstStyle/>
          <a:p>
            <a:r>
              <a:rPr lang="en-IN" dirty="0"/>
              <a:t>What can you do with JavaScript?</a:t>
            </a:r>
          </a:p>
          <a:p>
            <a:pPr lvl="1"/>
            <a:r>
              <a:rPr lang="en-IN" dirty="0"/>
              <a:t>For long time, It is used to develop interactive website</a:t>
            </a:r>
          </a:p>
          <a:p>
            <a:pPr lvl="1"/>
            <a:r>
              <a:rPr lang="en-IN" dirty="0"/>
              <a:t>Full blown mobile and web applications are developed using JavaScript</a:t>
            </a:r>
          </a:p>
          <a:p>
            <a:r>
              <a:rPr lang="en-IN" dirty="0"/>
              <a:t>Where does JS code runs?</a:t>
            </a:r>
          </a:p>
          <a:p>
            <a:pPr lvl="1"/>
            <a:r>
              <a:rPr lang="en-IN" dirty="0"/>
              <a:t>JS code originally </a:t>
            </a:r>
            <a:r>
              <a:rPr lang="en-IN" dirty="0">
                <a:solidFill>
                  <a:srgbClr val="FF0000"/>
                </a:solidFill>
              </a:rPr>
              <a:t>designed to run only in Browser</a:t>
            </a:r>
            <a:r>
              <a:rPr lang="en-IN" dirty="0"/>
              <a:t>. In browser, there is JS Engine.</a:t>
            </a:r>
          </a:p>
          <a:p>
            <a:pPr lvl="1"/>
            <a:r>
              <a:rPr lang="en-IN" dirty="0"/>
              <a:t>A </a:t>
            </a:r>
            <a:r>
              <a:rPr lang="en-IN" dirty="0">
                <a:solidFill>
                  <a:srgbClr val="FF0000"/>
                </a:solidFill>
              </a:rPr>
              <a:t>JavaScript engine is a program that reads JavaScript code and executes it</a:t>
            </a:r>
            <a:r>
              <a:rPr lang="en-IN" dirty="0"/>
              <a:t>.</a:t>
            </a:r>
          </a:p>
          <a:p>
            <a:r>
              <a:rPr lang="en-IN" dirty="0"/>
              <a:t>Different browsers have different JavaScript engines:</a:t>
            </a:r>
          </a:p>
          <a:p>
            <a:pPr lvl="1"/>
            <a:r>
              <a:rPr lang="en-IN" b="1" dirty="0"/>
              <a:t>Google Chrome</a:t>
            </a:r>
            <a:r>
              <a:rPr lang="en-IN" dirty="0"/>
              <a:t> → V8 </a:t>
            </a:r>
          </a:p>
          <a:p>
            <a:pPr lvl="1"/>
            <a:r>
              <a:rPr lang="en-IN" b="1" dirty="0"/>
              <a:t>Mozilla Firefox</a:t>
            </a:r>
            <a:r>
              <a:rPr lang="en-IN" dirty="0"/>
              <a:t> → </a:t>
            </a:r>
            <a:r>
              <a:rPr lang="en-IN" dirty="0" err="1"/>
              <a:t>SpiderMonkey</a:t>
            </a:r>
            <a:r>
              <a:rPr lang="en-IN" dirty="0"/>
              <a:t> </a:t>
            </a:r>
          </a:p>
          <a:p>
            <a:pPr lvl="1"/>
            <a:r>
              <a:rPr lang="en-IN" b="1" dirty="0"/>
              <a:t>Safari</a:t>
            </a:r>
            <a:r>
              <a:rPr lang="en-IN" dirty="0"/>
              <a:t> → </a:t>
            </a:r>
            <a:r>
              <a:rPr lang="en-IN" dirty="0" err="1"/>
              <a:t>JavaScriptCore</a:t>
            </a:r>
            <a:r>
              <a:rPr lang="en-IN" dirty="0"/>
              <a:t> </a:t>
            </a:r>
          </a:p>
          <a:p>
            <a:pPr lvl="1"/>
            <a:r>
              <a:rPr lang="en-IN" b="1" dirty="0"/>
              <a:t>Microsoft Edge</a:t>
            </a:r>
            <a:r>
              <a:rPr lang="en-IN" dirty="0"/>
              <a:t> → V8 (modern versions)</a:t>
            </a:r>
          </a:p>
          <a:p>
            <a:endParaRPr lang="en-IN" dirty="0"/>
          </a:p>
        </p:txBody>
      </p:sp>
    </p:spTree>
    <p:extLst>
      <p:ext uri="{BB962C8B-B14F-4D97-AF65-F5344CB8AC3E}">
        <p14:creationId xmlns:p14="http://schemas.microsoft.com/office/powerpoint/2010/main" val="3268383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213EA-193D-8B72-68A4-A864C904F101}"/>
              </a:ext>
            </a:extLst>
          </p:cNvPr>
          <p:cNvSpPr txBox="1"/>
          <p:nvPr/>
        </p:nvSpPr>
        <p:spPr>
          <a:xfrm>
            <a:off x="100584" y="98566"/>
            <a:ext cx="5897880" cy="2800767"/>
          </a:xfrm>
          <a:prstGeom prst="rect">
            <a:avLst/>
          </a:prstGeom>
          <a:noFill/>
        </p:spPr>
        <p:txBody>
          <a:bodyPr wrap="square">
            <a:spAutoFit/>
          </a:bodyPr>
          <a:lstStyle/>
          <a:p>
            <a:r>
              <a:rPr lang="en-IN" sz="2200" dirty="0">
                <a:solidFill>
                  <a:srgbClr val="0000FF"/>
                </a:solidFill>
              </a:rPr>
              <a:t>V8 before Node.js (2008)</a:t>
            </a:r>
          </a:p>
          <a:p>
            <a:r>
              <a:rPr lang="en-IN" sz="2200" dirty="0"/>
              <a:t>Google developed V8 as the JavaScript engine for the Chrome browser.</a:t>
            </a:r>
          </a:p>
          <a:p>
            <a:r>
              <a:rPr lang="en-IN" sz="2200" dirty="0"/>
              <a:t>Its job was simply to:</a:t>
            </a:r>
          </a:p>
          <a:p>
            <a:pPr marL="285750" indent="-285750">
              <a:buFont typeface="Arial" panose="020B0604020202020204" pitchFamily="34" charset="0"/>
              <a:buChar char="•"/>
            </a:pPr>
            <a:r>
              <a:rPr lang="en-IN" sz="2200" dirty="0"/>
              <a:t>Parse JavaScript code.</a:t>
            </a:r>
          </a:p>
          <a:p>
            <a:pPr marL="285750" indent="-285750">
              <a:buFont typeface="Arial" panose="020B0604020202020204" pitchFamily="34" charset="0"/>
              <a:buChar char="•"/>
            </a:pPr>
            <a:r>
              <a:rPr lang="en-IN" sz="2200" dirty="0"/>
              <a:t>Compile it to machine code (JIT compilation).</a:t>
            </a:r>
          </a:p>
          <a:p>
            <a:pPr marL="285750" indent="-285750">
              <a:buFont typeface="Arial" panose="020B0604020202020204" pitchFamily="34" charset="0"/>
              <a:buChar char="•"/>
            </a:pPr>
            <a:r>
              <a:rPr lang="en-IN" sz="2200" dirty="0"/>
              <a:t>Execute the code very quickly.</a:t>
            </a:r>
          </a:p>
          <a:p>
            <a:pPr marL="285750" indent="-285750">
              <a:buFont typeface="Arial" panose="020B0604020202020204" pitchFamily="34" charset="0"/>
              <a:buChar char="•"/>
            </a:pPr>
            <a:r>
              <a:rPr lang="en-IN" sz="2200" dirty="0"/>
              <a:t>Manage memory using garbage collection.</a:t>
            </a:r>
          </a:p>
        </p:txBody>
      </p:sp>
      <p:sp>
        <p:nvSpPr>
          <p:cNvPr id="5" name="TextBox 4">
            <a:extLst>
              <a:ext uri="{FF2B5EF4-FFF2-40B4-BE49-F238E27FC236}">
                <a16:creationId xmlns:a16="http://schemas.microsoft.com/office/drawing/2014/main" id="{F2ED683B-7473-F52F-9A89-4C4DC80D4BB5}"/>
              </a:ext>
            </a:extLst>
          </p:cNvPr>
          <p:cNvSpPr txBox="1"/>
          <p:nvPr/>
        </p:nvSpPr>
        <p:spPr>
          <a:xfrm>
            <a:off x="2633472" y="2854137"/>
            <a:ext cx="6510528" cy="3139321"/>
          </a:xfrm>
          <a:prstGeom prst="rect">
            <a:avLst/>
          </a:prstGeom>
          <a:noFill/>
        </p:spPr>
        <p:txBody>
          <a:bodyPr wrap="square">
            <a:spAutoFit/>
          </a:bodyPr>
          <a:lstStyle/>
          <a:p>
            <a:r>
              <a:rPr lang="en-IN" sz="2200" dirty="0"/>
              <a:t>However, V8 knew nothing about the operating system.</a:t>
            </a:r>
          </a:p>
          <a:p>
            <a:r>
              <a:rPr lang="en-IN" sz="2200" dirty="0">
                <a:solidFill>
                  <a:srgbClr val="0000FF"/>
                </a:solidFill>
              </a:rPr>
              <a:t>It could not:</a:t>
            </a:r>
          </a:p>
          <a:p>
            <a:pPr marL="285750" indent="-285750">
              <a:buFont typeface="Arial" panose="020B0604020202020204" pitchFamily="34" charset="0"/>
              <a:buChar char="•"/>
            </a:pPr>
            <a:r>
              <a:rPr lang="en-IN" sz="2200" dirty="0"/>
              <a:t>Read or write files.</a:t>
            </a:r>
          </a:p>
          <a:p>
            <a:pPr marL="285750" indent="-285750">
              <a:buFont typeface="Arial" panose="020B0604020202020204" pitchFamily="34" charset="0"/>
              <a:buChar char="•"/>
            </a:pPr>
            <a:r>
              <a:rPr lang="en-IN" sz="2200" dirty="0"/>
              <a:t>Open network sockets.</a:t>
            </a:r>
          </a:p>
          <a:p>
            <a:pPr marL="285750" indent="-285750">
              <a:buFont typeface="Arial" panose="020B0604020202020204" pitchFamily="34" charset="0"/>
              <a:buChar char="•"/>
            </a:pPr>
            <a:r>
              <a:rPr lang="en-IN" sz="2200" dirty="0"/>
              <a:t>Create an HTTP server.</a:t>
            </a:r>
          </a:p>
          <a:p>
            <a:pPr marL="285750" indent="-285750">
              <a:buFont typeface="Arial" panose="020B0604020202020204" pitchFamily="34" charset="0"/>
              <a:buChar char="•"/>
            </a:pPr>
            <a:r>
              <a:rPr lang="en-IN" sz="2200" dirty="0"/>
              <a:t>Access databases.</a:t>
            </a:r>
          </a:p>
          <a:p>
            <a:pPr marL="285750" indent="-285750">
              <a:buFont typeface="Arial" panose="020B0604020202020204" pitchFamily="34" charset="0"/>
              <a:buChar char="•"/>
            </a:pPr>
            <a:r>
              <a:rPr lang="en-IN" sz="2200" dirty="0"/>
              <a:t>Execute operating system commands.</a:t>
            </a:r>
          </a:p>
          <a:p>
            <a:pPr marL="285750" indent="-285750">
              <a:buFont typeface="Arial" panose="020B0604020202020204" pitchFamily="34" charset="0"/>
              <a:buChar char="•"/>
            </a:pPr>
            <a:r>
              <a:rPr lang="en-IN" sz="2200" dirty="0"/>
              <a:t>Read directories.</a:t>
            </a:r>
          </a:p>
          <a:p>
            <a:r>
              <a:rPr lang="en-IN" sz="2200" dirty="0"/>
              <a:t>These are not JavaScript language features.</a:t>
            </a:r>
          </a:p>
        </p:txBody>
      </p:sp>
      <p:sp>
        <p:nvSpPr>
          <p:cNvPr id="7" name="TextBox 6">
            <a:extLst>
              <a:ext uri="{FF2B5EF4-FFF2-40B4-BE49-F238E27FC236}">
                <a16:creationId xmlns:a16="http://schemas.microsoft.com/office/drawing/2014/main" id="{8597C549-A41A-D81E-01FE-4D71DBC9AC6F}"/>
              </a:ext>
            </a:extLst>
          </p:cNvPr>
          <p:cNvSpPr txBox="1"/>
          <p:nvPr/>
        </p:nvSpPr>
        <p:spPr>
          <a:xfrm>
            <a:off x="0" y="6051548"/>
            <a:ext cx="9084564" cy="707886"/>
          </a:xfrm>
          <a:prstGeom prst="rect">
            <a:avLst/>
          </a:prstGeom>
          <a:noFill/>
          <a:ln w="28575">
            <a:solidFill>
              <a:schemeClr val="accent2">
                <a:lumMod val="75000"/>
              </a:schemeClr>
            </a:solidFill>
          </a:ln>
        </p:spPr>
        <p:txBody>
          <a:bodyPr wrap="square">
            <a:spAutoFit/>
          </a:bodyPr>
          <a:lstStyle/>
          <a:p>
            <a:r>
              <a:rPr lang="en-IN" sz="2000" dirty="0"/>
              <a:t>Ryan Dahl </a:t>
            </a:r>
            <a:r>
              <a:rPr lang="en-IN" sz="2000" dirty="0">
                <a:solidFill>
                  <a:srgbClr val="0000FF"/>
                </a:solidFill>
              </a:rPr>
              <a:t>embedded the V8 JavaScript engine in 2009,  into a new runtime and added APIs </a:t>
            </a:r>
            <a:r>
              <a:rPr lang="en-IN" sz="2000" dirty="0"/>
              <a:t>and infrastructure that allowed JavaScript to interact with the operating system.</a:t>
            </a:r>
          </a:p>
        </p:txBody>
      </p:sp>
    </p:spTree>
    <p:extLst>
      <p:ext uri="{BB962C8B-B14F-4D97-AF65-F5344CB8AC3E}">
        <p14:creationId xmlns:p14="http://schemas.microsoft.com/office/powerpoint/2010/main" val="3428632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915FF3-80C6-7DB3-8F21-64361C45ECDC}"/>
              </a:ext>
            </a:extLst>
          </p:cNvPr>
          <p:cNvSpPr txBox="1"/>
          <p:nvPr/>
        </p:nvSpPr>
        <p:spPr>
          <a:xfrm>
            <a:off x="612648" y="527227"/>
            <a:ext cx="8421624" cy="461665"/>
          </a:xfrm>
          <a:prstGeom prst="rect">
            <a:avLst/>
          </a:prstGeom>
          <a:noFill/>
        </p:spPr>
        <p:txBody>
          <a:bodyPr wrap="square">
            <a:spAutoFit/>
          </a:bodyPr>
          <a:lstStyle/>
          <a:p>
            <a:r>
              <a:rPr lang="en-US" sz="2400" dirty="0"/>
              <a:t>ECMA stands for European Computer Manufacturers Association.</a:t>
            </a:r>
            <a:endParaRPr lang="en-IN" sz="2400" dirty="0"/>
          </a:p>
        </p:txBody>
      </p:sp>
      <p:sp>
        <p:nvSpPr>
          <p:cNvPr id="7" name="TextBox 6">
            <a:extLst>
              <a:ext uri="{FF2B5EF4-FFF2-40B4-BE49-F238E27FC236}">
                <a16:creationId xmlns:a16="http://schemas.microsoft.com/office/drawing/2014/main" id="{2077AEBE-12E9-5779-B23B-58A5F7EB4EEB}"/>
              </a:ext>
            </a:extLst>
          </p:cNvPr>
          <p:cNvSpPr txBox="1"/>
          <p:nvPr/>
        </p:nvSpPr>
        <p:spPr>
          <a:xfrm>
            <a:off x="704088" y="1305341"/>
            <a:ext cx="7653528" cy="4893647"/>
          </a:xfrm>
          <a:prstGeom prst="rect">
            <a:avLst/>
          </a:prstGeom>
          <a:noFill/>
        </p:spPr>
        <p:txBody>
          <a:bodyPr wrap="square">
            <a:spAutoFit/>
          </a:bodyPr>
          <a:lstStyle/>
          <a:p>
            <a:r>
              <a:rPr lang="en-US" sz="2400" dirty="0">
                <a:solidFill>
                  <a:srgbClr val="0000FF"/>
                </a:solidFill>
              </a:rPr>
              <a:t>Why is ECMA important to JavaScript?</a:t>
            </a:r>
          </a:p>
          <a:p>
            <a:r>
              <a:rPr lang="en-US" sz="2400" dirty="0"/>
              <a:t>JavaScript was originally created by </a:t>
            </a:r>
            <a:r>
              <a:rPr lang="en-US" sz="2400" dirty="0">
                <a:solidFill>
                  <a:srgbClr val="0000FF"/>
                </a:solidFill>
              </a:rPr>
              <a:t>Brendan </a:t>
            </a:r>
            <a:r>
              <a:rPr lang="en-US" sz="2400" dirty="0" err="1">
                <a:solidFill>
                  <a:srgbClr val="0000FF"/>
                </a:solidFill>
              </a:rPr>
              <a:t>Eich</a:t>
            </a:r>
            <a:r>
              <a:rPr lang="en-US" sz="2400" dirty="0">
                <a:solidFill>
                  <a:srgbClr val="0000FF"/>
                </a:solidFill>
              </a:rPr>
              <a:t> </a:t>
            </a:r>
            <a:r>
              <a:rPr lang="en-US" sz="2400" dirty="0"/>
              <a:t>at Netscape in 1995. As JavaScript became popular, </a:t>
            </a:r>
            <a:r>
              <a:rPr lang="en-US" sz="2400" dirty="0">
                <a:solidFill>
                  <a:srgbClr val="0000FF"/>
                </a:solidFill>
              </a:rPr>
              <a:t>there was a need for a standard version so that all browsers would implement the language consistently.</a:t>
            </a:r>
          </a:p>
          <a:p>
            <a:r>
              <a:rPr lang="en-US" sz="2400" dirty="0"/>
              <a:t>In 1996, Netscape submitted JavaScript to ECMA for standardization.</a:t>
            </a:r>
          </a:p>
          <a:p>
            <a:r>
              <a:rPr lang="en-US" sz="2400" dirty="0"/>
              <a:t>In 1997, ECMA published the first standard called ECMAScript (ECMA-262).</a:t>
            </a:r>
          </a:p>
          <a:p>
            <a:r>
              <a:rPr lang="en-US" sz="2400" dirty="0"/>
              <a:t>So,</a:t>
            </a:r>
          </a:p>
          <a:p>
            <a:r>
              <a:rPr lang="en-US" sz="2400" dirty="0">
                <a:solidFill>
                  <a:srgbClr val="0000FF"/>
                </a:solidFill>
                <a:sym typeface="Wingdings" panose="05000000000000000000" pitchFamily="2" charset="2"/>
              </a:rPr>
              <a:t> </a:t>
            </a:r>
            <a:r>
              <a:rPr lang="en-US" sz="2400" dirty="0">
                <a:solidFill>
                  <a:srgbClr val="0000FF"/>
                </a:solidFill>
              </a:rPr>
              <a:t>JavaScript → Programming language used by developers. </a:t>
            </a:r>
          </a:p>
          <a:p>
            <a:r>
              <a:rPr lang="en-US" sz="2400" dirty="0">
                <a:sym typeface="Wingdings" panose="05000000000000000000" pitchFamily="2" charset="2"/>
              </a:rPr>
              <a:t> </a:t>
            </a:r>
            <a:r>
              <a:rPr lang="en-US" sz="2400" dirty="0">
                <a:solidFill>
                  <a:srgbClr val="0000FF"/>
                </a:solidFill>
              </a:rPr>
              <a:t>ECMAScript (ES) → The official specification (standard) that defines how JavaScript should work. </a:t>
            </a:r>
          </a:p>
        </p:txBody>
      </p:sp>
    </p:spTree>
    <p:extLst>
      <p:ext uri="{BB962C8B-B14F-4D97-AF65-F5344CB8AC3E}">
        <p14:creationId xmlns:p14="http://schemas.microsoft.com/office/powerpoint/2010/main" val="2470937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C9B45-A701-473A-9B3F-D8BD80CB5A27}"/>
              </a:ext>
            </a:extLst>
          </p:cNvPr>
          <p:cNvSpPr>
            <a:spLocks noGrp="1"/>
          </p:cNvSpPr>
          <p:nvPr>
            <p:ph type="title"/>
          </p:nvPr>
        </p:nvSpPr>
        <p:spPr>
          <a:xfrm>
            <a:off x="628650" y="365127"/>
            <a:ext cx="7886700" cy="569822"/>
          </a:xfrm>
        </p:spPr>
        <p:txBody>
          <a:bodyPr>
            <a:normAutofit fontScale="90000"/>
          </a:bodyPr>
          <a:lstStyle/>
          <a:p>
            <a:r>
              <a:rPr lang="en-IN" sz="3600" dirty="0">
                <a:solidFill>
                  <a:srgbClr val="0000FF"/>
                </a:solidFill>
              </a:rPr>
              <a:t>Ways in which scripts can be added</a:t>
            </a:r>
          </a:p>
        </p:txBody>
      </p:sp>
      <p:sp>
        <p:nvSpPr>
          <p:cNvPr id="3" name="Content Placeholder 2">
            <a:extLst>
              <a:ext uri="{FF2B5EF4-FFF2-40B4-BE49-F238E27FC236}">
                <a16:creationId xmlns:a16="http://schemas.microsoft.com/office/drawing/2014/main" id="{18103077-8A04-82C5-4FCE-1E887ECDC3F2}"/>
              </a:ext>
            </a:extLst>
          </p:cNvPr>
          <p:cNvSpPr>
            <a:spLocks noGrp="1"/>
          </p:cNvSpPr>
          <p:nvPr>
            <p:ph idx="1"/>
          </p:nvPr>
        </p:nvSpPr>
        <p:spPr>
          <a:xfrm>
            <a:off x="628650" y="1191802"/>
            <a:ext cx="7886700" cy="4985161"/>
          </a:xfrm>
        </p:spPr>
        <p:txBody>
          <a:bodyPr>
            <a:normAutofit fontScale="77500" lnSpcReduction="20000"/>
          </a:bodyPr>
          <a:lstStyle/>
          <a:p>
            <a:pPr marL="0" indent="0">
              <a:buNone/>
            </a:pPr>
            <a:r>
              <a:rPr lang="en-IN" dirty="0">
                <a:solidFill>
                  <a:srgbClr val="FF0000"/>
                </a:solidFill>
              </a:rPr>
              <a:t>Embedded Script - </a:t>
            </a:r>
            <a:r>
              <a:rPr lang="en-IN" dirty="0"/>
              <a:t>Write the JavaScript directly inside a &lt;script&gt; tag.</a:t>
            </a:r>
          </a:p>
          <a:p>
            <a:pPr marL="0" indent="0">
              <a:buNone/>
            </a:pPr>
            <a:endParaRPr lang="en-IN" dirty="0">
              <a:solidFill>
                <a:srgbClr val="FF0000"/>
              </a:solidFill>
            </a:endParaRPr>
          </a:p>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solidFill>
                  <a:srgbClr val="0000FF"/>
                </a:solidFill>
              </a:rPr>
              <a:t>    &lt;script&gt;</a:t>
            </a:r>
          </a:p>
          <a:p>
            <a:pPr marL="0" indent="0">
              <a:buNone/>
            </a:pPr>
            <a:r>
              <a:rPr lang="en-IN" dirty="0">
                <a:solidFill>
                  <a:srgbClr val="0000FF"/>
                </a:solidFill>
              </a:rPr>
              <a:t>        console.log("Hello from JavaScript");</a:t>
            </a:r>
          </a:p>
          <a:p>
            <a:pPr marL="0" indent="0">
              <a:buNone/>
            </a:pPr>
            <a:r>
              <a:rPr lang="en-IN" dirty="0">
                <a:solidFill>
                  <a:srgbClr val="0000FF"/>
                </a:solidFill>
              </a:rPr>
              <a:t>    &lt;/script&gt;</a:t>
            </a:r>
          </a:p>
          <a:p>
            <a:pPr marL="0" indent="0">
              <a:buNone/>
            </a:pPr>
            <a:r>
              <a:rPr lang="en-IN" dirty="0"/>
              <a:t>&lt;/head&gt;</a:t>
            </a:r>
          </a:p>
          <a:p>
            <a:pPr marL="0" indent="0">
              <a:buNone/>
            </a:pPr>
            <a:r>
              <a:rPr lang="en-IN" dirty="0"/>
              <a:t>&lt;body&gt;</a:t>
            </a:r>
          </a:p>
          <a:p>
            <a:pPr marL="0" indent="0">
              <a:buNone/>
            </a:pPr>
            <a:r>
              <a:rPr lang="en-IN" dirty="0"/>
              <a:t>    &lt;h1&gt;My Website&lt;/h1&gt;</a:t>
            </a:r>
          </a:p>
          <a:p>
            <a:pPr marL="0" indent="0">
              <a:buNone/>
            </a:pPr>
            <a:r>
              <a:rPr lang="en-IN" dirty="0"/>
              <a:t>&lt;/body&gt;</a:t>
            </a:r>
          </a:p>
          <a:p>
            <a:pPr marL="0" indent="0">
              <a:buNone/>
            </a:pPr>
            <a:r>
              <a:rPr lang="en-IN" dirty="0"/>
              <a:t>&lt;/html&gt;</a:t>
            </a:r>
          </a:p>
        </p:txBody>
      </p:sp>
      <p:pic>
        <p:nvPicPr>
          <p:cNvPr id="7" name="Picture 6">
            <a:extLst>
              <a:ext uri="{FF2B5EF4-FFF2-40B4-BE49-F238E27FC236}">
                <a16:creationId xmlns:a16="http://schemas.microsoft.com/office/drawing/2014/main" id="{F5ABE03D-7B5B-E96B-228E-B5FA2C9A583F}"/>
              </a:ext>
            </a:extLst>
          </p:cNvPr>
          <p:cNvPicPr>
            <a:picLocks noChangeAspect="1"/>
          </p:cNvPicPr>
          <p:nvPr/>
        </p:nvPicPr>
        <p:blipFill>
          <a:blip r:embed="rId2"/>
          <a:stretch>
            <a:fillRect/>
          </a:stretch>
        </p:blipFill>
        <p:spPr>
          <a:xfrm>
            <a:off x="4275527" y="1857675"/>
            <a:ext cx="3420328" cy="1234846"/>
          </a:xfrm>
          <a:prstGeom prst="rect">
            <a:avLst/>
          </a:prstGeom>
        </p:spPr>
      </p:pic>
    </p:spTree>
    <p:extLst>
      <p:ext uri="{BB962C8B-B14F-4D97-AF65-F5344CB8AC3E}">
        <p14:creationId xmlns:p14="http://schemas.microsoft.com/office/powerpoint/2010/main" val="2486758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9E8D2-AF2F-93CE-F5FD-E770D63A1BDD}"/>
              </a:ext>
            </a:extLst>
          </p:cNvPr>
          <p:cNvSpPr>
            <a:spLocks noGrp="1"/>
          </p:cNvSpPr>
          <p:nvPr>
            <p:ph idx="1"/>
          </p:nvPr>
        </p:nvSpPr>
        <p:spPr>
          <a:xfrm>
            <a:off x="272722" y="290832"/>
            <a:ext cx="8042740" cy="4841323"/>
          </a:xfrm>
        </p:spPr>
        <p:txBody>
          <a:bodyPr>
            <a:normAutofit fontScale="92500" lnSpcReduction="20000"/>
          </a:bodyPr>
          <a:lstStyle/>
          <a:p>
            <a:pPr marL="0" indent="0">
              <a:buNone/>
            </a:pPr>
            <a:r>
              <a:rPr lang="en-IN" b="1" dirty="0">
                <a:solidFill>
                  <a:srgbClr val="0000FF"/>
                </a:solidFill>
              </a:rPr>
              <a:t>External JavaScript (Recommended)</a:t>
            </a:r>
          </a:p>
          <a:p>
            <a:r>
              <a:rPr lang="en-IN" dirty="0">
                <a:solidFill>
                  <a:srgbClr val="FF0000"/>
                </a:solidFill>
              </a:rPr>
              <a:t>Store the JavaScript in a separate .</a:t>
            </a:r>
            <a:r>
              <a:rPr lang="en-IN" dirty="0" err="1">
                <a:solidFill>
                  <a:srgbClr val="FF0000"/>
                </a:solidFill>
              </a:rPr>
              <a:t>js</a:t>
            </a:r>
            <a:r>
              <a:rPr lang="en-IN" dirty="0">
                <a:solidFill>
                  <a:srgbClr val="FF0000"/>
                </a:solidFill>
              </a:rPr>
              <a:t> file.</a:t>
            </a:r>
          </a:p>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solidFill>
                  <a:srgbClr val="0000FF"/>
                </a:solidFill>
              </a:rPr>
              <a:t>    &lt;script </a:t>
            </a:r>
            <a:r>
              <a:rPr lang="en-US" dirty="0" err="1">
                <a:solidFill>
                  <a:srgbClr val="0000FF"/>
                </a:solidFill>
              </a:rPr>
              <a:t>src</a:t>
            </a:r>
            <a:r>
              <a:rPr lang="en-US" dirty="0">
                <a:solidFill>
                  <a:srgbClr val="0000FF"/>
                </a:solidFill>
              </a:rPr>
              <a:t>="app.js"&gt;&lt;/script&gt;</a:t>
            </a:r>
          </a:p>
          <a:p>
            <a:pPr marL="0" indent="0">
              <a:buNone/>
            </a:pPr>
            <a:r>
              <a:rPr lang="en-US" dirty="0"/>
              <a:t>&lt;/head&gt;</a:t>
            </a:r>
          </a:p>
          <a:p>
            <a:pPr marL="0" indent="0">
              <a:buNone/>
            </a:pPr>
            <a:r>
              <a:rPr lang="en-US" dirty="0"/>
              <a:t>&lt;body&gt;</a:t>
            </a:r>
          </a:p>
          <a:p>
            <a:pPr marL="0" indent="0">
              <a:buNone/>
            </a:pPr>
            <a:r>
              <a:rPr lang="en-US" dirty="0"/>
              <a:t>    &lt;h1&gt;My Website&lt;/h1&gt;</a:t>
            </a:r>
          </a:p>
          <a:p>
            <a:pPr marL="0" indent="0">
              <a:buNone/>
            </a:pPr>
            <a:r>
              <a:rPr lang="en-US" dirty="0"/>
              <a:t>&lt;/body&gt;</a:t>
            </a:r>
          </a:p>
          <a:p>
            <a:pPr marL="0" indent="0">
              <a:buNone/>
            </a:pPr>
            <a:r>
              <a:rPr lang="en-US" dirty="0"/>
              <a:t>&lt;/html&gt;</a:t>
            </a:r>
            <a:endParaRPr lang="en-IN" dirty="0"/>
          </a:p>
        </p:txBody>
      </p:sp>
      <p:pic>
        <p:nvPicPr>
          <p:cNvPr id="5" name="Picture 4">
            <a:extLst>
              <a:ext uri="{FF2B5EF4-FFF2-40B4-BE49-F238E27FC236}">
                <a16:creationId xmlns:a16="http://schemas.microsoft.com/office/drawing/2014/main" id="{AFC5B084-B417-0978-1C5A-4E216C6F3AA3}"/>
              </a:ext>
            </a:extLst>
          </p:cNvPr>
          <p:cNvPicPr>
            <a:picLocks noChangeAspect="1"/>
          </p:cNvPicPr>
          <p:nvPr/>
        </p:nvPicPr>
        <p:blipFill>
          <a:blip r:embed="rId2"/>
          <a:stretch>
            <a:fillRect/>
          </a:stretch>
        </p:blipFill>
        <p:spPr>
          <a:xfrm>
            <a:off x="4669345" y="1417141"/>
            <a:ext cx="4201933" cy="1631715"/>
          </a:xfrm>
          <a:prstGeom prst="rect">
            <a:avLst/>
          </a:prstGeom>
        </p:spPr>
      </p:pic>
      <p:sp>
        <p:nvSpPr>
          <p:cNvPr id="7" name="TextBox 6">
            <a:extLst>
              <a:ext uri="{FF2B5EF4-FFF2-40B4-BE49-F238E27FC236}">
                <a16:creationId xmlns:a16="http://schemas.microsoft.com/office/drawing/2014/main" id="{EA266D8F-500F-B180-2422-315F2689B679}"/>
              </a:ext>
            </a:extLst>
          </p:cNvPr>
          <p:cNvSpPr txBox="1"/>
          <p:nvPr/>
        </p:nvSpPr>
        <p:spPr>
          <a:xfrm>
            <a:off x="272722" y="5132155"/>
            <a:ext cx="6061753" cy="843180"/>
          </a:xfrm>
          <a:prstGeom prst="rect">
            <a:avLst/>
          </a:prstGeom>
          <a:noFill/>
        </p:spPr>
        <p:txBody>
          <a:bodyPr wrap="square">
            <a:spAutoFit/>
          </a:bodyPr>
          <a:lstStyle/>
          <a:p>
            <a:pPr defTabSz="914400">
              <a:lnSpc>
                <a:spcPct val="70000"/>
              </a:lnSpc>
              <a:spcBef>
                <a:spcPts val="1000"/>
              </a:spcBef>
            </a:pPr>
            <a:r>
              <a:rPr lang="en-IN" sz="2800" dirty="0">
                <a:solidFill>
                  <a:srgbClr val="FF0000"/>
                </a:solidFill>
              </a:rPr>
              <a:t>app.js</a:t>
            </a:r>
          </a:p>
          <a:p>
            <a:pPr defTabSz="914400">
              <a:lnSpc>
                <a:spcPct val="70000"/>
              </a:lnSpc>
              <a:spcBef>
                <a:spcPts val="1000"/>
              </a:spcBef>
            </a:pPr>
            <a:r>
              <a:rPr lang="en-IN" sz="2800" dirty="0"/>
              <a:t>console.log("Hello from app.js");</a:t>
            </a:r>
          </a:p>
        </p:txBody>
      </p:sp>
    </p:spTree>
    <p:extLst>
      <p:ext uri="{BB962C8B-B14F-4D97-AF65-F5344CB8AC3E}">
        <p14:creationId xmlns:p14="http://schemas.microsoft.com/office/powerpoint/2010/main" val="291027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D0F2F8-5119-0684-FCA7-880D1F512A1B}"/>
              </a:ext>
            </a:extLst>
          </p:cNvPr>
          <p:cNvSpPr>
            <a:spLocks noGrp="1"/>
          </p:cNvSpPr>
          <p:nvPr>
            <p:ph idx="1"/>
          </p:nvPr>
        </p:nvSpPr>
        <p:spPr>
          <a:xfrm>
            <a:off x="628650" y="71919"/>
            <a:ext cx="7886700" cy="6105044"/>
          </a:xfrm>
        </p:spPr>
        <p:txBody>
          <a:bodyPr>
            <a:normAutofit fontScale="92500" lnSpcReduction="20000"/>
          </a:bodyPr>
          <a:lstStyle/>
          <a:p>
            <a:pPr marL="0" indent="0">
              <a:buNone/>
            </a:pPr>
            <a:r>
              <a:rPr lang="en-US" dirty="0">
                <a:solidFill>
                  <a:srgbClr val="FF0000"/>
                </a:solidFill>
              </a:rPr>
              <a:t>Inline JavaScript</a:t>
            </a:r>
          </a:p>
          <a:p>
            <a:r>
              <a:rPr lang="en-US" dirty="0"/>
              <a:t>Write JavaScript directly in an HTML element's attribute.</a:t>
            </a:r>
          </a:p>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    &lt;script </a:t>
            </a:r>
            <a:r>
              <a:rPr lang="en-US" dirty="0" err="1"/>
              <a:t>src</a:t>
            </a:r>
            <a:r>
              <a:rPr lang="en-US" dirty="0"/>
              <a:t>="app.js"&gt;&lt;/script&gt;</a:t>
            </a:r>
          </a:p>
          <a:p>
            <a:pPr marL="0" indent="0">
              <a:buNone/>
            </a:pPr>
            <a:r>
              <a:rPr lang="en-US" dirty="0"/>
              <a:t>&lt;/head&gt;</a:t>
            </a:r>
          </a:p>
          <a:p>
            <a:pPr marL="0" indent="0">
              <a:buNone/>
            </a:pPr>
            <a:r>
              <a:rPr lang="en-US" dirty="0"/>
              <a:t>&lt;body&gt;</a:t>
            </a:r>
          </a:p>
          <a:p>
            <a:pPr marL="0" indent="0">
              <a:buNone/>
            </a:pPr>
            <a:r>
              <a:rPr lang="en-US" dirty="0"/>
              <a:t>    &lt;h1&gt;My Website&lt;/h1&gt;</a:t>
            </a:r>
          </a:p>
          <a:p>
            <a:pPr marL="0" indent="0">
              <a:buNone/>
            </a:pPr>
            <a:r>
              <a:rPr lang="en-US" dirty="0">
                <a:solidFill>
                  <a:srgbClr val="0000FF"/>
                </a:solidFill>
              </a:rPr>
              <a:t>&lt;button onclick="alert('Button clicked!')"&gt;</a:t>
            </a:r>
          </a:p>
          <a:p>
            <a:pPr marL="0" indent="0">
              <a:buNone/>
            </a:pPr>
            <a:r>
              <a:rPr lang="en-US" dirty="0"/>
              <a:t>    Click Me</a:t>
            </a:r>
          </a:p>
          <a:p>
            <a:pPr marL="0" indent="0">
              <a:buNone/>
            </a:pPr>
            <a:r>
              <a:rPr lang="en-US" dirty="0"/>
              <a:t>&lt;/button&gt;</a:t>
            </a:r>
          </a:p>
          <a:p>
            <a:pPr marL="0" indent="0">
              <a:buNone/>
            </a:pPr>
            <a:r>
              <a:rPr lang="en-US" dirty="0"/>
              <a:t>&lt;/body&gt;</a:t>
            </a:r>
          </a:p>
          <a:p>
            <a:pPr marL="0" indent="0">
              <a:buNone/>
            </a:pPr>
            <a:r>
              <a:rPr lang="en-US" dirty="0"/>
              <a:t>&lt;/html&gt;</a:t>
            </a:r>
            <a:endParaRPr lang="en-IN" dirty="0"/>
          </a:p>
        </p:txBody>
      </p:sp>
      <p:pic>
        <p:nvPicPr>
          <p:cNvPr id="5" name="Picture 4">
            <a:extLst>
              <a:ext uri="{FF2B5EF4-FFF2-40B4-BE49-F238E27FC236}">
                <a16:creationId xmlns:a16="http://schemas.microsoft.com/office/drawing/2014/main" id="{9DF2E56C-E11E-E901-DE18-DFAFC7AA7A85}"/>
              </a:ext>
            </a:extLst>
          </p:cNvPr>
          <p:cNvPicPr>
            <a:picLocks noChangeAspect="1"/>
          </p:cNvPicPr>
          <p:nvPr/>
        </p:nvPicPr>
        <p:blipFill>
          <a:blip r:embed="rId2"/>
          <a:stretch>
            <a:fillRect/>
          </a:stretch>
        </p:blipFill>
        <p:spPr>
          <a:xfrm>
            <a:off x="487631" y="5255652"/>
            <a:ext cx="8312577" cy="1530429"/>
          </a:xfrm>
          <a:prstGeom prst="rect">
            <a:avLst/>
          </a:prstGeom>
        </p:spPr>
      </p:pic>
    </p:spTree>
    <p:extLst>
      <p:ext uri="{BB962C8B-B14F-4D97-AF65-F5344CB8AC3E}">
        <p14:creationId xmlns:p14="http://schemas.microsoft.com/office/powerpoint/2010/main" val="179638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595EA3-1244-7AF4-C059-399FC4BA1556}"/>
              </a:ext>
            </a:extLst>
          </p:cNvPr>
          <p:cNvSpPr>
            <a:spLocks noGrp="1"/>
          </p:cNvSpPr>
          <p:nvPr>
            <p:ph idx="1"/>
          </p:nvPr>
        </p:nvSpPr>
        <p:spPr>
          <a:xfrm>
            <a:off x="352604" y="143474"/>
            <a:ext cx="6729682" cy="4351338"/>
          </a:xfrm>
        </p:spPr>
        <p:txBody>
          <a:bodyPr>
            <a:normAutofit fontScale="32500" lnSpcReduction="20000"/>
          </a:bodyPr>
          <a:lstStyle/>
          <a:p>
            <a:pPr marL="0" indent="0">
              <a:buNone/>
            </a:pPr>
            <a:r>
              <a:rPr lang="en-IN" sz="5500" b="1" dirty="0">
                <a:solidFill>
                  <a:srgbClr val="0000FF"/>
                </a:solidFill>
              </a:rPr>
              <a:t>Effect of Embedded Script </a:t>
            </a:r>
          </a:p>
          <a:p>
            <a:r>
              <a:rPr lang="en-IN" sz="5500" b="1" dirty="0">
                <a:solidFill>
                  <a:srgbClr val="0000FF"/>
                </a:solidFill>
              </a:rPr>
              <a:t>Script reads null , as DOM is not rendered</a:t>
            </a:r>
          </a:p>
          <a:p>
            <a:pPr marL="0" indent="0">
              <a:lnSpc>
                <a:spcPct val="120000"/>
              </a:lnSpc>
              <a:spcBef>
                <a:spcPts val="0"/>
              </a:spcBef>
              <a:buNone/>
            </a:pPr>
            <a:r>
              <a:rPr lang="en-IN" sz="6200" dirty="0"/>
              <a:t>&lt;!Doctype HTML&gt;</a:t>
            </a:r>
          </a:p>
          <a:p>
            <a:pPr marL="0" indent="0">
              <a:lnSpc>
                <a:spcPct val="120000"/>
              </a:lnSpc>
              <a:spcBef>
                <a:spcPts val="0"/>
              </a:spcBef>
              <a:buNone/>
            </a:pPr>
            <a:r>
              <a:rPr lang="en-IN" sz="6200" dirty="0"/>
              <a:t>&lt;html&gt;</a:t>
            </a:r>
          </a:p>
          <a:p>
            <a:pPr marL="0" indent="0">
              <a:lnSpc>
                <a:spcPct val="120000"/>
              </a:lnSpc>
              <a:spcBef>
                <a:spcPts val="0"/>
              </a:spcBef>
              <a:buNone/>
            </a:pPr>
            <a:r>
              <a:rPr lang="en-IN" sz="6200" dirty="0"/>
              <a:t>&lt;head&gt;</a:t>
            </a:r>
          </a:p>
          <a:p>
            <a:pPr marL="0" indent="0">
              <a:lnSpc>
                <a:spcPct val="120000"/>
              </a:lnSpc>
              <a:spcBef>
                <a:spcPts val="0"/>
              </a:spcBef>
              <a:buNone/>
            </a:pPr>
            <a:r>
              <a:rPr lang="en-IN" sz="6200" dirty="0">
                <a:solidFill>
                  <a:srgbClr val="FF0000"/>
                </a:solidFill>
              </a:rPr>
              <a:t>&lt;script&gt;</a:t>
            </a:r>
          </a:p>
          <a:p>
            <a:pPr marL="0" indent="0">
              <a:lnSpc>
                <a:spcPct val="120000"/>
              </a:lnSpc>
              <a:spcBef>
                <a:spcPts val="0"/>
              </a:spcBef>
              <a:buNone/>
            </a:pPr>
            <a:r>
              <a:rPr lang="en-IN" sz="6200" dirty="0">
                <a:solidFill>
                  <a:srgbClr val="FF0000"/>
                </a:solidFill>
              </a:rPr>
              <a:t>let k=</a:t>
            </a:r>
            <a:r>
              <a:rPr lang="en-IN" sz="6200" dirty="0" err="1">
                <a:solidFill>
                  <a:srgbClr val="FF0000"/>
                </a:solidFill>
              </a:rPr>
              <a:t>document.getElementById</a:t>
            </a:r>
            <a:r>
              <a:rPr lang="en-IN" sz="6200" dirty="0">
                <a:solidFill>
                  <a:srgbClr val="FF0000"/>
                </a:solidFill>
              </a:rPr>
              <a:t>("h");</a:t>
            </a:r>
          </a:p>
          <a:p>
            <a:pPr marL="0" indent="0">
              <a:lnSpc>
                <a:spcPct val="120000"/>
              </a:lnSpc>
              <a:spcBef>
                <a:spcPts val="0"/>
              </a:spcBef>
              <a:buNone/>
            </a:pPr>
            <a:r>
              <a:rPr lang="en-IN" sz="6200" dirty="0">
                <a:solidFill>
                  <a:srgbClr val="FF0000"/>
                </a:solidFill>
              </a:rPr>
              <a:t>  console.log(</a:t>
            </a:r>
            <a:r>
              <a:rPr lang="en-IN" sz="6200" dirty="0" err="1">
                <a:solidFill>
                  <a:srgbClr val="FF0000"/>
                </a:solidFill>
              </a:rPr>
              <a:t>k.innerText</a:t>
            </a:r>
            <a:r>
              <a:rPr lang="en-IN" sz="6200" dirty="0">
                <a:solidFill>
                  <a:srgbClr val="FF0000"/>
                </a:solidFill>
              </a:rPr>
              <a:t>);</a:t>
            </a:r>
          </a:p>
          <a:p>
            <a:pPr marL="0" indent="0">
              <a:lnSpc>
                <a:spcPct val="120000"/>
              </a:lnSpc>
              <a:spcBef>
                <a:spcPts val="0"/>
              </a:spcBef>
              <a:buNone/>
            </a:pPr>
            <a:r>
              <a:rPr lang="en-IN" sz="6200" dirty="0">
                <a:solidFill>
                  <a:srgbClr val="FF0000"/>
                </a:solidFill>
              </a:rPr>
              <a:t>&lt;/script&gt;</a:t>
            </a:r>
          </a:p>
          <a:p>
            <a:pPr marL="0" indent="0">
              <a:lnSpc>
                <a:spcPct val="120000"/>
              </a:lnSpc>
              <a:spcBef>
                <a:spcPts val="0"/>
              </a:spcBef>
              <a:buNone/>
            </a:pPr>
            <a:r>
              <a:rPr lang="en-IN" sz="6200" dirty="0"/>
              <a:t>&lt;/head&gt;</a:t>
            </a:r>
          </a:p>
          <a:p>
            <a:pPr marL="0" indent="0">
              <a:lnSpc>
                <a:spcPct val="120000"/>
              </a:lnSpc>
              <a:spcBef>
                <a:spcPts val="0"/>
              </a:spcBef>
              <a:buNone/>
            </a:pPr>
            <a:r>
              <a:rPr lang="en-IN" sz="6200" dirty="0"/>
              <a:t>&lt;body&gt;</a:t>
            </a:r>
          </a:p>
          <a:p>
            <a:pPr marL="0" indent="0">
              <a:lnSpc>
                <a:spcPct val="120000"/>
              </a:lnSpc>
              <a:spcBef>
                <a:spcPts val="0"/>
              </a:spcBef>
              <a:buNone/>
            </a:pPr>
            <a:r>
              <a:rPr lang="en-IN" sz="6200" dirty="0"/>
              <a:t> &lt;h1 id="h"&gt; Hello World Guys&lt;/h1&gt;</a:t>
            </a:r>
          </a:p>
          <a:p>
            <a:pPr marL="0" indent="0">
              <a:lnSpc>
                <a:spcPct val="120000"/>
              </a:lnSpc>
              <a:spcBef>
                <a:spcPts val="0"/>
              </a:spcBef>
              <a:buNone/>
            </a:pPr>
            <a:r>
              <a:rPr lang="en-IN" sz="6200" dirty="0"/>
              <a:t>&lt;/body&gt;</a:t>
            </a:r>
          </a:p>
          <a:p>
            <a:pPr marL="0" indent="0">
              <a:lnSpc>
                <a:spcPct val="120000"/>
              </a:lnSpc>
              <a:spcBef>
                <a:spcPts val="0"/>
              </a:spcBef>
              <a:buNone/>
            </a:pPr>
            <a:r>
              <a:rPr lang="en-IN" sz="6200" dirty="0"/>
              <a:t>&lt;/html&gt;</a:t>
            </a:r>
          </a:p>
        </p:txBody>
      </p:sp>
      <p:pic>
        <p:nvPicPr>
          <p:cNvPr id="4" name="Picture 3">
            <a:extLst>
              <a:ext uri="{FF2B5EF4-FFF2-40B4-BE49-F238E27FC236}">
                <a16:creationId xmlns:a16="http://schemas.microsoft.com/office/drawing/2014/main" id="{DAC0342D-4A8B-DF48-9670-85A07A8A5D94}"/>
              </a:ext>
            </a:extLst>
          </p:cNvPr>
          <p:cNvPicPr>
            <a:picLocks noChangeAspect="1"/>
          </p:cNvPicPr>
          <p:nvPr/>
        </p:nvPicPr>
        <p:blipFill>
          <a:blip r:embed="rId2"/>
          <a:stretch>
            <a:fillRect/>
          </a:stretch>
        </p:blipFill>
        <p:spPr>
          <a:xfrm>
            <a:off x="2515889" y="3789943"/>
            <a:ext cx="6087325" cy="2924583"/>
          </a:xfrm>
          <a:prstGeom prst="rect">
            <a:avLst/>
          </a:prstGeom>
        </p:spPr>
      </p:pic>
    </p:spTree>
    <p:extLst>
      <p:ext uri="{BB962C8B-B14F-4D97-AF65-F5344CB8AC3E}">
        <p14:creationId xmlns:p14="http://schemas.microsoft.com/office/powerpoint/2010/main" val="392996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87CCF0-14FF-4327-F5C0-2F56FF0961AE}"/>
              </a:ext>
            </a:extLst>
          </p:cNvPr>
          <p:cNvSpPr>
            <a:spLocks noGrp="1"/>
          </p:cNvSpPr>
          <p:nvPr>
            <p:ph idx="1"/>
          </p:nvPr>
        </p:nvSpPr>
        <p:spPr>
          <a:xfrm>
            <a:off x="82296" y="1655064"/>
            <a:ext cx="7886700" cy="4995144"/>
          </a:xfrm>
        </p:spPr>
        <p:txBody>
          <a:bodyPr>
            <a:normAutofit fontScale="70000" lnSpcReduction="20000"/>
          </a:bodyPr>
          <a:lstStyle/>
          <a:p>
            <a:pPr marL="0" indent="0">
              <a:lnSpc>
                <a:spcPct val="120000"/>
              </a:lnSpc>
              <a:spcBef>
                <a:spcPts val="0"/>
              </a:spcBef>
              <a:buNone/>
            </a:pPr>
            <a:r>
              <a:rPr lang="en-IN" dirty="0"/>
              <a:t>&lt;!Doctype HTML&gt;</a:t>
            </a:r>
          </a:p>
          <a:p>
            <a:pPr marL="0" indent="0">
              <a:lnSpc>
                <a:spcPct val="120000"/>
              </a:lnSpc>
              <a:spcBef>
                <a:spcPts val="0"/>
              </a:spcBef>
              <a:buNone/>
            </a:pPr>
            <a:r>
              <a:rPr lang="en-IN" dirty="0"/>
              <a:t>&lt;html&gt;</a:t>
            </a:r>
          </a:p>
          <a:p>
            <a:pPr marL="0" indent="0">
              <a:lnSpc>
                <a:spcPct val="120000"/>
              </a:lnSpc>
              <a:spcBef>
                <a:spcPts val="0"/>
              </a:spcBef>
              <a:buNone/>
            </a:pPr>
            <a:r>
              <a:rPr lang="en-IN" dirty="0"/>
              <a:t>&lt;head&gt;</a:t>
            </a:r>
          </a:p>
          <a:p>
            <a:pPr marL="0" indent="0">
              <a:lnSpc>
                <a:spcPct val="120000"/>
              </a:lnSpc>
              <a:spcBef>
                <a:spcPts val="0"/>
              </a:spcBef>
              <a:buNone/>
            </a:pPr>
            <a:r>
              <a:rPr lang="en-IN" dirty="0"/>
              <a:t>&lt;script&gt;</a:t>
            </a:r>
          </a:p>
          <a:p>
            <a:pPr marL="0" indent="0">
              <a:lnSpc>
                <a:spcPct val="120000"/>
              </a:lnSpc>
              <a:spcBef>
                <a:spcPts val="0"/>
              </a:spcBef>
              <a:buNone/>
            </a:pPr>
            <a:r>
              <a:rPr lang="en-IN" dirty="0"/>
              <a:t>function fun(){</a:t>
            </a:r>
          </a:p>
          <a:p>
            <a:pPr marL="0" indent="0">
              <a:lnSpc>
                <a:spcPct val="120000"/>
              </a:lnSpc>
              <a:spcBef>
                <a:spcPts val="0"/>
              </a:spcBef>
              <a:buNone/>
            </a:pPr>
            <a:r>
              <a:rPr lang="en-IN" dirty="0"/>
              <a:t>let k=</a:t>
            </a:r>
            <a:r>
              <a:rPr lang="en-IN" dirty="0" err="1"/>
              <a:t>document.getElementById</a:t>
            </a:r>
            <a:r>
              <a:rPr lang="en-IN" dirty="0"/>
              <a:t>("h");</a:t>
            </a:r>
          </a:p>
          <a:p>
            <a:pPr marL="0" indent="0">
              <a:lnSpc>
                <a:spcPct val="120000"/>
              </a:lnSpc>
              <a:spcBef>
                <a:spcPts val="0"/>
              </a:spcBef>
              <a:buNone/>
            </a:pPr>
            <a:r>
              <a:rPr lang="en-IN" dirty="0"/>
              <a:t>  console.log(</a:t>
            </a:r>
            <a:r>
              <a:rPr lang="en-IN" dirty="0" err="1"/>
              <a:t>k.innerText</a:t>
            </a:r>
            <a:r>
              <a:rPr lang="en-IN" dirty="0"/>
              <a:t>);</a:t>
            </a:r>
          </a:p>
          <a:p>
            <a:pPr marL="0" indent="0">
              <a:lnSpc>
                <a:spcPct val="120000"/>
              </a:lnSpc>
              <a:spcBef>
                <a:spcPts val="0"/>
              </a:spcBef>
              <a:buNone/>
            </a:pPr>
            <a:r>
              <a:rPr lang="en-IN" dirty="0"/>
              <a:t>alert("Hi");</a:t>
            </a:r>
          </a:p>
          <a:p>
            <a:pPr marL="0" indent="0">
              <a:lnSpc>
                <a:spcPct val="120000"/>
              </a:lnSpc>
              <a:spcBef>
                <a:spcPts val="0"/>
              </a:spcBef>
              <a:buNone/>
            </a:pPr>
            <a:r>
              <a:rPr lang="en-IN" dirty="0"/>
              <a:t>}</a:t>
            </a:r>
          </a:p>
          <a:p>
            <a:pPr marL="0" indent="0">
              <a:lnSpc>
                <a:spcPct val="120000"/>
              </a:lnSpc>
              <a:spcBef>
                <a:spcPts val="0"/>
              </a:spcBef>
              <a:buNone/>
            </a:pPr>
            <a:r>
              <a:rPr lang="en-IN" dirty="0"/>
              <a:t>&lt;/script&gt;</a:t>
            </a:r>
          </a:p>
          <a:p>
            <a:pPr marL="0" indent="0">
              <a:lnSpc>
                <a:spcPct val="120000"/>
              </a:lnSpc>
              <a:spcBef>
                <a:spcPts val="0"/>
              </a:spcBef>
              <a:buNone/>
            </a:pPr>
            <a:r>
              <a:rPr lang="en-IN" dirty="0"/>
              <a:t>&lt;/head&gt;</a:t>
            </a:r>
          </a:p>
          <a:p>
            <a:pPr marL="0" indent="0">
              <a:lnSpc>
                <a:spcPct val="120000"/>
              </a:lnSpc>
              <a:spcBef>
                <a:spcPts val="0"/>
              </a:spcBef>
              <a:buNone/>
            </a:pPr>
            <a:r>
              <a:rPr lang="en-IN" dirty="0"/>
              <a:t>&lt;body&gt;</a:t>
            </a:r>
          </a:p>
          <a:p>
            <a:pPr marL="0" indent="0">
              <a:lnSpc>
                <a:spcPct val="120000"/>
              </a:lnSpc>
              <a:spcBef>
                <a:spcPts val="0"/>
              </a:spcBef>
              <a:buNone/>
            </a:pPr>
            <a:r>
              <a:rPr lang="en-IN" dirty="0"/>
              <a:t> &lt;h1 id="h" onclick="fun()"&gt; Hello World Guys&lt;/h1&gt;</a:t>
            </a:r>
          </a:p>
          <a:p>
            <a:pPr marL="0" indent="0">
              <a:lnSpc>
                <a:spcPct val="120000"/>
              </a:lnSpc>
              <a:spcBef>
                <a:spcPts val="0"/>
              </a:spcBef>
              <a:buNone/>
            </a:pPr>
            <a:r>
              <a:rPr lang="en-IN" dirty="0"/>
              <a:t>&lt;/body&gt;</a:t>
            </a:r>
          </a:p>
          <a:p>
            <a:pPr marL="0" indent="0">
              <a:lnSpc>
                <a:spcPct val="120000"/>
              </a:lnSpc>
              <a:spcBef>
                <a:spcPts val="0"/>
              </a:spcBef>
              <a:buNone/>
            </a:pPr>
            <a:r>
              <a:rPr lang="en-IN" dirty="0"/>
              <a:t>&lt;/html&gt;</a:t>
            </a:r>
          </a:p>
        </p:txBody>
      </p:sp>
      <p:pic>
        <p:nvPicPr>
          <p:cNvPr id="5" name="Picture 4">
            <a:extLst>
              <a:ext uri="{FF2B5EF4-FFF2-40B4-BE49-F238E27FC236}">
                <a16:creationId xmlns:a16="http://schemas.microsoft.com/office/drawing/2014/main" id="{3DF8CE9C-CD60-1532-B843-B909F819486C}"/>
              </a:ext>
            </a:extLst>
          </p:cNvPr>
          <p:cNvPicPr>
            <a:picLocks noChangeAspect="1"/>
          </p:cNvPicPr>
          <p:nvPr/>
        </p:nvPicPr>
        <p:blipFill>
          <a:blip r:embed="rId2"/>
          <a:stretch>
            <a:fillRect/>
          </a:stretch>
        </p:blipFill>
        <p:spPr>
          <a:xfrm>
            <a:off x="4227805" y="2120324"/>
            <a:ext cx="5300243" cy="2771716"/>
          </a:xfrm>
          <a:prstGeom prst="rect">
            <a:avLst/>
          </a:prstGeom>
        </p:spPr>
      </p:pic>
      <p:sp>
        <p:nvSpPr>
          <p:cNvPr id="4" name="TextBox 3">
            <a:extLst>
              <a:ext uri="{FF2B5EF4-FFF2-40B4-BE49-F238E27FC236}">
                <a16:creationId xmlns:a16="http://schemas.microsoft.com/office/drawing/2014/main" id="{251FC390-B9A0-6EB1-1725-DFA941A3481D}"/>
              </a:ext>
            </a:extLst>
          </p:cNvPr>
          <p:cNvSpPr txBox="1"/>
          <p:nvPr/>
        </p:nvSpPr>
        <p:spPr>
          <a:xfrm>
            <a:off x="178308" y="452938"/>
            <a:ext cx="8682228" cy="1015663"/>
          </a:xfrm>
          <a:prstGeom prst="rect">
            <a:avLst/>
          </a:prstGeom>
          <a:noFill/>
        </p:spPr>
        <p:txBody>
          <a:bodyPr wrap="square">
            <a:spAutoFit/>
          </a:bodyPr>
          <a:lstStyle/>
          <a:p>
            <a:pPr marL="0" indent="0">
              <a:buNone/>
            </a:pPr>
            <a:r>
              <a:rPr lang="en-IN" sz="2000" b="1" dirty="0">
                <a:solidFill>
                  <a:srgbClr val="FF0000"/>
                </a:solidFill>
              </a:rPr>
              <a:t>Effect of Embedded Script </a:t>
            </a:r>
          </a:p>
          <a:p>
            <a:r>
              <a:rPr lang="en-IN" sz="2000" b="1" dirty="0">
                <a:solidFill>
                  <a:srgbClr val="0000FF"/>
                </a:solidFill>
              </a:rPr>
              <a:t>Script reads the value “Hello World Guys” , as script is applied after the DOM is rendered</a:t>
            </a:r>
          </a:p>
        </p:txBody>
      </p:sp>
    </p:spTree>
    <p:extLst>
      <p:ext uri="{BB962C8B-B14F-4D97-AF65-F5344CB8AC3E}">
        <p14:creationId xmlns:p14="http://schemas.microsoft.com/office/powerpoint/2010/main" val="2658778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22C0E-2AD5-00F3-28B6-8F306CFEFD81}"/>
              </a:ext>
            </a:extLst>
          </p:cNvPr>
          <p:cNvSpPr>
            <a:spLocks noGrp="1"/>
          </p:cNvSpPr>
          <p:nvPr>
            <p:ph idx="1"/>
          </p:nvPr>
        </p:nvSpPr>
        <p:spPr>
          <a:xfrm>
            <a:off x="628650" y="1825625"/>
            <a:ext cx="5746271" cy="4351338"/>
          </a:xfrm>
        </p:spPr>
        <p:txBody>
          <a:bodyPr>
            <a:normAutofit/>
          </a:bodyPr>
          <a:lstStyle/>
          <a:p>
            <a:pPr marL="0" indent="0">
              <a:buNone/>
            </a:pPr>
            <a:r>
              <a:rPr lang="en-IN" sz="2400" dirty="0"/>
              <a:t>&lt;!Doctype HTML&gt;</a:t>
            </a:r>
          </a:p>
          <a:p>
            <a:pPr marL="0" indent="0">
              <a:buNone/>
            </a:pPr>
            <a:r>
              <a:rPr lang="en-IN" sz="2400" dirty="0"/>
              <a:t>&lt;html&gt;</a:t>
            </a:r>
          </a:p>
          <a:p>
            <a:pPr marL="0" indent="0">
              <a:buNone/>
            </a:pPr>
            <a:r>
              <a:rPr lang="en-IN" sz="2400" dirty="0"/>
              <a:t>&lt;head&gt;</a:t>
            </a:r>
          </a:p>
          <a:p>
            <a:pPr marL="0" indent="0">
              <a:buNone/>
            </a:pPr>
            <a:r>
              <a:rPr lang="en-IN" sz="2400" dirty="0"/>
              <a:t>&lt;script </a:t>
            </a:r>
            <a:r>
              <a:rPr lang="en-IN" sz="2400" dirty="0" err="1">
                <a:solidFill>
                  <a:srgbClr val="0000FF"/>
                </a:solidFill>
              </a:rPr>
              <a:t>src</a:t>
            </a:r>
            <a:r>
              <a:rPr lang="en-IN" sz="2400" dirty="0">
                <a:solidFill>
                  <a:srgbClr val="0000FF"/>
                </a:solidFill>
              </a:rPr>
              <a:t>="defer.js" defer</a:t>
            </a:r>
            <a:r>
              <a:rPr lang="en-IN" sz="2400" dirty="0"/>
              <a:t>&gt;&lt;/script&gt;</a:t>
            </a:r>
          </a:p>
          <a:p>
            <a:pPr marL="0" indent="0">
              <a:buNone/>
            </a:pPr>
            <a:r>
              <a:rPr lang="en-IN" sz="2400" dirty="0"/>
              <a:t>&lt;/head&gt;</a:t>
            </a:r>
          </a:p>
          <a:p>
            <a:pPr marL="0" indent="0">
              <a:buNone/>
            </a:pPr>
            <a:r>
              <a:rPr lang="en-IN" sz="2400" dirty="0"/>
              <a:t>&lt;body&gt;</a:t>
            </a:r>
          </a:p>
          <a:p>
            <a:pPr marL="0" indent="0">
              <a:buNone/>
            </a:pPr>
            <a:r>
              <a:rPr lang="en-IN" sz="2400" dirty="0"/>
              <a:t> &lt;h1 id="h"&gt; Hello World Guys&lt;/h1&gt;</a:t>
            </a:r>
          </a:p>
          <a:p>
            <a:pPr marL="0" indent="0">
              <a:buNone/>
            </a:pPr>
            <a:r>
              <a:rPr lang="en-IN" sz="2400" dirty="0"/>
              <a:t>&lt;/body&gt;</a:t>
            </a:r>
          </a:p>
          <a:p>
            <a:pPr marL="0" indent="0">
              <a:buNone/>
            </a:pPr>
            <a:r>
              <a:rPr lang="en-IN" sz="2400" dirty="0"/>
              <a:t>&lt;/html&gt;</a:t>
            </a:r>
          </a:p>
        </p:txBody>
      </p:sp>
      <p:sp>
        <p:nvSpPr>
          <p:cNvPr id="5" name="TextBox 4">
            <a:extLst>
              <a:ext uri="{FF2B5EF4-FFF2-40B4-BE49-F238E27FC236}">
                <a16:creationId xmlns:a16="http://schemas.microsoft.com/office/drawing/2014/main" id="{B0A25046-604B-49DB-9D09-582FE8DC4BD2}"/>
              </a:ext>
            </a:extLst>
          </p:cNvPr>
          <p:cNvSpPr txBox="1"/>
          <p:nvPr/>
        </p:nvSpPr>
        <p:spPr>
          <a:xfrm>
            <a:off x="3867545" y="1736173"/>
            <a:ext cx="5111863" cy="1200329"/>
          </a:xfrm>
          <a:prstGeom prst="rect">
            <a:avLst/>
          </a:prstGeom>
          <a:noFill/>
          <a:ln w="22225">
            <a:solidFill>
              <a:srgbClr val="0000FF"/>
            </a:solidFill>
          </a:ln>
        </p:spPr>
        <p:txBody>
          <a:bodyPr wrap="square">
            <a:spAutoFit/>
          </a:bodyPr>
          <a:lstStyle/>
          <a:p>
            <a:r>
              <a:rPr lang="en-IN" sz="2400" dirty="0">
                <a:solidFill>
                  <a:srgbClr val="FF0000"/>
                </a:solidFill>
              </a:rPr>
              <a:t>defer.js</a:t>
            </a:r>
          </a:p>
          <a:p>
            <a:r>
              <a:rPr lang="en-IN" sz="2400" dirty="0"/>
              <a:t>let k=</a:t>
            </a:r>
            <a:r>
              <a:rPr lang="en-IN" sz="2400" dirty="0" err="1"/>
              <a:t>document.getElementById</a:t>
            </a:r>
            <a:r>
              <a:rPr lang="en-IN" sz="2400" dirty="0"/>
              <a:t>("h");</a:t>
            </a:r>
          </a:p>
          <a:p>
            <a:r>
              <a:rPr lang="en-IN" sz="2400" dirty="0"/>
              <a:t>  console.log(</a:t>
            </a:r>
            <a:r>
              <a:rPr lang="en-IN" sz="2400" dirty="0" err="1"/>
              <a:t>k.innerText</a:t>
            </a:r>
            <a:r>
              <a:rPr lang="en-IN" sz="2400" dirty="0"/>
              <a:t>);</a:t>
            </a:r>
          </a:p>
        </p:txBody>
      </p:sp>
      <p:sp>
        <p:nvSpPr>
          <p:cNvPr id="2" name="TextBox 1">
            <a:extLst>
              <a:ext uri="{FF2B5EF4-FFF2-40B4-BE49-F238E27FC236}">
                <a16:creationId xmlns:a16="http://schemas.microsoft.com/office/drawing/2014/main" id="{2E683F83-03DA-932F-A1BB-9AADBA533AED}"/>
              </a:ext>
            </a:extLst>
          </p:cNvPr>
          <p:cNvSpPr txBox="1"/>
          <p:nvPr/>
        </p:nvSpPr>
        <p:spPr>
          <a:xfrm>
            <a:off x="178308" y="452938"/>
            <a:ext cx="8682228" cy="1200329"/>
          </a:xfrm>
          <a:prstGeom prst="rect">
            <a:avLst/>
          </a:prstGeom>
          <a:noFill/>
        </p:spPr>
        <p:txBody>
          <a:bodyPr wrap="square">
            <a:spAutoFit/>
          </a:bodyPr>
          <a:lstStyle/>
          <a:p>
            <a:pPr marL="0" indent="0">
              <a:buNone/>
            </a:pPr>
            <a:r>
              <a:rPr lang="en-IN" sz="2400" b="1" dirty="0">
                <a:solidFill>
                  <a:srgbClr val="FF0000"/>
                </a:solidFill>
              </a:rPr>
              <a:t>Effect of External Script with defer attribute</a:t>
            </a:r>
          </a:p>
          <a:p>
            <a:r>
              <a:rPr lang="en-IN" sz="2400" b="1" dirty="0">
                <a:solidFill>
                  <a:srgbClr val="0000FF"/>
                </a:solidFill>
              </a:rPr>
              <a:t>Script reads the value “Hello World Guys” , as script is applied after the DOM is rendered</a:t>
            </a:r>
          </a:p>
        </p:txBody>
      </p:sp>
    </p:spTree>
    <p:extLst>
      <p:ext uri="{BB962C8B-B14F-4D97-AF65-F5344CB8AC3E}">
        <p14:creationId xmlns:p14="http://schemas.microsoft.com/office/powerpoint/2010/main" val="105296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7C41-89FD-FFC7-0423-276A8C7C25F1}"/>
              </a:ext>
            </a:extLst>
          </p:cNvPr>
          <p:cNvSpPr>
            <a:spLocks noGrp="1"/>
          </p:cNvSpPr>
          <p:nvPr>
            <p:ph type="title"/>
          </p:nvPr>
        </p:nvSpPr>
        <p:spPr>
          <a:xfrm>
            <a:off x="628650" y="36259"/>
            <a:ext cx="7886700" cy="421257"/>
          </a:xfrm>
        </p:spPr>
        <p:txBody>
          <a:bodyPr>
            <a:normAutofit fontScale="90000"/>
          </a:bodyPr>
          <a:lstStyle/>
          <a:p>
            <a:r>
              <a:rPr lang="en-US" sz="2800" dirty="0">
                <a:solidFill>
                  <a:srgbClr val="FF0000"/>
                </a:solidFill>
              </a:rPr>
              <a:t>Async and defer attributes</a:t>
            </a:r>
            <a:endParaRPr lang="en-IN" sz="2800" dirty="0">
              <a:solidFill>
                <a:srgbClr val="FF0000"/>
              </a:solidFill>
            </a:endParaRPr>
          </a:p>
        </p:txBody>
      </p:sp>
      <p:sp>
        <p:nvSpPr>
          <p:cNvPr id="3" name="Content Placeholder 2">
            <a:extLst>
              <a:ext uri="{FF2B5EF4-FFF2-40B4-BE49-F238E27FC236}">
                <a16:creationId xmlns:a16="http://schemas.microsoft.com/office/drawing/2014/main" id="{6B22557B-8181-6249-CAA9-815B39C05053}"/>
              </a:ext>
            </a:extLst>
          </p:cNvPr>
          <p:cNvSpPr>
            <a:spLocks noGrp="1"/>
          </p:cNvSpPr>
          <p:nvPr>
            <p:ph idx="1"/>
          </p:nvPr>
        </p:nvSpPr>
        <p:spPr>
          <a:xfrm>
            <a:off x="628650" y="457515"/>
            <a:ext cx="7886700" cy="6364225"/>
          </a:xfrm>
        </p:spPr>
        <p:txBody>
          <a:bodyPr>
            <a:normAutofit fontScale="32500" lnSpcReduction="20000"/>
          </a:bodyPr>
          <a:lstStyle/>
          <a:p>
            <a:pPr marL="0" indent="0">
              <a:lnSpc>
                <a:spcPct val="120000"/>
              </a:lnSpc>
              <a:spcBef>
                <a:spcPts val="0"/>
              </a:spcBef>
              <a:buNone/>
            </a:pPr>
            <a:r>
              <a:rPr lang="en-US" sz="6000" b="0" i="0" dirty="0">
                <a:effectLst/>
                <a:latin typeface="Roboto" panose="02000000000000000000" pitchFamily="2" charset="0"/>
              </a:rPr>
              <a:t> </a:t>
            </a:r>
            <a:r>
              <a:rPr lang="en-US" sz="6000" b="0" i="0" dirty="0">
                <a:solidFill>
                  <a:srgbClr val="0000FF"/>
                </a:solidFill>
                <a:effectLst/>
                <a:latin typeface="Consolas" panose="020B0609020204030204" pitchFamily="49" charset="0"/>
              </a:rPr>
              <a:t>async</a:t>
            </a:r>
            <a:r>
              <a:rPr lang="en-US" sz="6000" b="0" i="0" dirty="0">
                <a:solidFill>
                  <a:srgbClr val="0000FF"/>
                </a:solidFill>
                <a:effectLst/>
                <a:latin typeface="Roboto" panose="02000000000000000000" pitchFamily="2" charset="0"/>
              </a:rPr>
              <a:t> and </a:t>
            </a:r>
            <a:r>
              <a:rPr lang="en-US" sz="6000" b="0" i="0" dirty="0">
                <a:solidFill>
                  <a:srgbClr val="0000FF"/>
                </a:solidFill>
                <a:effectLst/>
                <a:latin typeface="Consolas" panose="020B0609020204030204" pitchFamily="49" charset="0"/>
              </a:rPr>
              <a:t>defer</a:t>
            </a:r>
            <a:r>
              <a:rPr lang="en-US" sz="6000" b="0" i="0" dirty="0">
                <a:solidFill>
                  <a:srgbClr val="0000FF"/>
                </a:solidFill>
                <a:effectLst/>
                <a:latin typeface="Roboto" panose="02000000000000000000" pitchFamily="2" charset="0"/>
              </a:rPr>
              <a:t> </a:t>
            </a:r>
            <a:r>
              <a:rPr lang="en-US" sz="6000" b="0" i="0" dirty="0">
                <a:effectLst/>
                <a:latin typeface="Roboto" panose="02000000000000000000" pitchFamily="2" charset="0"/>
              </a:rPr>
              <a:t>attributes in JavaScript are used to control how external scripts are loaded and executed in an HTML document.</a:t>
            </a:r>
          </a:p>
          <a:p>
            <a:pPr>
              <a:lnSpc>
                <a:spcPct val="120000"/>
              </a:lnSpc>
              <a:spcBef>
                <a:spcPts val="0"/>
              </a:spcBef>
              <a:buFont typeface="Wingdings" panose="05000000000000000000" pitchFamily="2" charset="2"/>
              <a:buChar char="Ø"/>
            </a:pPr>
            <a:endParaRPr lang="en-US" sz="6000" b="0" i="0" dirty="0">
              <a:effectLst/>
              <a:latin typeface="Roboto" panose="02000000000000000000" pitchFamily="2" charset="0"/>
            </a:endParaRP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The </a:t>
            </a:r>
            <a:r>
              <a:rPr lang="en-US" sz="6000" b="0" i="0" dirty="0">
                <a:effectLst/>
                <a:latin typeface="Consolas" panose="020B0609020204030204" pitchFamily="49" charset="0"/>
              </a:rPr>
              <a:t>defer</a:t>
            </a:r>
            <a:r>
              <a:rPr lang="en-US" sz="6000" b="0" i="0" dirty="0">
                <a:effectLst/>
                <a:latin typeface="Roboto" panose="02000000000000000000" pitchFamily="2" charset="0"/>
              </a:rPr>
              <a:t> attribute also </a:t>
            </a:r>
            <a:r>
              <a:rPr lang="en-US" sz="6000" b="0" i="0" dirty="0">
                <a:solidFill>
                  <a:srgbClr val="0000FF"/>
                </a:solidFill>
                <a:effectLst/>
                <a:latin typeface="Roboto" panose="02000000000000000000" pitchFamily="2" charset="0"/>
              </a:rPr>
              <a:t>downloads the script in parallel with HTML parsing</a:t>
            </a:r>
            <a:r>
              <a:rPr lang="en-US" sz="6000" b="0" i="0" dirty="0">
                <a:effectLst/>
                <a:latin typeface="Roboto" panose="02000000000000000000" pitchFamily="2" charset="0"/>
              </a:rPr>
              <a:t>. </a:t>
            </a: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However, the </a:t>
            </a:r>
            <a:r>
              <a:rPr lang="en-US" sz="6000" b="0" i="0" dirty="0">
                <a:solidFill>
                  <a:srgbClr val="0000FF"/>
                </a:solidFill>
                <a:effectLst/>
                <a:latin typeface="Roboto" panose="02000000000000000000" pitchFamily="2" charset="0"/>
              </a:rPr>
              <a:t>execution of the script is deferred until the entire HTML document is fully parsed</a:t>
            </a:r>
            <a:r>
              <a:rPr lang="en-US" sz="6000" b="0" i="0" dirty="0">
                <a:effectLst/>
                <a:latin typeface="Roboto" panose="02000000000000000000" pitchFamily="2" charset="0"/>
              </a:rPr>
              <a:t>. This ensures that scripts are executed in the order they appear in the document.</a:t>
            </a: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Both attributes improve page performance by allowing scripts to load without blocking HTML parsing, but they differ in their execution behavior.</a:t>
            </a:r>
          </a:p>
          <a:p>
            <a:pPr marL="0" indent="0">
              <a:lnSpc>
                <a:spcPct val="120000"/>
              </a:lnSpc>
              <a:spcBef>
                <a:spcPts val="0"/>
              </a:spcBef>
              <a:buNone/>
            </a:pPr>
            <a:endParaRPr lang="en-US" sz="6000" dirty="0">
              <a:latin typeface="Roboto" panose="02000000000000000000" pitchFamily="2" charset="0"/>
            </a:endParaRP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The </a:t>
            </a:r>
            <a:r>
              <a:rPr lang="en-US" sz="6000" b="0" i="0" dirty="0">
                <a:solidFill>
                  <a:srgbClr val="0000FF"/>
                </a:solidFill>
                <a:effectLst/>
                <a:latin typeface="Consolas" panose="020B0609020204030204" pitchFamily="49" charset="0"/>
              </a:rPr>
              <a:t>async</a:t>
            </a:r>
            <a:r>
              <a:rPr lang="en-US" sz="6000" b="0" i="0" dirty="0">
                <a:solidFill>
                  <a:srgbClr val="0000FF"/>
                </a:solidFill>
                <a:effectLst/>
                <a:latin typeface="Roboto" panose="02000000000000000000" pitchFamily="2" charset="0"/>
              </a:rPr>
              <a:t> attribute allows the script to be downloaded in parallel with HTML parsing</a:t>
            </a:r>
            <a:r>
              <a:rPr lang="en-US" sz="6000" b="0" i="0" dirty="0">
                <a:effectLst/>
                <a:latin typeface="Roboto" panose="02000000000000000000" pitchFamily="2" charset="0"/>
              </a:rPr>
              <a:t>. </a:t>
            </a: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Once the script is downloaded, it is executed immediately, pausing the HTML parsing process. </a:t>
            </a:r>
          </a:p>
          <a:p>
            <a:pPr>
              <a:lnSpc>
                <a:spcPct val="120000"/>
              </a:lnSpc>
              <a:spcBef>
                <a:spcPts val="0"/>
              </a:spcBef>
              <a:buFont typeface="Wingdings" panose="05000000000000000000" pitchFamily="2" charset="2"/>
              <a:buChar char="Ø"/>
            </a:pPr>
            <a:r>
              <a:rPr lang="en-US" sz="6000" b="0" i="0" dirty="0">
                <a:effectLst/>
                <a:latin typeface="Roboto" panose="02000000000000000000" pitchFamily="2" charset="0"/>
              </a:rPr>
              <a:t>This means </a:t>
            </a:r>
            <a:r>
              <a:rPr lang="en-US" sz="6000" b="0" i="0" dirty="0">
                <a:effectLst/>
                <a:latin typeface="Consolas" panose="020B0609020204030204" pitchFamily="49" charset="0"/>
              </a:rPr>
              <a:t>async</a:t>
            </a:r>
            <a:r>
              <a:rPr lang="en-US" sz="6000" b="0" i="0" dirty="0">
                <a:effectLst/>
                <a:latin typeface="Roboto" panose="02000000000000000000" pitchFamily="2" charset="0"/>
              </a:rPr>
              <a:t> scripts do not wait for other scripts or the DOM to finish loading.</a:t>
            </a:r>
            <a:endParaRPr lang="en-IN" dirty="0"/>
          </a:p>
        </p:txBody>
      </p:sp>
    </p:spTree>
    <p:extLst>
      <p:ext uri="{BB962C8B-B14F-4D97-AF65-F5344CB8AC3E}">
        <p14:creationId xmlns:p14="http://schemas.microsoft.com/office/powerpoint/2010/main" val="1386061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472FAE-9EE6-34A9-FD56-6524965CD863}"/>
              </a:ext>
            </a:extLst>
          </p:cNvPr>
          <p:cNvSpPr>
            <a:spLocks noGrp="1"/>
          </p:cNvSpPr>
          <p:nvPr>
            <p:ph idx="1"/>
          </p:nvPr>
        </p:nvSpPr>
        <p:spPr>
          <a:xfrm>
            <a:off x="315468" y="1134489"/>
            <a:ext cx="8513064" cy="5463731"/>
          </a:xfrm>
        </p:spPr>
        <p:txBody>
          <a:bodyPr>
            <a:normAutofit fontScale="77500" lnSpcReduction="20000"/>
          </a:bodyPr>
          <a:lstStyle/>
          <a:p>
            <a:pPr marL="0" indent="0" algn="l">
              <a:lnSpc>
                <a:spcPct val="120000"/>
              </a:lnSpc>
              <a:spcBef>
                <a:spcPts val="0"/>
              </a:spcBef>
              <a:buNone/>
            </a:pPr>
            <a:r>
              <a:rPr lang="en-US" b="1" i="0" dirty="0">
                <a:solidFill>
                  <a:srgbClr val="000000"/>
                </a:solidFill>
                <a:effectLst/>
              </a:rPr>
              <a:t>Key Differences</a:t>
            </a:r>
          </a:p>
          <a:p>
            <a:pPr algn="l">
              <a:lnSpc>
                <a:spcPct val="120000"/>
              </a:lnSpc>
              <a:spcBef>
                <a:spcPts val="0"/>
              </a:spcBef>
              <a:buFont typeface="+mj-lt"/>
              <a:buAutoNum type="arabicPeriod"/>
            </a:pPr>
            <a:r>
              <a:rPr lang="en-US" b="1" i="0" dirty="0">
                <a:solidFill>
                  <a:srgbClr val="000000"/>
                </a:solidFill>
                <a:effectLst/>
              </a:rPr>
              <a:t>Execution Timing</a:t>
            </a:r>
            <a:r>
              <a:rPr lang="en-US" b="0" i="0" dirty="0">
                <a:solidFill>
                  <a:srgbClr val="000000"/>
                </a:solidFill>
                <a:effectLst/>
              </a:rPr>
              <a:t>: </a:t>
            </a:r>
            <a:r>
              <a:rPr lang="en-US" b="0" i="0" dirty="0">
                <a:solidFill>
                  <a:srgbClr val="0000FF"/>
                </a:solidFill>
                <a:effectLst/>
              </a:rPr>
              <a:t>async scripts execute as soon as they are downloaded, </a:t>
            </a:r>
            <a:r>
              <a:rPr lang="en-US" b="0" i="0" dirty="0">
                <a:solidFill>
                  <a:srgbClr val="000000"/>
                </a:solidFill>
                <a:effectLst/>
              </a:rPr>
              <a:t>while defer scripts wait until HTML parsing is complete.</a:t>
            </a:r>
          </a:p>
          <a:p>
            <a:pPr algn="l">
              <a:lnSpc>
                <a:spcPct val="120000"/>
              </a:lnSpc>
              <a:spcBef>
                <a:spcPts val="0"/>
              </a:spcBef>
              <a:buFont typeface="+mj-lt"/>
              <a:buAutoNum type="arabicPeriod"/>
            </a:pPr>
            <a:r>
              <a:rPr lang="en-US" b="1" i="0" dirty="0">
                <a:solidFill>
                  <a:srgbClr val="000000"/>
                </a:solidFill>
                <a:effectLst/>
              </a:rPr>
              <a:t>Order of Execution</a:t>
            </a:r>
            <a:r>
              <a:rPr lang="en-US" b="0" i="0" dirty="0">
                <a:solidFill>
                  <a:srgbClr val="000000"/>
                </a:solidFill>
                <a:effectLst/>
              </a:rPr>
              <a:t>: </a:t>
            </a:r>
            <a:r>
              <a:rPr lang="en-US" b="0" i="0" dirty="0">
                <a:solidFill>
                  <a:srgbClr val="0000FF"/>
                </a:solidFill>
                <a:effectLst/>
              </a:rPr>
              <a:t>async scripts may execute out of order</a:t>
            </a:r>
            <a:r>
              <a:rPr lang="en-US" b="0" i="0" dirty="0">
                <a:solidFill>
                  <a:srgbClr val="000000"/>
                </a:solidFill>
                <a:effectLst/>
              </a:rPr>
              <a:t>, depending on download completion. defer scripts maintain their order of appearance in the document.</a:t>
            </a:r>
          </a:p>
          <a:p>
            <a:pPr algn="l">
              <a:lnSpc>
                <a:spcPct val="120000"/>
              </a:lnSpc>
              <a:spcBef>
                <a:spcPts val="0"/>
              </a:spcBef>
              <a:buFont typeface="+mj-lt"/>
              <a:buAutoNum type="arabicPeriod"/>
            </a:pPr>
            <a:r>
              <a:rPr lang="en-US" b="1" i="0" dirty="0">
                <a:solidFill>
                  <a:srgbClr val="000000"/>
                </a:solidFill>
                <a:effectLst/>
              </a:rPr>
              <a:t>Use Cases</a:t>
            </a:r>
            <a:r>
              <a:rPr lang="en-US" b="0" i="0" dirty="0">
                <a:solidFill>
                  <a:srgbClr val="000000"/>
                </a:solidFill>
                <a:effectLst/>
              </a:rPr>
              <a:t>: Use async for independent scripts and defer for scripts that rely on the DOM or need to maintain execution order.</a:t>
            </a:r>
          </a:p>
          <a:p>
            <a:pPr algn="l">
              <a:lnSpc>
                <a:spcPct val="120000"/>
              </a:lnSpc>
              <a:spcBef>
                <a:spcPts val="0"/>
              </a:spcBef>
            </a:pPr>
            <a:r>
              <a:rPr lang="en-US" b="1" i="0" dirty="0">
                <a:solidFill>
                  <a:srgbClr val="000000"/>
                </a:solidFill>
                <a:effectLst/>
              </a:rPr>
              <a:t>Practical Considerations</a:t>
            </a:r>
          </a:p>
          <a:p>
            <a:pPr algn="l">
              <a:lnSpc>
                <a:spcPct val="120000"/>
              </a:lnSpc>
              <a:spcBef>
                <a:spcPts val="0"/>
              </a:spcBef>
            </a:pPr>
            <a:r>
              <a:rPr lang="en-US" b="0" i="0" dirty="0">
                <a:solidFill>
                  <a:srgbClr val="000000"/>
                </a:solidFill>
                <a:effectLst/>
              </a:rPr>
              <a:t>For optimal performance:</a:t>
            </a:r>
          </a:p>
          <a:p>
            <a:pPr algn="l">
              <a:lnSpc>
                <a:spcPct val="120000"/>
              </a:lnSpc>
              <a:spcBef>
                <a:spcPts val="0"/>
              </a:spcBef>
              <a:buFont typeface="Arial" panose="020B0604020202020204" pitchFamily="34" charset="0"/>
              <a:buChar char="•"/>
            </a:pPr>
            <a:r>
              <a:rPr lang="en-US" b="0" i="0" dirty="0">
                <a:solidFill>
                  <a:srgbClr val="000000"/>
                </a:solidFill>
                <a:effectLst/>
              </a:rPr>
              <a:t>Use async for scripts that do not depend on other scripts or the DOM.</a:t>
            </a:r>
          </a:p>
          <a:p>
            <a:pPr algn="l">
              <a:lnSpc>
                <a:spcPct val="120000"/>
              </a:lnSpc>
              <a:spcBef>
                <a:spcPts val="0"/>
              </a:spcBef>
              <a:buFont typeface="Arial" panose="020B0604020202020204" pitchFamily="34" charset="0"/>
              <a:buChar char="•"/>
            </a:pPr>
            <a:r>
              <a:rPr lang="en-US" b="0" i="0" dirty="0">
                <a:solidFill>
                  <a:srgbClr val="000000"/>
                </a:solidFill>
                <a:effectLst/>
              </a:rPr>
              <a:t>Use defer for scripts that require the DOM to be fully parsed or need to execute in a specific order.</a:t>
            </a:r>
          </a:p>
          <a:p>
            <a:pPr marL="0" indent="0">
              <a:lnSpc>
                <a:spcPct val="120000"/>
              </a:lnSpc>
              <a:spcBef>
                <a:spcPts val="0"/>
              </a:spcBef>
              <a:buNone/>
            </a:pPr>
            <a:endParaRPr lang="en-IN" dirty="0"/>
          </a:p>
        </p:txBody>
      </p:sp>
      <p:sp>
        <p:nvSpPr>
          <p:cNvPr id="4" name="Title 1">
            <a:extLst>
              <a:ext uri="{FF2B5EF4-FFF2-40B4-BE49-F238E27FC236}">
                <a16:creationId xmlns:a16="http://schemas.microsoft.com/office/drawing/2014/main" id="{665467D6-E16A-7530-9D37-F5FCCC4523C3}"/>
              </a:ext>
            </a:extLst>
          </p:cNvPr>
          <p:cNvSpPr>
            <a:spLocks noGrp="1"/>
          </p:cNvSpPr>
          <p:nvPr>
            <p:ph type="title"/>
          </p:nvPr>
        </p:nvSpPr>
        <p:spPr>
          <a:xfrm>
            <a:off x="628650" y="109411"/>
            <a:ext cx="7886700" cy="421257"/>
          </a:xfrm>
        </p:spPr>
        <p:txBody>
          <a:bodyPr>
            <a:normAutofit fontScale="90000"/>
          </a:bodyPr>
          <a:lstStyle/>
          <a:p>
            <a:r>
              <a:rPr lang="en-US" sz="2800" dirty="0">
                <a:solidFill>
                  <a:srgbClr val="FF0000"/>
                </a:solidFill>
              </a:rPr>
              <a:t>Async and defer attributes</a:t>
            </a:r>
            <a:endParaRPr lang="en-IN" sz="2800" dirty="0">
              <a:solidFill>
                <a:srgbClr val="FF0000"/>
              </a:solidFill>
            </a:endParaRPr>
          </a:p>
        </p:txBody>
      </p:sp>
    </p:spTree>
    <p:extLst>
      <p:ext uri="{BB962C8B-B14F-4D97-AF65-F5344CB8AC3E}">
        <p14:creationId xmlns:p14="http://schemas.microsoft.com/office/powerpoint/2010/main" val="105485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3600-16C9-62E4-D272-CF3C76EFAAF1}"/>
              </a:ext>
            </a:extLst>
          </p:cNvPr>
          <p:cNvSpPr>
            <a:spLocks noGrp="1"/>
          </p:cNvSpPr>
          <p:nvPr>
            <p:ph type="title"/>
          </p:nvPr>
        </p:nvSpPr>
        <p:spPr>
          <a:xfrm>
            <a:off x="400692" y="365127"/>
            <a:ext cx="8114658" cy="662290"/>
          </a:xfrm>
        </p:spPr>
        <p:txBody>
          <a:bodyPr>
            <a:normAutofit/>
          </a:bodyPr>
          <a:lstStyle/>
          <a:p>
            <a:r>
              <a:rPr lang="en-IN" sz="2800" dirty="0">
                <a:solidFill>
                  <a:srgbClr val="0000FF"/>
                </a:solidFill>
              </a:rPr>
              <a:t>JavaScript Display Possibilities</a:t>
            </a:r>
          </a:p>
        </p:txBody>
      </p:sp>
      <p:sp>
        <p:nvSpPr>
          <p:cNvPr id="3" name="Content Placeholder 2">
            <a:extLst>
              <a:ext uri="{FF2B5EF4-FFF2-40B4-BE49-F238E27FC236}">
                <a16:creationId xmlns:a16="http://schemas.microsoft.com/office/drawing/2014/main" id="{99CA831F-97B6-229B-E3BC-4F38A6B5EE23}"/>
              </a:ext>
            </a:extLst>
          </p:cNvPr>
          <p:cNvSpPr>
            <a:spLocks noGrp="1"/>
          </p:cNvSpPr>
          <p:nvPr>
            <p:ph idx="1"/>
          </p:nvPr>
        </p:nvSpPr>
        <p:spPr>
          <a:xfrm>
            <a:off x="200346" y="1373562"/>
            <a:ext cx="8943654" cy="4351338"/>
          </a:xfrm>
        </p:spPr>
        <p:txBody>
          <a:bodyPr/>
          <a:lstStyle/>
          <a:p>
            <a:pPr marL="0" indent="0">
              <a:buNone/>
            </a:pPr>
            <a:r>
              <a:rPr lang="en-IN" dirty="0"/>
              <a:t>JavaScript can "display" data in different ways:</a:t>
            </a:r>
          </a:p>
          <a:p>
            <a:r>
              <a:rPr lang="en-IN" dirty="0"/>
              <a:t>Writing into an HTML element, or using </a:t>
            </a:r>
            <a:r>
              <a:rPr lang="en-IN" dirty="0" err="1"/>
              <a:t>innerHTML</a:t>
            </a:r>
            <a:r>
              <a:rPr lang="en-IN" dirty="0"/>
              <a:t> or </a:t>
            </a:r>
            <a:r>
              <a:rPr lang="en-IN" dirty="0" err="1"/>
              <a:t>innerText</a:t>
            </a:r>
            <a:r>
              <a:rPr lang="en-IN" dirty="0"/>
              <a:t>.</a:t>
            </a:r>
          </a:p>
          <a:p>
            <a:r>
              <a:rPr lang="en-IN" dirty="0"/>
              <a:t>Writing into the HTML output using </a:t>
            </a:r>
            <a:r>
              <a:rPr lang="en-IN" dirty="0" err="1"/>
              <a:t>document.write</a:t>
            </a:r>
            <a:r>
              <a:rPr lang="en-IN" dirty="0"/>
              <a:t>().</a:t>
            </a:r>
          </a:p>
          <a:p>
            <a:r>
              <a:rPr lang="en-IN" dirty="0"/>
              <a:t>Writing into an alert box, using </a:t>
            </a:r>
            <a:r>
              <a:rPr lang="en-IN" dirty="0" err="1"/>
              <a:t>window.alert</a:t>
            </a:r>
            <a:r>
              <a:rPr lang="en-IN" dirty="0"/>
              <a:t>().</a:t>
            </a:r>
          </a:p>
          <a:p>
            <a:r>
              <a:rPr lang="en-IN" dirty="0"/>
              <a:t>Writing into the browser console, using console.log().</a:t>
            </a:r>
          </a:p>
          <a:p>
            <a:pPr marL="0" indent="0">
              <a:buNone/>
            </a:pPr>
            <a:endParaRPr lang="en-IN" dirty="0"/>
          </a:p>
        </p:txBody>
      </p:sp>
    </p:spTree>
    <p:extLst>
      <p:ext uri="{BB962C8B-B14F-4D97-AF65-F5344CB8AC3E}">
        <p14:creationId xmlns:p14="http://schemas.microsoft.com/office/powerpoint/2010/main" val="876825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27991F-374D-85F8-B938-05496D4FB48B}"/>
              </a:ext>
            </a:extLst>
          </p:cNvPr>
          <p:cNvSpPr>
            <a:spLocks noGrp="1"/>
          </p:cNvSpPr>
          <p:nvPr>
            <p:ph idx="1"/>
          </p:nvPr>
        </p:nvSpPr>
        <p:spPr>
          <a:xfrm>
            <a:off x="267418" y="-1"/>
            <a:ext cx="8617789" cy="1033125"/>
          </a:xfrm>
        </p:spPr>
        <p:txBody>
          <a:bodyPr>
            <a:normAutofit lnSpcReduction="10000"/>
          </a:bodyPr>
          <a:lstStyle/>
          <a:p>
            <a:pPr marL="0" indent="0">
              <a:lnSpc>
                <a:spcPct val="120000"/>
              </a:lnSpc>
              <a:spcBef>
                <a:spcPts val="0"/>
              </a:spcBef>
              <a:buNone/>
            </a:pPr>
            <a:r>
              <a:rPr lang="en-US" sz="1800" i="0" dirty="0">
                <a:solidFill>
                  <a:srgbClr val="0000FF"/>
                </a:solidFill>
                <a:effectLst/>
                <a:latin typeface="Segoe UI" panose="020B0502040204020203" pitchFamily="34" charset="0"/>
              </a:rPr>
              <a:t>Using </a:t>
            </a:r>
            <a:r>
              <a:rPr lang="en-US" sz="1800" i="0" dirty="0" err="1">
                <a:solidFill>
                  <a:srgbClr val="0000FF"/>
                </a:solidFill>
                <a:effectLst/>
                <a:latin typeface="Segoe UI" panose="020B0502040204020203" pitchFamily="34" charset="0"/>
              </a:rPr>
              <a:t>document.writeln</a:t>
            </a:r>
            <a:r>
              <a:rPr lang="en-US" sz="1800" i="0" dirty="0">
                <a:solidFill>
                  <a:srgbClr val="0000FF"/>
                </a:solidFill>
                <a:effectLst/>
                <a:latin typeface="Segoe UI" panose="020B0502040204020203" pitchFamily="34" charset="0"/>
              </a:rPr>
              <a:t>() </a:t>
            </a:r>
            <a:r>
              <a:rPr lang="en-US" sz="1800" i="0" dirty="0">
                <a:solidFill>
                  <a:srgbClr val="000000"/>
                </a:solidFill>
                <a:effectLst/>
                <a:latin typeface="Segoe UI" panose="020B0502040204020203" pitchFamily="34" charset="0"/>
              </a:rPr>
              <a:t>after an HTML document is loaded, will delete all existing HTML</a:t>
            </a:r>
          </a:p>
          <a:p>
            <a:pPr marL="0" indent="0">
              <a:lnSpc>
                <a:spcPct val="120000"/>
              </a:lnSpc>
              <a:spcBef>
                <a:spcPts val="0"/>
              </a:spcBef>
              <a:buNone/>
            </a:pPr>
            <a:r>
              <a:rPr lang="en-US" sz="1800" dirty="0">
                <a:solidFill>
                  <a:srgbClr val="000000"/>
                </a:solidFill>
                <a:latin typeface="Segoe UI" panose="020B0502040204020203" pitchFamily="34" charset="0"/>
              </a:rPr>
              <a:t>Overwrites the page if the doc fully loaded – event</a:t>
            </a:r>
          </a:p>
          <a:p>
            <a:pPr marL="0" indent="0">
              <a:buNone/>
            </a:pPr>
            <a:endParaRPr lang="en-IN" sz="1600" dirty="0"/>
          </a:p>
        </p:txBody>
      </p:sp>
      <p:sp>
        <p:nvSpPr>
          <p:cNvPr id="6" name="TextBox 5">
            <a:extLst>
              <a:ext uri="{FF2B5EF4-FFF2-40B4-BE49-F238E27FC236}">
                <a16:creationId xmlns:a16="http://schemas.microsoft.com/office/drawing/2014/main" id="{3F2B1576-F3A0-1421-F5C1-4A9CB5343E8A}"/>
              </a:ext>
            </a:extLst>
          </p:cNvPr>
          <p:cNvSpPr txBox="1"/>
          <p:nvPr/>
        </p:nvSpPr>
        <p:spPr>
          <a:xfrm>
            <a:off x="267418" y="1230610"/>
            <a:ext cx="8712680" cy="3477875"/>
          </a:xfrm>
          <a:prstGeom prst="rect">
            <a:avLst/>
          </a:prstGeom>
          <a:noFill/>
        </p:spPr>
        <p:txBody>
          <a:bodyPr wrap="square">
            <a:spAutoFit/>
          </a:bodyPr>
          <a:lstStyle/>
          <a:p>
            <a:r>
              <a:rPr lang="en-IN" sz="2000" dirty="0"/>
              <a:t>&lt;html&gt; </a:t>
            </a:r>
          </a:p>
          <a:p>
            <a:r>
              <a:rPr lang="en-IN" sz="2000" dirty="0"/>
              <a:t>&lt;body&gt;</a:t>
            </a:r>
          </a:p>
          <a:p>
            <a:r>
              <a:rPr lang="en-IN" sz="2000" dirty="0"/>
              <a:t>    &lt;h2&gt;Original Content&lt;/h2&gt;</a:t>
            </a:r>
          </a:p>
          <a:p>
            <a:r>
              <a:rPr lang="en-IN" sz="2000" dirty="0"/>
              <a:t>    &lt;p&gt;This is the initial text on the page.&lt;/p&gt;    </a:t>
            </a:r>
          </a:p>
          <a:p>
            <a:r>
              <a:rPr lang="en-IN" sz="2000" dirty="0"/>
              <a:t>    &lt;button onclick="</a:t>
            </a:r>
            <a:r>
              <a:rPr lang="en-IN" sz="2000" dirty="0" err="1"/>
              <a:t>overwritePage</a:t>
            </a:r>
            <a:r>
              <a:rPr lang="en-IN" sz="2000" dirty="0"/>
              <a:t>()"&gt;Click to Overwrite Page&lt;/button&gt;</a:t>
            </a:r>
          </a:p>
          <a:p>
            <a:r>
              <a:rPr lang="en-IN" sz="2000" dirty="0"/>
              <a:t>    &lt;script&gt;</a:t>
            </a:r>
          </a:p>
          <a:p>
            <a:r>
              <a:rPr lang="en-IN" sz="2000" dirty="0"/>
              <a:t>        function </a:t>
            </a:r>
            <a:r>
              <a:rPr lang="en-IN" sz="2000" dirty="0" err="1"/>
              <a:t>overwritePage</a:t>
            </a:r>
            <a:r>
              <a:rPr lang="en-IN" sz="2000" dirty="0"/>
              <a:t>() {</a:t>
            </a:r>
          </a:p>
          <a:p>
            <a:r>
              <a:rPr lang="en-IN" sz="2000" dirty="0"/>
              <a:t>            </a:t>
            </a:r>
            <a:r>
              <a:rPr lang="en-IN" sz="2000" dirty="0" err="1"/>
              <a:t>document.writeln</a:t>
            </a:r>
            <a:r>
              <a:rPr lang="en-IN" sz="2000" dirty="0"/>
              <a:t>("&lt;h1&gt;Everything was overwritten!&lt;/h1&gt;");</a:t>
            </a:r>
          </a:p>
          <a:p>
            <a:r>
              <a:rPr lang="en-IN" sz="2000" dirty="0"/>
              <a:t>            </a:t>
            </a:r>
            <a:r>
              <a:rPr lang="en-IN" sz="2000" dirty="0" err="1"/>
              <a:t>document.writeln</a:t>
            </a:r>
            <a:r>
              <a:rPr lang="en-IN" sz="2000" dirty="0"/>
              <a:t>("&lt;p&gt;The original HTML is completely gone.&lt;/p&gt;");</a:t>
            </a:r>
          </a:p>
          <a:p>
            <a:r>
              <a:rPr lang="en-IN" sz="2000" dirty="0"/>
              <a:t>        }</a:t>
            </a:r>
          </a:p>
          <a:p>
            <a:r>
              <a:rPr lang="en-IN" sz="2000" dirty="0"/>
              <a:t>    &lt;/script&gt;</a:t>
            </a:r>
          </a:p>
        </p:txBody>
      </p:sp>
      <p:pic>
        <p:nvPicPr>
          <p:cNvPr id="8" name="Picture 7">
            <a:extLst>
              <a:ext uri="{FF2B5EF4-FFF2-40B4-BE49-F238E27FC236}">
                <a16:creationId xmlns:a16="http://schemas.microsoft.com/office/drawing/2014/main" id="{F8084945-A303-5FD2-B483-22EE620C973E}"/>
              </a:ext>
            </a:extLst>
          </p:cNvPr>
          <p:cNvPicPr>
            <a:picLocks noChangeAspect="1"/>
          </p:cNvPicPr>
          <p:nvPr/>
        </p:nvPicPr>
        <p:blipFill>
          <a:blip r:embed="rId2"/>
          <a:stretch>
            <a:fillRect/>
          </a:stretch>
        </p:blipFill>
        <p:spPr>
          <a:xfrm>
            <a:off x="362309" y="4567416"/>
            <a:ext cx="2743200" cy="1485900"/>
          </a:xfrm>
          <a:prstGeom prst="rect">
            <a:avLst/>
          </a:prstGeom>
        </p:spPr>
      </p:pic>
      <p:pic>
        <p:nvPicPr>
          <p:cNvPr id="10" name="Picture 9">
            <a:extLst>
              <a:ext uri="{FF2B5EF4-FFF2-40B4-BE49-F238E27FC236}">
                <a16:creationId xmlns:a16="http://schemas.microsoft.com/office/drawing/2014/main" id="{8D0E3018-5838-8610-C980-107911E434D4}"/>
              </a:ext>
            </a:extLst>
          </p:cNvPr>
          <p:cNvPicPr>
            <a:picLocks noChangeAspect="1"/>
          </p:cNvPicPr>
          <p:nvPr/>
        </p:nvPicPr>
        <p:blipFill>
          <a:blip r:embed="rId3"/>
          <a:stretch>
            <a:fillRect/>
          </a:stretch>
        </p:blipFill>
        <p:spPr>
          <a:xfrm>
            <a:off x="3421092" y="4071838"/>
            <a:ext cx="4648200" cy="1228725"/>
          </a:xfrm>
          <a:prstGeom prst="rect">
            <a:avLst/>
          </a:prstGeom>
        </p:spPr>
      </p:pic>
      <p:pic>
        <p:nvPicPr>
          <p:cNvPr id="12" name="Picture 11">
            <a:extLst>
              <a:ext uri="{FF2B5EF4-FFF2-40B4-BE49-F238E27FC236}">
                <a16:creationId xmlns:a16="http://schemas.microsoft.com/office/drawing/2014/main" id="{131B5635-F50B-9FFB-1F9E-1ABA717B14D7}"/>
              </a:ext>
            </a:extLst>
          </p:cNvPr>
          <p:cNvPicPr>
            <a:picLocks noChangeAspect="1"/>
          </p:cNvPicPr>
          <p:nvPr/>
        </p:nvPicPr>
        <p:blipFill>
          <a:blip r:embed="rId4"/>
          <a:stretch>
            <a:fillRect/>
          </a:stretch>
        </p:blipFill>
        <p:spPr>
          <a:xfrm>
            <a:off x="3705314" y="5264920"/>
            <a:ext cx="4028742" cy="1342914"/>
          </a:xfrm>
          <a:prstGeom prst="rect">
            <a:avLst/>
          </a:prstGeom>
        </p:spPr>
      </p:pic>
    </p:spTree>
    <p:extLst>
      <p:ext uri="{BB962C8B-B14F-4D97-AF65-F5344CB8AC3E}">
        <p14:creationId xmlns:p14="http://schemas.microsoft.com/office/powerpoint/2010/main" val="93684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7D469-F6A3-8B6D-B0AC-A4EA48C840DD}"/>
              </a:ext>
            </a:extLst>
          </p:cNvPr>
          <p:cNvSpPr>
            <a:spLocks noGrp="1"/>
          </p:cNvSpPr>
          <p:nvPr>
            <p:ph idx="1"/>
          </p:nvPr>
        </p:nvSpPr>
        <p:spPr>
          <a:xfrm>
            <a:off x="228600" y="310551"/>
            <a:ext cx="8705088" cy="759124"/>
          </a:xfrm>
        </p:spPr>
        <p:txBody>
          <a:bodyPr>
            <a:normAutofit fontScale="77500" lnSpcReduction="20000"/>
          </a:bodyPr>
          <a:lstStyle/>
          <a:p>
            <a:pPr marL="0" indent="0">
              <a:buNone/>
            </a:pPr>
            <a:r>
              <a:rPr lang="en-US" dirty="0" err="1">
                <a:solidFill>
                  <a:srgbClr val="0000FF"/>
                </a:solidFill>
              </a:rPr>
              <a:t>innerHTML</a:t>
            </a:r>
            <a:r>
              <a:rPr lang="en-US" dirty="0"/>
              <a:t> – HTML </a:t>
            </a:r>
            <a:r>
              <a:rPr lang="en-US" dirty="0" err="1"/>
              <a:t>marksup</a:t>
            </a:r>
            <a:r>
              <a:rPr lang="en-US" dirty="0"/>
              <a:t> inside element (tags included) as a string.</a:t>
            </a:r>
          </a:p>
          <a:p>
            <a:pPr marL="0" indent="0">
              <a:buNone/>
            </a:pPr>
            <a:r>
              <a:rPr lang="en-US" dirty="0"/>
              <a:t>Deletes everything inside the element and replaces it </a:t>
            </a:r>
          </a:p>
          <a:p>
            <a:pPr marL="0" indent="0">
              <a:buNone/>
            </a:pPr>
            <a:endParaRPr lang="en-IN" dirty="0"/>
          </a:p>
        </p:txBody>
      </p:sp>
      <p:sp>
        <p:nvSpPr>
          <p:cNvPr id="7" name="TextBox 6">
            <a:extLst>
              <a:ext uri="{FF2B5EF4-FFF2-40B4-BE49-F238E27FC236}">
                <a16:creationId xmlns:a16="http://schemas.microsoft.com/office/drawing/2014/main" id="{A51FCB12-23F3-EA58-C0CA-F6FA0C98B6FB}"/>
              </a:ext>
            </a:extLst>
          </p:cNvPr>
          <p:cNvSpPr txBox="1"/>
          <p:nvPr/>
        </p:nvSpPr>
        <p:spPr>
          <a:xfrm>
            <a:off x="310550" y="1069675"/>
            <a:ext cx="6426679" cy="7294305"/>
          </a:xfrm>
          <a:prstGeom prst="rect">
            <a:avLst/>
          </a:prstGeom>
          <a:noFill/>
        </p:spPr>
        <p:txBody>
          <a:bodyPr wrap="square">
            <a:spAutoFit/>
          </a:bodyPr>
          <a:lstStyle/>
          <a:p>
            <a:r>
              <a:rPr lang="en-IN" dirty="0"/>
              <a:t>&lt;!DOCTYPE html&gt;</a:t>
            </a:r>
          </a:p>
          <a:p>
            <a:r>
              <a:rPr lang="en-IN" dirty="0"/>
              <a:t>&lt;html&gt;</a:t>
            </a:r>
          </a:p>
          <a:p>
            <a:r>
              <a:rPr lang="en-IN" dirty="0"/>
              <a:t>&lt;body&gt;</a:t>
            </a:r>
          </a:p>
          <a:p>
            <a:r>
              <a:rPr lang="en-IN" dirty="0"/>
              <a:t>&lt;h1&gt;The Element Object&lt;/h1&gt;</a:t>
            </a:r>
          </a:p>
          <a:p>
            <a:r>
              <a:rPr lang="en-IN" dirty="0"/>
              <a:t>&lt;h2&gt;The </a:t>
            </a:r>
            <a:r>
              <a:rPr lang="en-IN" dirty="0" err="1"/>
              <a:t>innerHTML</a:t>
            </a:r>
            <a:r>
              <a:rPr lang="en-IN" dirty="0"/>
              <a:t> Property&lt;/h2&gt;</a:t>
            </a:r>
          </a:p>
          <a:p>
            <a:endParaRPr lang="en-IN" dirty="0"/>
          </a:p>
          <a:p>
            <a:r>
              <a:rPr lang="en-IN" dirty="0"/>
              <a:t>&lt;div id="</a:t>
            </a:r>
            <a:r>
              <a:rPr lang="en-IN" dirty="0" err="1"/>
              <a:t>myList</a:t>
            </a:r>
            <a:r>
              <a:rPr lang="en-IN" dirty="0"/>
              <a:t>"&gt;</a:t>
            </a:r>
          </a:p>
          <a:p>
            <a:r>
              <a:rPr lang="en-IN" dirty="0"/>
              <a:t>&lt;</a:t>
            </a:r>
            <a:r>
              <a:rPr lang="en-IN" dirty="0" err="1"/>
              <a:t>ul</a:t>
            </a:r>
            <a:r>
              <a:rPr lang="en-IN" dirty="0"/>
              <a:t> &gt;</a:t>
            </a:r>
          </a:p>
          <a:p>
            <a:r>
              <a:rPr lang="en-IN" dirty="0"/>
              <a:t>  &lt;li&gt;Coffee&lt;/li&gt;</a:t>
            </a:r>
          </a:p>
          <a:p>
            <a:r>
              <a:rPr lang="en-IN" dirty="0"/>
              <a:t>  &lt;li&gt;Tea&lt;/li&gt;</a:t>
            </a:r>
          </a:p>
          <a:p>
            <a:r>
              <a:rPr lang="en-IN" dirty="0"/>
              <a:t>&lt;/</a:t>
            </a:r>
            <a:r>
              <a:rPr lang="en-IN" dirty="0" err="1"/>
              <a:t>ul</a:t>
            </a:r>
            <a:r>
              <a:rPr lang="en-IN" dirty="0"/>
              <a:t>&gt;</a:t>
            </a:r>
          </a:p>
          <a:p>
            <a:r>
              <a:rPr lang="en-IN" dirty="0"/>
              <a:t>&lt;/div&gt;</a:t>
            </a:r>
          </a:p>
          <a:p>
            <a:endParaRPr lang="en-IN" dirty="0"/>
          </a:p>
          <a:p>
            <a:endParaRPr lang="en-IN" dirty="0"/>
          </a:p>
          <a:p>
            <a:r>
              <a:rPr lang="en-IN" dirty="0"/>
              <a:t>&lt;p&gt;The HTML content of the </a:t>
            </a:r>
            <a:r>
              <a:rPr lang="en-IN" dirty="0" err="1"/>
              <a:t>ul</a:t>
            </a:r>
            <a:r>
              <a:rPr lang="en-IN" dirty="0"/>
              <a:t> element "</a:t>
            </a:r>
            <a:r>
              <a:rPr lang="en-IN" dirty="0" err="1"/>
              <a:t>myList</a:t>
            </a:r>
            <a:r>
              <a:rPr lang="en-IN" dirty="0"/>
              <a:t>" is:&lt;/p&gt;</a:t>
            </a:r>
          </a:p>
          <a:p>
            <a:r>
              <a:rPr lang="en-IN" dirty="0"/>
              <a:t>&lt;p id="demo"&gt;&lt;/p&gt;</a:t>
            </a:r>
          </a:p>
          <a:p>
            <a:endParaRPr lang="en-IN" dirty="0"/>
          </a:p>
          <a:p>
            <a:r>
              <a:rPr lang="en-IN" dirty="0"/>
              <a:t>&lt;script&gt;</a:t>
            </a:r>
          </a:p>
          <a:p>
            <a:r>
              <a:rPr lang="en-IN" dirty="0"/>
              <a:t>let html = </a:t>
            </a:r>
            <a:r>
              <a:rPr lang="en-IN" dirty="0" err="1"/>
              <a:t>document.getElementById</a:t>
            </a:r>
            <a:r>
              <a:rPr lang="en-IN" dirty="0"/>
              <a:t>("</a:t>
            </a:r>
            <a:r>
              <a:rPr lang="en-IN" dirty="0" err="1"/>
              <a:t>myList</a:t>
            </a:r>
            <a:r>
              <a:rPr lang="en-IN" dirty="0"/>
              <a:t>").</a:t>
            </a:r>
            <a:r>
              <a:rPr lang="en-IN" dirty="0" err="1"/>
              <a:t>innerHTML</a:t>
            </a:r>
            <a:r>
              <a:rPr lang="en-IN" dirty="0"/>
              <a:t>;</a:t>
            </a:r>
          </a:p>
          <a:p>
            <a:r>
              <a:rPr lang="en-IN" dirty="0" err="1"/>
              <a:t>document.getElementById</a:t>
            </a:r>
            <a:r>
              <a:rPr lang="en-IN" dirty="0"/>
              <a:t>("demo").</a:t>
            </a:r>
            <a:r>
              <a:rPr lang="en-IN" dirty="0" err="1"/>
              <a:t>innerHTML</a:t>
            </a:r>
            <a:r>
              <a:rPr lang="en-IN" dirty="0"/>
              <a:t> = html;</a:t>
            </a:r>
          </a:p>
          <a:p>
            <a:endParaRPr lang="en-IN" dirty="0"/>
          </a:p>
          <a:p>
            <a:r>
              <a:rPr lang="en-IN" dirty="0"/>
              <a:t>alert(html);</a:t>
            </a:r>
          </a:p>
          <a:p>
            <a:r>
              <a:rPr lang="en-IN" dirty="0"/>
              <a:t>&lt;/script&gt;</a:t>
            </a:r>
          </a:p>
          <a:p>
            <a:endParaRPr lang="en-IN" dirty="0"/>
          </a:p>
          <a:p>
            <a:r>
              <a:rPr lang="en-IN" dirty="0"/>
              <a:t>&lt;/body&gt;</a:t>
            </a:r>
          </a:p>
          <a:p>
            <a:r>
              <a:rPr lang="en-IN" dirty="0"/>
              <a:t>&lt;/html&gt;</a:t>
            </a:r>
          </a:p>
        </p:txBody>
      </p:sp>
      <p:pic>
        <p:nvPicPr>
          <p:cNvPr id="9" name="Picture 8">
            <a:extLst>
              <a:ext uri="{FF2B5EF4-FFF2-40B4-BE49-F238E27FC236}">
                <a16:creationId xmlns:a16="http://schemas.microsoft.com/office/drawing/2014/main" id="{69D257C0-257E-175E-E000-55C8FC20A3FD}"/>
              </a:ext>
            </a:extLst>
          </p:cNvPr>
          <p:cNvPicPr>
            <a:picLocks noChangeAspect="1"/>
          </p:cNvPicPr>
          <p:nvPr/>
        </p:nvPicPr>
        <p:blipFill>
          <a:blip r:embed="rId2"/>
          <a:stretch>
            <a:fillRect/>
          </a:stretch>
        </p:blipFill>
        <p:spPr>
          <a:xfrm>
            <a:off x="3650479" y="1069675"/>
            <a:ext cx="5493521" cy="4458066"/>
          </a:xfrm>
          <a:prstGeom prst="rect">
            <a:avLst/>
          </a:prstGeom>
        </p:spPr>
      </p:pic>
    </p:spTree>
    <p:extLst>
      <p:ext uri="{BB962C8B-B14F-4D97-AF65-F5344CB8AC3E}">
        <p14:creationId xmlns:p14="http://schemas.microsoft.com/office/powerpoint/2010/main" val="4153607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29B6475-F0E6-7B88-292F-0408B901B402}"/>
              </a:ext>
            </a:extLst>
          </p:cNvPr>
          <p:cNvSpPr>
            <a:spLocks noGrp="1"/>
          </p:cNvSpPr>
          <p:nvPr>
            <p:ph idx="1"/>
          </p:nvPr>
        </p:nvSpPr>
        <p:spPr>
          <a:xfrm>
            <a:off x="103516" y="143474"/>
            <a:ext cx="8867955" cy="1141862"/>
          </a:xfrm>
        </p:spPr>
        <p:txBody>
          <a:bodyPr>
            <a:normAutofit/>
          </a:bodyPr>
          <a:lstStyle/>
          <a:p>
            <a:pPr marL="0" indent="0">
              <a:lnSpc>
                <a:spcPct val="100000"/>
              </a:lnSpc>
              <a:spcBef>
                <a:spcPts val="0"/>
              </a:spcBef>
              <a:buNone/>
            </a:pPr>
            <a:r>
              <a:rPr lang="en-US" sz="2000" dirty="0" err="1">
                <a:solidFill>
                  <a:srgbClr val="0000FF"/>
                </a:solidFill>
              </a:rPr>
              <a:t>innerText</a:t>
            </a:r>
            <a:r>
              <a:rPr lang="en-US" sz="2000" dirty="0">
                <a:solidFill>
                  <a:srgbClr val="0000FF"/>
                </a:solidFill>
              </a:rPr>
              <a:t> – Human visible text only inside element (tags are stripped) as a string</a:t>
            </a:r>
            <a:r>
              <a:rPr lang="en-US" sz="2000" dirty="0"/>
              <a:t>.</a:t>
            </a:r>
          </a:p>
          <a:p>
            <a:pPr marL="0" indent="0">
              <a:lnSpc>
                <a:spcPct val="100000"/>
              </a:lnSpc>
              <a:spcBef>
                <a:spcPts val="0"/>
              </a:spcBef>
              <a:buNone/>
            </a:pPr>
            <a:r>
              <a:rPr lang="en-US" sz="2000" dirty="0"/>
              <a:t>Deletes everything inside and replaces it with plain text</a:t>
            </a:r>
            <a:endParaRPr lang="en-IN" sz="2000" dirty="0"/>
          </a:p>
        </p:txBody>
      </p:sp>
      <p:sp>
        <p:nvSpPr>
          <p:cNvPr id="6" name="TextBox 5">
            <a:extLst>
              <a:ext uri="{FF2B5EF4-FFF2-40B4-BE49-F238E27FC236}">
                <a16:creationId xmlns:a16="http://schemas.microsoft.com/office/drawing/2014/main" id="{FD026A5F-60BD-DFAC-3775-3E1D8D5617FD}"/>
              </a:ext>
            </a:extLst>
          </p:cNvPr>
          <p:cNvSpPr txBox="1"/>
          <p:nvPr/>
        </p:nvSpPr>
        <p:spPr>
          <a:xfrm>
            <a:off x="103516" y="880264"/>
            <a:ext cx="4572000" cy="5632311"/>
          </a:xfrm>
          <a:prstGeom prst="rect">
            <a:avLst/>
          </a:prstGeom>
          <a:noFill/>
        </p:spPr>
        <p:txBody>
          <a:bodyPr wrap="square">
            <a:spAutoFit/>
          </a:bodyPr>
          <a:lstStyle/>
          <a:p>
            <a:r>
              <a:rPr lang="en-IN" dirty="0"/>
              <a:t>&lt;html&gt;</a:t>
            </a:r>
          </a:p>
          <a:p>
            <a:r>
              <a:rPr lang="en-IN" dirty="0"/>
              <a:t>&lt;body&gt;</a:t>
            </a:r>
          </a:p>
          <a:p>
            <a:r>
              <a:rPr lang="en-IN" dirty="0"/>
              <a:t>&lt;div id="</a:t>
            </a:r>
            <a:r>
              <a:rPr lang="en-IN" dirty="0" err="1"/>
              <a:t>myList</a:t>
            </a:r>
            <a:r>
              <a:rPr lang="en-IN" dirty="0"/>
              <a:t>"&gt;</a:t>
            </a:r>
          </a:p>
          <a:p>
            <a:r>
              <a:rPr lang="en-IN" dirty="0"/>
              <a:t>&lt;</a:t>
            </a:r>
            <a:r>
              <a:rPr lang="en-IN" dirty="0" err="1"/>
              <a:t>ul</a:t>
            </a:r>
            <a:r>
              <a:rPr lang="en-IN" dirty="0"/>
              <a:t> &gt;</a:t>
            </a:r>
          </a:p>
          <a:p>
            <a:r>
              <a:rPr lang="en-IN" dirty="0"/>
              <a:t>  &lt;li&gt;Coffee&lt;/li&gt;</a:t>
            </a:r>
          </a:p>
          <a:p>
            <a:r>
              <a:rPr lang="en-IN" dirty="0"/>
              <a:t>  &lt;li&gt;Tea&lt;/li&gt;</a:t>
            </a:r>
          </a:p>
          <a:p>
            <a:r>
              <a:rPr lang="en-IN" dirty="0"/>
              <a:t>&lt;/</a:t>
            </a:r>
            <a:r>
              <a:rPr lang="en-IN" dirty="0" err="1"/>
              <a:t>ul</a:t>
            </a:r>
            <a:r>
              <a:rPr lang="en-IN" dirty="0"/>
              <a:t>&gt;</a:t>
            </a:r>
          </a:p>
          <a:p>
            <a:r>
              <a:rPr lang="en-IN" dirty="0"/>
              <a:t>&lt;/div&gt;</a:t>
            </a:r>
          </a:p>
          <a:p>
            <a:r>
              <a:rPr lang="en-IN" dirty="0"/>
              <a:t>&lt;p&gt;The HTML content of the </a:t>
            </a:r>
            <a:r>
              <a:rPr lang="en-IN" dirty="0" err="1"/>
              <a:t>ul</a:t>
            </a:r>
            <a:r>
              <a:rPr lang="en-IN" dirty="0"/>
              <a:t> element "</a:t>
            </a:r>
            <a:r>
              <a:rPr lang="en-IN" dirty="0" err="1"/>
              <a:t>myList</a:t>
            </a:r>
            <a:r>
              <a:rPr lang="en-IN" dirty="0"/>
              <a:t>" is:&lt;/p&gt;</a:t>
            </a:r>
          </a:p>
          <a:p>
            <a:r>
              <a:rPr lang="en-IN" dirty="0"/>
              <a:t>&lt;p id="demo"&gt;This is Naren&lt;/p&gt;</a:t>
            </a:r>
          </a:p>
          <a:p>
            <a:r>
              <a:rPr lang="en-IN" dirty="0"/>
              <a:t>&lt;script&gt;  </a:t>
            </a:r>
          </a:p>
          <a:p>
            <a:r>
              <a:rPr lang="en-IN" dirty="0"/>
              <a:t>let text = </a:t>
            </a:r>
            <a:r>
              <a:rPr lang="en-IN" dirty="0" err="1"/>
              <a:t>document.getElementById</a:t>
            </a:r>
            <a:r>
              <a:rPr lang="en-IN" dirty="0"/>
              <a:t>("</a:t>
            </a:r>
            <a:r>
              <a:rPr lang="en-IN" dirty="0" err="1"/>
              <a:t>myList</a:t>
            </a:r>
            <a:r>
              <a:rPr lang="en-IN" dirty="0"/>
              <a:t>").</a:t>
            </a:r>
            <a:r>
              <a:rPr lang="en-IN" dirty="0" err="1"/>
              <a:t>innerText</a:t>
            </a:r>
            <a:r>
              <a:rPr lang="en-IN" dirty="0"/>
              <a:t>;</a:t>
            </a:r>
          </a:p>
          <a:p>
            <a:r>
              <a:rPr lang="en-IN" dirty="0" err="1"/>
              <a:t>document.getElementById</a:t>
            </a:r>
            <a:r>
              <a:rPr lang="en-IN" dirty="0"/>
              <a:t>("demo").</a:t>
            </a:r>
            <a:r>
              <a:rPr lang="en-IN" dirty="0" err="1"/>
              <a:t>innerText</a:t>
            </a:r>
            <a:r>
              <a:rPr lang="en-IN" dirty="0"/>
              <a:t> = text;</a:t>
            </a:r>
          </a:p>
          <a:p>
            <a:r>
              <a:rPr lang="en-IN" dirty="0"/>
              <a:t>alert(text);</a:t>
            </a:r>
          </a:p>
          <a:p>
            <a:r>
              <a:rPr lang="en-IN" dirty="0"/>
              <a:t>&lt;/script&gt;</a:t>
            </a:r>
          </a:p>
          <a:p>
            <a:r>
              <a:rPr lang="en-IN" dirty="0"/>
              <a:t>&lt;/body&gt;</a:t>
            </a:r>
          </a:p>
          <a:p>
            <a:r>
              <a:rPr lang="en-IN" dirty="0"/>
              <a:t>&lt;/html&gt;</a:t>
            </a:r>
          </a:p>
        </p:txBody>
      </p:sp>
      <p:pic>
        <p:nvPicPr>
          <p:cNvPr id="8" name="Picture 7">
            <a:extLst>
              <a:ext uri="{FF2B5EF4-FFF2-40B4-BE49-F238E27FC236}">
                <a16:creationId xmlns:a16="http://schemas.microsoft.com/office/drawing/2014/main" id="{1FA2A342-1D65-67B7-9EC5-1B418DFF9CA5}"/>
              </a:ext>
            </a:extLst>
          </p:cNvPr>
          <p:cNvPicPr>
            <a:picLocks noChangeAspect="1"/>
          </p:cNvPicPr>
          <p:nvPr/>
        </p:nvPicPr>
        <p:blipFill>
          <a:blip r:embed="rId2"/>
          <a:stretch>
            <a:fillRect/>
          </a:stretch>
        </p:blipFill>
        <p:spPr>
          <a:xfrm>
            <a:off x="4468483" y="1186412"/>
            <a:ext cx="4572001" cy="4670554"/>
          </a:xfrm>
          <a:prstGeom prst="rect">
            <a:avLst/>
          </a:prstGeom>
        </p:spPr>
      </p:pic>
    </p:spTree>
    <p:extLst>
      <p:ext uri="{BB962C8B-B14F-4D97-AF65-F5344CB8AC3E}">
        <p14:creationId xmlns:p14="http://schemas.microsoft.com/office/powerpoint/2010/main" val="3096799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12AAB-F725-8BC5-79D1-71505F08B747}"/>
              </a:ext>
            </a:extLst>
          </p:cNvPr>
          <p:cNvSpPr>
            <a:spLocks noGrp="1"/>
          </p:cNvSpPr>
          <p:nvPr>
            <p:ph idx="1"/>
          </p:nvPr>
        </p:nvSpPr>
        <p:spPr>
          <a:xfrm>
            <a:off x="0" y="1263309"/>
            <a:ext cx="3842535" cy="4708981"/>
          </a:xfrm>
        </p:spPr>
        <p:txBody>
          <a:bodyPr>
            <a:normAutofit/>
          </a:bodyPr>
          <a:lstStyle/>
          <a:p>
            <a:pPr marL="0" indent="0">
              <a:lnSpc>
                <a:spcPct val="120000"/>
              </a:lnSpc>
              <a:spcBef>
                <a:spcPts val="0"/>
              </a:spcBef>
              <a:buNone/>
            </a:pPr>
            <a:r>
              <a:rPr lang="en-IN" sz="2000" dirty="0"/>
              <a:t>&lt;body&gt;</a:t>
            </a:r>
          </a:p>
          <a:p>
            <a:pPr marL="0" indent="0">
              <a:lnSpc>
                <a:spcPct val="120000"/>
              </a:lnSpc>
              <a:spcBef>
                <a:spcPts val="0"/>
              </a:spcBef>
              <a:buNone/>
            </a:pPr>
            <a:r>
              <a:rPr lang="en-IN" sz="2000" dirty="0">
                <a:solidFill>
                  <a:srgbClr val="0000FF"/>
                </a:solidFill>
              </a:rPr>
              <a:t>    &lt;div id="demo"&gt;</a:t>
            </a:r>
          </a:p>
          <a:p>
            <a:pPr marL="0" indent="0">
              <a:lnSpc>
                <a:spcPct val="120000"/>
              </a:lnSpc>
              <a:spcBef>
                <a:spcPts val="0"/>
              </a:spcBef>
              <a:buNone/>
            </a:pPr>
            <a:r>
              <a:rPr lang="en-IN" sz="2000" dirty="0">
                <a:solidFill>
                  <a:srgbClr val="0000FF"/>
                </a:solidFill>
              </a:rPr>
              <a:t>        &lt;strong&gt;Hello&lt;/strong&gt; World!</a:t>
            </a:r>
          </a:p>
          <a:p>
            <a:pPr marL="0" indent="0">
              <a:lnSpc>
                <a:spcPct val="120000"/>
              </a:lnSpc>
              <a:spcBef>
                <a:spcPts val="0"/>
              </a:spcBef>
              <a:buNone/>
            </a:pPr>
            <a:r>
              <a:rPr lang="en-IN" sz="2000" dirty="0">
                <a:solidFill>
                  <a:srgbClr val="0000FF"/>
                </a:solidFill>
              </a:rPr>
              <a:t>    &lt;/div&gt;</a:t>
            </a:r>
          </a:p>
          <a:p>
            <a:pPr marL="0" indent="0">
              <a:lnSpc>
                <a:spcPct val="120000"/>
              </a:lnSpc>
              <a:spcBef>
                <a:spcPts val="0"/>
              </a:spcBef>
              <a:buNone/>
            </a:pPr>
            <a:r>
              <a:rPr lang="en-IN" sz="2000" dirty="0"/>
              <a:t>&lt;button onclick="</a:t>
            </a:r>
            <a:r>
              <a:rPr lang="en-IN" sz="2000" dirty="0" err="1"/>
              <a:t>showInnerHTML</a:t>
            </a:r>
            <a:r>
              <a:rPr lang="en-IN" sz="2000" dirty="0"/>
              <a:t>()"&gt;Show </a:t>
            </a:r>
            <a:r>
              <a:rPr lang="en-IN" sz="2000" dirty="0" err="1"/>
              <a:t>innerHTML</a:t>
            </a:r>
            <a:r>
              <a:rPr lang="en-IN" sz="2000" dirty="0"/>
              <a:t>&lt;/button&gt;</a:t>
            </a:r>
          </a:p>
          <a:p>
            <a:pPr marL="0" indent="0">
              <a:lnSpc>
                <a:spcPct val="120000"/>
              </a:lnSpc>
              <a:spcBef>
                <a:spcPts val="0"/>
              </a:spcBef>
              <a:buNone/>
            </a:pPr>
            <a:r>
              <a:rPr lang="en-IN" sz="2000" dirty="0"/>
              <a:t>&lt;button onclick="</a:t>
            </a:r>
            <a:r>
              <a:rPr lang="en-IN" sz="2000" dirty="0" err="1"/>
              <a:t>showInnerText</a:t>
            </a:r>
            <a:r>
              <a:rPr lang="en-IN" sz="2000" dirty="0"/>
              <a:t>()"&gt;Show </a:t>
            </a:r>
            <a:r>
              <a:rPr lang="en-IN" sz="2000" dirty="0" err="1"/>
              <a:t>innerText</a:t>
            </a:r>
            <a:r>
              <a:rPr lang="en-IN" sz="2000" dirty="0"/>
              <a:t>&lt;/button&gt;</a:t>
            </a:r>
          </a:p>
          <a:p>
            <a:pPr marL="0" indent="0">
              <a:lnSpc>
                <a:spcPct val="120000"/>
              </a:lnSpc>
              <a:spcBef>
                <a:spcPts val="0"/>
              </a:spcBef>
              <a:buNone/>
            </a:pPr>
            <a:r>
              <a:rPr lang="en-IN" sz="2000" dirty="0">
                <a:solidFill>
                  <a:srgbClr val="0000FF"/>
                </a:solidFill>
              </a:rPr>
              <a:t>    &lt;p id="output"&gt;&lt;/p&gt;</a:t>
            </a:r>
          </a:p>
          <a:p>
            <a:pPr marL="0" indent="0">
              <a:lnSpc>
                <a:spcPct val="120000"/>
              </a:lnSpc>
              <a:spcBef>
                <a:spcPts val="0"/>
              </a:spcBef>
              <a:buNone/>
            </a:pPr>
            <a:endParaRPr lang="en-IN" sz="2000" dirty="0"/>
          </a:p>
        </p:txBody>
      </p:sp>
      <p:sp>
        <p:nvSpPr>
          <p:cNvPr id="7" name="TextBox 6">
            <a:extLst>
              <a:ext uri="{FF2B5EF4-FFF2-40B4-BE49-F238E27FC236}">
                <a16:creationId xmlns:a16="http://schemas.microsoft.com/office/drawing/2014/main" id="{4B1BB266-6978-E274-3BEE-2F878423A22A}"/>
              </a:ext>
            </a:extLst>
          </p:cNvPr>
          <p:cNvSpPr txBox="1"/>
          <p:nvPr/>
        </p:nvSpPr>
        <p:spPr>
          <a:xfrm>
            <a:off x="-1" y="121457"/>
            <a:ext cx="9051533" cy="949171"/>
          </a:xfrm>
          <a:prstGeom prst="rect">
            <a:avLst/>
          </a:prstGeom>
          <a:noFill/>
        </p:spPr>
        <p:txBody>
          <a:bodyPr wrap="square">
            <a:spAutoFit/>
          </a:bodyPr>
          <a:lstStyle/>
          <a:p>
            <a:pPr marL="0" indent="0">
              <a:lnSpc>
                <a:spcPct val="120000"/>
              </a:lnSpc>
              <a:spcBef>
                <a:spcPts val="0"/>
              </a:spcBef>
              <a:buNone/>
            </a:pPr>
            <a:r>
              <a:rPr lang="en-US" sz="2400" dirty="0" err="1">
                <a:solidFill>
                  <a:srgbClr val="C00000"/>
                </a:solidFill>
              </a:rPr>
              <a:t>innerHTML</a:t>
            </a:r>
            <a:r>
              <a:rPr lang="en-US" sz="2400" dirty="0">
                <a:solidFill>
                  <a:srgbClr val="C00000"/>
                </a:solidFill>
              </a:rPr>
              <a:t> and </a:t>
            </a:r>
            <a:r>
              <a:rPr lang="en-US" sz="2400" dirty="0" err="1">
                <a:solidFill>
                  <a:srgbClr val="C00000"/>
                </a:solidFill>
              </a:rPr>
              <a:t>innerText</a:t>
            </a:r>
            <a:r>
              <a:rPr lang="en-US" sz="2400" dirty="0">
                <a:solidFill>
                  <a:srgbClr val="C00000"/>
                </a:solidFill>
              </a:rPr>
              <a:t> are both used to get or set the content of an HTML element, but they behave differently.</a:t>
            </a:r>
          </a:p>
        </p:txBody>
      </p:sp>
      <p:sp>
        <p:nvSpPr>
          <p:cNvPr id="9" name="TextBox 8">
            <a:extLst>
              <a:ext uri="{FF2B5EF4-FFF2-40B4-BE49-F238E27FC236}">
                <a16:creationId xmlns:a16="http://schemas.microsoft.com/office/drawing/2014/main" id="{E2CF163F-C761-3ADD-64B8-96AEBF76133B}"/>
              </a:ext>
            </a:extLst>
          </p:cNvPr>
          <p:cNvSpPr txBox="1"/>
          <p:nvPr/>
        </p:nvSpPr>
        <p:spPr>
          <a:xfrm>
            <a:off x="3842535" y="1283445"/>
            <a:ext cx="5443376" cy="4708981"/>
          </a:xfrm>
          <a:prstGeom prst="rect">
            <a:avLst/>
          </a:prstGeom>
          <a:noFill/>
        </p:spPr>
        <p:txBody>
          <a:bodyPr wrap="square">
            <a:spAutoFit/>
          </a:bodyPr>
          <a:lstStyle/>
          <a:p>
            <a:r>
              <a:rPr lang="en-IN" sz="2000" dirty="0"/>
              <a:t> &lt;script&gt;</a:t>
            </a:r>
          </a:p>
          <a:p>
            <a:r>
              <a:rPr lang="en-IN" sz="2000" dirty="0"/>
              <a:t> function </a:t>
            </a:r>
            <a:r>
              <a:rPr lang="en-IN" sz="2000" dirty="0" err="1"/>
              <a:t>showInnerHTML</a:t>
            </a:r>
            <a:r>
              <a:rPr lang="en-IN" sz="2000" dirty="0"/>
              <a:t>() {           </a:t>
            </a:r>
          </a:p>
          <a:p>
            <a:r>
              <a:rPr lang="en-IN" sz="2000" dirty="0"/>
              <a:t> </a:t>
            </a:r>
            <a:r>
              <a:rPr lang="en-IN" sz="2000" dirty="0" err="1">
                <a:solidFill>
                  <a:srgbClr val="0000FF"/>
                </a:solidFill>
              </a:rPr>
              <a:t>const</a:t>
            </a:r>
            <a:r>
              <a:rPr lang="en-IN" sz="2000" dirty="0">
                <a:solidFill>
                  <a:srgbClr val="0000FF"/>
                </a:solidFill>
              </a:rPr>
              <a:t> content = </a:t>
            </a:r>
            <a:r>
              <a:rPr lang="en-IN" sz="2000" dirty="0" err="1">
                <a:solidFill>
                  <a:srgbClr val="0000FF"/>
                </a:solidFill>
              </a:rPr>
              <a:t>document.getElementById</a:t>
            </a:r>
            <a:r>
              <a:rPr lang="en-IN" sz="2000" dirty="0">
                <a:solidFill>
                  <a:srgbClr val="0000FF"/>
                </a:solidFill>
              </a:rPr>
              <a:t>("demo").</a:t>
            </a:r>
            <a:r>
              <a:rPr lang="en-IN" sz="2000" dirty="0" err="1">
                <a:solidFill>
                  <a:srgbClr val="0000FF"/>
                </a:solidFill>
              </a:rPr>
              <a:t>innerHTML</a:t>
            </a:r>
            <a:r>
              <a:rPr lang="en-IN" sz="2000" dirty="0">
                <a:solidFill>
                  <a:srgbClr val="0000FF"/>
                </a:solidFill>
              </a:rPr>
              <a:t>;                </a:t>
            </a:r>
            <a:r>
              <a:rPr lang="en-IN" sz="2000" dirty="0" err="1"/>
              <a:t>document.getElementById</a:t>
            </a:r>
            <a:r>
              <a:rPr lang="en-IN" sz="2000" dirty="0"/>
              <a:t>("output").</a:t>
            </a:r>
            <a:r>
              <a:rPr lang="en-IN" sz="2000" dirty="0" err="1"/>
              <a:t>textContent</a:t>
            </a:r>
            <a:r>
              <a:rPr lang="en-IN" sz="2000" dirty="0"/>
              <a:t> = "</a:t>
            </a:r>
            <a:r>
              <a:rPr lang="en-IN" sz="2000" dirty="0" err="1"/>
              <a:t>innerHTML</a:t>
            </a:r>
            <a:r>
              <a:rPr lang="en-IN" sz="2000" dirty="0"/>
              <a:t>: " + content;          </a:t>
            </a:r>
          </a:p>
          <a:p>
            <a:r>
              <a:rPr lang="en-IN" sz="2000" dirty="0"/>
              <a:t>        }</a:t>
            </a:r>
          </a:p>
          <a:p>
            <a:endParaRPr lang="en-IN" sz="2000" dirty="0"/>
          </a:p>
          <a:p>
            <a:r>
              <a:rPr lang="en-IN" sz="2000" dirty="0"/>
              <a:t>function </a:t>
            </a:r>
            <a:r>
              <a:rPr lang="en-IN" sz="2000" dirty="0" err="1"/>
              <a:t>showInnerText</a:t>
            </a:r>
            <a:r>
              <a:rPr lang="en-IN" sz="2000" dirty="0"/>
              <a:t>() {           </a:t>
            </a:r>
          </a:p>
          <a:p>
            <a:r>
              <a:rPr lang="en-IN" sz="2000" dirty="0" err="1"/>
              <a:t>const</a:t>
            </a:r>
            <a:r>
              <a:rPr lang="en-IN" sz="2000" dirty="0"/>
              <a:t> content = </a:t>
            </a:r>
            <a:r>
              <a:rPr lang="en-IN" sz="2000" dirty="0" err="1">
                <a:solidFill>
                  <a:srgbClr val="0000FF"/>
                </a:solidFill>
              </a:rPr>
              <a:t>document.getElementById</a:t>
            </a:r>
            <a:r>
              <a:rPr lang="en-IN" sz="2000" dirty="0">
                <a:solidFill>
                  <a:srgbClr val="0000FF"/>
                </a:solidFill>
              </a:rPr>
              <a:t>("demo").</a:t>
            </a:r>
            <a:r>
              <a:rPr lang="en-IN" sz="2000" dirty="0" err="1">
                <a:solidFill>
                  <a:srgbClr val="0000FF"/>
                </a:solidFill>
              </a:rPr>
              <a:t>innerText</a:t>
            </a:r>
            <a:r>
              <a:rPr lang="en-IN" sz="2000" dirty="0">
                <a:solidFill>
                  <a:srgbClr val="0000FF"/>
                </a:solidFill>
              </a:rPr>
              <a:t>;                </a:t>
            </a:r>
            <a:r>
              <a:rPr lang="en-IN" sz="2000" dirty="0" err="1"/>
              <a:t>document.getElementById</a:t>
            </a:r>
            <a:r>
              <a:rPr lang="en-IN" sz="2000" dirty="0"/>
              <a:t>("output").</a:t>
            </a:r>
            <a:r>
              <a:rPr lang="en-IN" sz="2000" dirty="0" err="1"/>
              <a:t>textContent</a:t>
            </a:r>
            <a:r>
              <a:rPr lang="en-IN" sz="2000" dirty="0"/>
              <a:t> = "</a:t>
            </a:r>
            <a:r>
              <a:rPr lang="en-IN" sz="2000" dirty="0" err="1"/>
              <a:t>innerText</a:t>
            </a:r>
            <a:r>
              <a:rPr lang="en-IN" sz="2000" dirty="0"/>
              <a:t>: " + content;           </a:t>
            </a:r>
          </a:p>
          <a:p>
            <a:r>
              <a:rPr lang="en-IN" sz="2000" dirty="0"/>
              <a:t>}</a:t>
            </a:r>
          </a:p>
          <a:p>
            <a:r>
              <a:rPr lang="en-IN" sz="2000" dirty="0"/>
              <a:t>&lt;/script&gt;</a:t>
            </a:r>
          </a:p>
        </p:txBody>
      </p:sp>
      <p:pic>
        <p:nvPicPr>
          <p:cNvPr id="11" name="Picture 10">
            <a:extLst>
              <a:ext uri="{FF2B5EF4-FFF2-40B4-BE49-F238E27FC236}">
                <a16:creationId xmlns:a16="http://schemas.microsoft.com/office/drawing/2014/main" id="{442DB8C7-750A-8F14-3940-5CF164C5F15C}"/>
              </a:ext>
            </a:extLst>
          </p:cNvPr>
          <p:cNvPicPr>
            <a:picLocks noChangeAspect="1"/>
          </p:cNvPicPr>
          <p:nvPr/>
        </p:nvPicPr>
        <p:blipFill>
          <a:blip r:embed="rId2"/>
          <a:stretch>
            <a:fillRect/>
          </a:stretch>
        </p:blipFill>
        <p:spPr>
          <a:xfrm>
            <a:off x="157709" y="5986534"/>
            <a:ext cx="3921132" cy="806491"/>
          </a:xfrm>
          <a:prstGeom prst="rect">
            <a:avLst/>
          </a:prstGeom>
        </p:spPr>
      </p:pic>
      <p:pic>
        <p:nvPicPr>
          <p:cNvPr id="13" name="Picture 12">
            <a:extLst>
              <a:ext uri="{FF2B5EF4-FFF2-40B4-BE49-F238E27FC236}">
                <a16:creationId xmlns:a16="http://schemas.microsoft.com/office/drawing/2014/main" id="{F01EEE2F-BCBF-37C0-CF39-864D611F22BD}"/>
              </a:ext>
            </a:extLst>
          </p:cNvPr>
          <p:cNvPicPr>
            <a:picLocks noChangeAspect="1"/>
          </p:cNvPicPr>
          <p:nvPr/>
        </p:nvPicPr>
        <p:blipFill>
          <a:blip r:embed="rId3"/>
          <a:stretch>
            <a:fillRect/>
          </a:stretch>
        </p:blipFill>
        <p:spPr>
          <a:xfrm>
            <a:off x="4525764" y="5986534"/>
            <a:ext cx="3395611" cy="825542"/>
          </a:xfrm>
          <a:prstGeom prst="rect">
            <a:avLst/>
          </a:prstGeom>
        </p:spPr>
      </p:pic>
    </p:spTree>
    <p:extLst>
      <p:ext uri="{BB962C8B-B14F-4D97-AF65-F5344CB8AC3E}">
        <p14:creationId xmlns:p14="http://schemas.microsoft.com/office/powerpoint/2010/main" val="1455951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16F772-E5E7-D1DF-60CE-8E2D153FF5E5}"/>
              </a:ext>
            </a:extLst>
          </p:cNvPr>
          <p:cNvSpPr>
            <a:spLocks noGrp="1"/>
          </p:cNvSpPr>
          <p:nvPr>
            <p:ph idx="1"/>
          </p:nvPr>
        </p:nvSpPr>
        <p:spPr>
          <a:xfrm>
            <a:off x="314325" y="461288"/>
            <a:ext cx="8515350" cy="5935423"/>
          </a:xfrm>
        </p:spPr>
        <p:txBody>
          <a:bodyPr>
            <a:normAutofit/>
          </a:bodyPr>
          <a:lstStyle/>
          <a:p>
            <a:pPr algn="l">
              <a:lnSpc>
                <a:spcPct val="110000"/>
              </a:lnSpc>
              <a:spcBef>
                <a:spcPts val="0"/>
              </a:spcBef>
            </a:pPr>
            <a:r>
              <a:rPr lang="en-US" sz="2400" b="0" i="0" dirty="0">
                <a:solidFill>
                  <a:srgbClr val="000000"/>
                </a:solidFill>
                <a:effectLst/>
              </a:rPr>
              <a:t>JavaScript is a </a:t>
            </a:r>
            <a:r>
              <a:rPr lang="en-US" sz="2400" b="1" i="0" dirty="0">
                <a:solidFill>
                  <a:srgbClr val="000000"/>
                </a:solidFill>
                <a:effectLst/>
              </a:rPr>
              <a:t>dynamically typed language</a:t>
            </a:r>
            <a:r>
              <a:rPr lang="en-US" sz="2400" b="0" i="0" dirty="0">
                <a:solidFill>
                  <a:srgbClr val="000000"/>
                </a:solidFill>
                <a:effectLst/>
              </a:rPr>
              <a:t>, meaning variables are not bound to a specific data type. </a:t>
            </a:r>
          </a:p>
          <a:p>
            <a:pPr algn="l">
              <a:lnSpc>
                <a:spcPct val="110000"/>
              </a:lnSpc>
              <a:spcBef>
                <a:spcPts val="0"/>
              </a:spcBef>
            </a:pPr>
            <a:r>
              <a:rPr lang="en-US" sz="2400" b="0" i="0" dirty="0">
                <a:solidFill>
                  <a:srgbClr val="000000"/>
                </a:solidFill>
                <a:effectLst/>
              </a:rPr>
              <a:t>Instead, the </a:t>
            </a:r>
            <a:r>
              <a:rPr lang="en-US" sz="2400" b="0" i="0" dirty="0">
                <a:solidFill>
                  <a:srgbClr val="0000FF"/>
                </a:solidFill>
                <a:effectLst/>
              </a:rPr>
              <a:t>type is associated with the value stored in the variable </a:t>
            </a:r>
            <a:r>
              <a:rPr lang="en-US" sz="2400" b="0" i="0" dirty="0">
                <a:solidFill>
                  <a:srgbClr val="000000"/>
                </a:solidFill>
                <a:effectLst/>
              </a:rPr>
              <a:t>and is determined at runtime. This flexibility allows variables to hold different types of data at different points in the program.</a:t>
            </a:r>
          </a:p>
          <a:p>
            <a:pPr algn="l">
              <a:lnSpc>
                <a:spcPct val="110000"/>
              </a:lnSpc>
              <a:spcBef>
                <a:spcPts val="0"/>
              </a:spcBef>
            </a:pPr>
            <a:r>
              <a:rPr lang="en-US" sz="2400" b="0" i="0" dirty="0">
                <a:solidFill>
                  <a:srgbClr val="0000FF"/>
                </a:solidFill>
                <a:effectLst/>
              </a:rPr>
              <a:t>For example:</a:t>
            </a:r>
          </a:p>
          <a:p>
            <a:pPr algn="l">
              <a:lnSpc>
                <a:spcPct val="110000"/>
              </a:lnSpc>
              <a:spcBef>
                <a:spcPts val="0"/>
              </a:spcBef>
            </a:pPr>
            <a:r>
              <a:rPr lang="en-US" sz="2400" b="0" i="0" dirty="0">
                <a:solidFill>
                  <a:srgbClr val="1B6AC7"/>
                </a:solidFill>
                <a:effectLst/>
              </a:rPr>
              <a:t>let</a:t>
            </a:r>
            <a:r>
              <a:rPr lang="en-US" sz="2400" b="0" i="0" dirty="0">
                <a:solidFill>
                  <a:srgbClr val="000000"/>
                </a:solidFill>
                <a:effectLst/>
              </a:rPr>
              <a:t> x = 42; </a:t>
            </a:r>
            <a:r>
              <a:rPr lang="en-US" sz="2400" b="0" i="0" dirty="0">
                <a:solidFill>
                  <a:srgbClr val="14692E"/>
                </a:solidFill>
                <a:effectLst/>
              </a:rPr>
              <a:t>// x is a number</a:t>
            </a:r>
            <a:endParaRPr lang="en-US" sz="2400" b="0" i="0" dirty="0">
              <a:solidFill>
                <a:srgbClr val="000000"/>
              </a:solidFill>
              <a:effectLst/>
            </a:endParaRPr>
          </a:p>
          <a:p>
            <a:pPr algn="l">
              <a:lnSpc>
                <a:spcPct val="110000"/>
              </a:lnSpc>
              <a:spcBef>
                <a:spcPts val="0"/>
              </a:spcBef>
            </a:pPr>
            <a:r>
              <a:rPr lang="en-US" sz="2400" b="0" i="0" dirty="0">
                <a:solidFill>
                  <a:srgbClr val="000000"/>
                </a:solidFill>
                <a:effectLst/>
              </a:rPr>
              <a:t>console.log(x); </a:t>
            </a:r>
            <a:r>
              <a:rPr lang="en-US" sz="2400" b="0" i="0" dirty="0">
                <a:solidFill>
                  <a:srgbClr val="14692E"/>
                </a:solidFill>
                <a:effectLst/>
              </a:rPr>
              <a:t>// Output: 42</a:t>
            </a:r>
            <a:br>
              <a:rPr lang="en-US" sz="2400" b="0" i="0" dirty="0">
                <a:solidFill>
                  <a:srgbClr val="000000"/>
                </a:solidFill>
                <a:effectLst/>
              </a:rPr>
            </a:br>
            <a:r>
              <a:rPr lang="en-US" sz="2400" b="0" i="0" dirty="0">
                <a:solidFill>
                  <a:srgbClr val="000000"/>
                </a:solidFill>
                <a:effectLst/>
              </a:rPr>
              <a:t>x = </a:t>
            </a:r>
            <a:r>
              <a:rPr lang="en-US" sz="2400" b="0" i="0" dirty="0">
                <a:solidFill>
                  <a:srgbClr val="7E0B0B"/>
                </a:solidFill>
                <a:effectLst/>
              </a:rPr>
              <a:t>"hello"</a:t>
            </a:r>
            <a:r>
              <a:rPr lang="en-US" sz="2400" b="0" i="0" dirty="0">
                <a:solidFill>
                  <a:srgbClr val="000000"/>
                </a:solidFill>
                <a:effectLst/>
              </a:rPr>
              <a:t>; </a:t>
            </a:r>
            <a:r>
              <a:rPr lang="en-US" sz="2400" b="0" i="0" dirty="0">
                <a:solidFill>
                  <a:srgbClr val="14692E"/>
                </a:solidFill>
                <a:effectLst/>
              </a:rPr>
              <a:t>// x is now a string</a:t>
            </a:r>
            <a:endParaRPr lang="en-US" sz="2400" b="0" i="0" dirty="0">
              <a:solidFill>
                <a:srgbClr val="000000"/>
              </a:solidFill>
              <a:effectLst/>
            </a:endParaRPr>
          </a:p>
          <a:p>
            <a:pPr algn="l">
              <a:lnSpc>
                <a:spcPct val="110000"/>
              </a:lnSpc>
              <a:spcBef>
                <a:spcPts val="0"/>
              </a:spcBef>
            </a:pPr>
            <a:r>
              <a:rPr lang="en-US" sz="2400" b="0" i="0" dirty="0">
                <a:solidFill>
                  <a:srgbClr val="000000"/>
                </a:solidFill>
                <a:effectLst/>
              </a:rPr>
              <a:t>console.log(x); </a:t>
            </a:r>
            <a:r>
              <a:rPr lang="en-US" sz="2400" b="0" i="0" dirty="0">
                <a:solidFill>
                  <a:srgbClr val="14692E"/>
                </a:solidFill>
                <a:effectLst/>
              </a:rPr>
              <a:t>// Output: hello</a:t>
            </a:r>
            <a:br>
              <a:rPr lang="en-US" sz="2400" b="0" i="0" dirty="0">
                <a:solidFill>
                  <a:srgbClr val="000000"/>
                </a:solidFill>
                <a:effectLst/>
              </a:rPr>
            </a:br>
            <a:r>
              <a:rPr lang="en-US" sz="2400" b="0" i="0" dirty="0">
                <a:solidFill>
                  <a:srgbClr val="000000"/>
                </a:solidFill>
                <a:effectLst/>
              </a:rPr>
              <a:t>x = [1, 2, 3]; </a:t>
            </a:r>
            <a:r>
              <a:rPr lang="en-US" sz="2400" b="0" i="0" dirty="0">
                <a:solidFill>
                  <a:srgbClr val="14692E"/>
                </a:solidFill>
                <a:effectLst/>
              </a:rPr>
              <a:t>// x is now an array</a:t>
            </a:r>
            <a:endParaRPr lang="en-US" sz="2400" b="0" i="0" dirty="0">
              <a:solidFill>
                <a:srgbClr val="000000"/>
              </a:solidFill>
              <a:effectLst/>
            </a:endParaRPr>
          </a:p>
          <a:p>
            <a:pPr algn="l">
              <a:lnSpc>
                <a:spcPct val="110000"/>
              </a:lnSpc>
              <a:spcBef>
                <a:spcPts val="0"/>
              </a:spcBef>
            </a:pPr>
            <a:r>
              <a:rPr lang="en-US" sz="2400" b="0" i="0" dirty="0">
                <a:solidFill>
                  <a:srgbClr val="000000"/>
                </a:solidFill>
                <a:effectLst/>
              </a:rPr>
              <a:t>console.log(x); </a:t>
            </a:r>
            <a:r>
              <a:rPr lang="en-US" sz="2400" b="0" i="0" dirty="0">
                <a:solidFill>
                  <a:srgbClr val="14692E"/>
                </a:solidFill>
                <a:effectLst/>
              </a:rPr>
              <a:t>// Output: [1, 2, 3]</a:t>
            </a:r>
            <a:endParaRPr lang="en-US" sz="2400" b="0" i="0" dirty="0">
              <a:solidFill>
                <a:srgbClr val="000000"/>
              </a:solidFill>
              <a:effectLst/>
            </a:endParaRPr>
          </a:p>
          <a:p>
            <a:pPr marL="0" indent="0">
              <a:lnSpc>
                <a:spcPct val="110000"/>
              </a:lnSpc>
              <a:spcBef>
                <a:spcPts val="0"/>
              </a:spcBef>
              <a:buNone/>
            </a:pPr>
            <a:endParaRPr lang="en-IN" sz="2400" dirty="0"/>
          </a:p>
        </p:txBody>
      </p:sp>
    </p:spTree>
    <p:extLst>
      <p:ext uri="{BB962C8B-B14F-4D97-AF65-F5344CB8AC3E}">
        <p14:creationId xmlns:p14="http://schemas.microsoft.com/office/powerpoint/2010/main" val="556822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8F421DE-865C-960F-E76C-40F0F6D2A8E2}"/>
              </a:ext>
            </a:extLst>
          </p:cNvPr>
          <p:cNvSpPr txBox="1"/>
          <p:nvPr/>
        </p:nvSpPr>
        <p:spPr>
          <a:xfrm>
            <a:off x="245853" y="149143"/>
            <a:ext cx="8751843" cy="2308324"/>
          </a:xfrm>
          <a:prstGeom prst="rect">
            <a:avLst/>
          </a:prstGeom>
          <a:noFill/>
        </p:spPr>
        <p:txBody>
          <a:bodyPr wrap="square">
            <a:spAutoFit/>
          </a:bodyPr>
          <a:lstStyle/>
          <a:p>
            <a:pPr algn="l"/>
            <a:r>
              <a:rPr lang="en-US" b="1" i="0" dirty="0">
                <a:solidFill>
                  <a:srgbClr val="000000"/>
                </a:solidFill>
                <a:effectLst/>
                <a:latin typeface="Roboto" panose="02000000000000000000" pitchFamily="2" charset="0"/>
              </a:rPr>
              <a:t>Key Features of Dynamic Typing in JavaScript</a:t>
            </a:r>
          </a:p>
          <a:p>
            <a:pPr algn="l">
              <a:buFont typeface="Arial" panose="020B0604020202020204" pitchFamily="34" charset="0"/>
              <a:buChar char="•"/>
            </a:pPr>
            <a:r>
              <a:rPr lang="en-US" b="1" i="0" dirty="0">
                <a:solidFill>
                  <a:srgbClr val="000000"/>
                </a:solidFill>
                <a:effectLst/>
                <a:latin typeface="Roboto" panose="02000000000000000000" pitchFamily="2" charset="0"/>
              </a:rPr>
              <a:t>No Explicit Type Declaration</a:t>
            </a:r>
            <a:r>
              <a:rPr lang="en-US" b="0" i="0" dirty="0">
                <a:solidFill>
                  <a:srgbClr val="000000"/>
                </a:solidFill>
                <a:effectLst/>
                <a:latin typeface="Roboto" panose="02000000000000000000" pitchFamily="2" charset="0"/>
              </a:rPr>
              <a:t>: Unlike statically typed languages like Java or C++, you don't need to declare the type of a variable. The type is inferred based on the value assigned.</a:t>
            </a:r>
          </a:p>
          <a:p>
            <a:pPr algn="l">
              <a:buFont typeface="Arial" panose="020B0604020202020204" pitchFamily="34" charset="0"/>
              <a:buChar char="•"/>
            </a:pPr>
            <a:r>
              <a:rPr lang="en-US" b="1" i="0" dirty="0">
                <a:solidFill>
                  <a:srgbClr val="000000"/>
                </a:solidFill>
                <a:effectLst/>
                <a:latin typeface="Roboto" panose="02000000000000000000" pitchFamily="2" charset="0"/>
              </a:rPr>
              <a:t>Type Coercion</a:t>
            </a:r>
            <a:r>
              <a:rPr lang="en-US" b="0" i="0" dirty="0">
                <a:solidFill>
                  <a:srgbClr val="000000"/>
                </a:solidFill>
                <a:effectLst/>
                <a:latin typeface="Roboto" panose="02000000000000000000" pitchFamily="2" charset="0"/>
              </a:rPr>
              <a:t>: </a:t>
            </a:r>
            <a:r>
              <a:rPr lang="en-US" b="0" i="0" dirty="0">
                <a:solidFill>
                  <a:srgbClr val="0000FF"/>
                </a:solidFill>
                <a:effectLst/>
                <a:latin typeface="Roboto" panose="02000000000000000000" pitchFamily="2" charset="0"/>
              </a:rPr>
              <a:t>JavaScript automatically converts values between types </a:t>
            </a:r>
            <a:r>
              <a:rPr lang="en-US" b="0" i="0" dirty="0">
                <a:solidFill>
                  <a:srgbClr val="000000"/>
                </a:solidFill>
                <a:effectLst/>
                <a:latin typeface="Roboto" panose="02000000000000000000" pitchFamily="2" charset="0"/>
              </a:rPr>
              <a:t>when necessary. For instance:</a:t>
            </a:r>
          </a:p>
          <a:p>
            <a:pPr algn="l"/>
            <a:r>
              <a:rPr lang="en-US" b="0" i="0" dirty="0">
                <a:solidFill>
                  <a:srgbClr val="1B6AC7"/>
                </a:solidFill>
                <a:effectLst/>
                <a:latin typeface="Consolas" panose="020B0609020204030204" pitchFamily="49" charset="0"/>
              </a:rPr>
              <a:t>let</a:t>
            </a:r>
            <a:r>
              <a:rPr lang="en-US" b="0" i="0" dirty="0">
                <a:solidFill>
                  <a:srgbClr val="000000"/>
                </a:solidFill>
                <a:effectLst/>
                <a:latin typeface="Consolas" panose="020B0609020204030204" pitchFamily="49" charset="0"/>
              </a:rPr>
              <a:t> x = 5 + </a:t>
            </a:r>
            <a:r>
              <a:rPr lang="en-US" b="0" i="0" dirty="0">
                <a:solidFill>
                  <a:srgbClr val="7E0B0B"/>
                </a:solidFill>
                <a:effectLst/>
                <a:latin typeface="Consolas" panose="020B0609020204030204" pitchFamily="49" charset="0"/>
              </a:rPr>
              <a:t>"5"</a:t>
            </a:r>
            <a:r>
              <a:rPr lang="en-US" b="0" i="0" dirty="0">
                <a:solidFill>
                  <a:srgbClr val="000000"/>
                </a:solidFill>
                <a:effectLst/>
                <a:latin typeface="Consolas" panose="020B0609020204030204" pitchFamily="49" charset="0"/>
              </a:rPr>
              <a:t>; </a:t>
            </a:r>
            <a:r>
              <a:rPr lang="en-US" b="0" i="0" dirty="0">
                <a:solidFill>
                  <a:srgbClr val="14692E"/>
                </a:solidFill>
                <a:effectLst/>
                <a:latin typeface="Consolas" panose="020B0609020204030204" pitchFamily="49" charset="0"/>
              </a:rPr>
              <a:t>// Number 5 is coerced into a string</a:t>
            </a:r>
            <a:endParaRPr lang="en-US" b="0" i="0" dirty="0">
              <a:solidFill>
                <a:srgbClr val="000000"/>
              </a:solidFill>
              <a:effectLst/>
              <a:latin typeface="Consolas" panose="020B0609020204030204" pitchFamily="49" charset="0"/>
            </a:endParaRPr>
          </a:p>
          <a:p>
            <a:pPr algn="l"/>
            <a:r>
              <a:rPr lang="en-US" b="0" i="0" dirty="0">
                <a:solidFill>
                  <a:srgbClr val="000000"/>
                </a:solidFill>
                <a:effectLst/>
                <a:latin typeface="Consolas" panose="020B0609020204030204" pitchFamily="49" charset="0"/>
              </a:rPr>
              <a:t>console.log(x); </a:t>
            </a:r>
            <a:r>
              <a:rPr lang="en-US" b="0" i="0" dirty="0">
                <a:solidFill>
                  <a:srgbClr val="14692E"/>
                </a:solidFill>
                <a:effectLst/>
                <a:latin typeface="Consolas" panose="020B0609020204030204" pitchFamily="49" charset="0"/>
              </a:rPr>
              <a:t>// Output: "55"</a:t>
            </a:r>
            <a:endParaRPr lang="en-US" b="0" i="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265B03A7-D59B-780A-F81B-25EFBA014F69}"/>
              </a:ext>
            </a:extLst>
          </p:cNvPr>
          <p:cNvSpPr txBox="1"/>
          <p:nvPr/>
        </p:nvSpPr>
        <p:spPr>
          <a:xfrm>
            <a:off x="245853" y="2738539"/>
            <a:ext cx="8833448" cy="3970318"/>
          </a:xfrm>
          <a:prstGeom prst="rect">
            <a:avLst/>
          </a:prstGeom>
          <a:noFill/>
        </p:spPr>
        <p:txBody>
          <a:bodyPr wrap="square">
            <a:spAutoFit/>
          </a:bodyPr>
          <a:lstStyle/>
          <a:p>
            <a:r>
              <a:rPr lang="en-IN" dirty="0">
                <a:solidFill>
                  <a:srgbClr val="0000FF"/>
                </a:solidFill>
              </a:rPr>
              <a:t>Flexible Function Arguments: </a:t>
            </a:r>
            <a:r>
              <a:rPr lang="en-IN" dirty="0"/>
              <a:t>Functions in JavaScript can accept arguments of any type without requiring explicit type definitions:</a:t>
            </a:r>
          </a:p>
          <a:p>
            <a:r>
              <a:rPr lang="en-IN" dirty="0"/>
              <a:t>function print(x) {</a:t>
            </a:r>
          </a:p>
          <a:p>
            <a:r>
              <a:rPr lang="en-IN" dirty="0"/>
              <a:t>console.log(x);</a:t>
            </a:r>
          </a:p>
          <a:p>
            <a:r>
              <a:rPr lang="en-IN" dirty="0"/>
              <a:t>}</a:t>
            </a:r>
          </a:p>
          <a:p>
            <a:r>
              <a:rPr lang="en-IN" dirty="0">
                <a:solidFill>
                  <a:srgbClr val="0000FF"/>
                </a:solidFill>
              </a:rPr>
              <a:t>print(42); // Output: 42</a:t>
            </a:r>
          </a:p>
          <a:p>
            <a:r>
              <a:rPr lang="en-IN" dirty="0">
                <a:solidFill>
                  <a:srgbClr val="0000FF"/>
                </a:solidFill>
              </a:rPr>
              <a:t>print("hello"); // Output: hello</a:t>
            </a:r>
          </a:p>
          <a:p>
            <a:r>
              <a:rPr lang="en-IN" dirty="0">
                <a:solidFill>
                  <a:srgbClr val="0000FF"/>
                </a:solidFill>
              </a:rPr>
              <a:t>print({ key: "</a:t>
            </a:r>
            <a:r>
              <a:rPr lang="en-IN" dirty="0" err="1">
                <a:solidFill>
                  <a:srgbClr val="0000FF"/>
                </a:solidFill>
              </a:rPr>
              <a:t>val</a:t>
            </a:r>
            <a:r>
              <a:rPr lang="en-IN" dirty="0">
                <a:solidFill>
                  <a:srgbClr val="0000FF"/>
                </a:solidFill>
              </a:rPr>
              <a:t>" }); // Output: { key: '</a:t>
            </a:r>
            <a:r>
              <a:rPr lang="en-IN" dirty="0" err="1">
                <a:solidFill>
                  <a:srgbClr val="0000FF"/>
                </a:solidFill>
              </a:rPr>
              <a:t>val</a:t>
            </a:r>
            <a:r>
              <a:rPr lang="en-IN" dirty="0">
                <a:solidFill>
                  <a:srgbClr val="0000FF"/>
                </a:solidFill>
              </a:rPr>
              <a:t>' }</a:t>
            </a:r>
          </a:p>
          <a:p>
            <a:r>
              <a:rPr lang="en-IN" dirty="0"/>
              <a:t>Advantages and Considerations</a:t>
            </a:r>
          </a:p>
          <a:p>
            <a:r>
              <a:rPr lang="en-IN" dirty="0"/>
              <a:t>Dynamic typing makes JavaScript easier to program and more flexible, especially for rapid development. However, it can lead to runtime errors if type mismatches occur, and it may be slower compared to statically typed languages.</a:t>
            </a:r>
          </a:p>
          <a:p>
            <a:r>
              <a:rPr lang="en-IN" dirty="0"/>
              <a:t>For developers seeking more type safety, TypeScript is a superset of JavaScript that introduces static typing, enabling better error detection during development.</a:t>
            </a:r>
          </a:p>
        </p:txBody>
      </p:sp>
    </p:spTree>
    <p:extLst>
      <p:ext uri="{BB962C8B-B14F-4D97-AF65-F5344CB8AC3E}">
        <p14:creationId xmlns:p14="http://schemas.microsoft.com/office/powerpoint/2010/main" val="3443918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A1917-4FF0-293B-059A-21237EBC10B3}"/>
              </a:ext>
            </a:extLst>
          </p:cNvPr>
          <p:cNvSpPr>
            <a:spLocks noGrp="1"/>
          </p:cNvSpPr>
          <p:nvPr>
            <p:ph type="title"/>
          </p:nvPr>
        </p:nvSpPr>
        <p:spPr>
          <a:xfrm>
            <a:off x="176589" y="164386"/>
            <a:ext cx="2145372" cy="585627"/>
          </a:xfrm>
        </p:spPr>
        <p:txBody>
          <a:bodyPr>
            <a:normAutofit/>
          </a:bodyPr>
          <a:lstStyle/>
          <a:p>
            <a:r>
              <a:rPr lang="en-IN" sz="3200" dirty="0">
                <a:solidFill>
                  <a:srgbClr val="0000FF"/>
                </a:solidFill>
              </a:rPr>
              <a:t>Variables</a:t>
            </a:r>
          </a:p>
        </p:txBody>
      </p:sp>
      <p:pic>
        <p:nvPicPr>
          <p:cNvPr id="7" name="Picture 6">
            <a:extLst>
              <a:ext uri="{FF2B5EF4-FFF2-40B4-BE49-F238E27FC236}">
                <a16:creationId xmlns:a16="http://schemas.microsoft.com/office/drawing/2014/main" id="{AD950938-9378-D022-9DE6-95EBE025EF23}"/>
              </a:ext>
            </a:extLst>
          </p:cNvPr>
          <p:cNvPicPr>
            <a:picLocks noChangeAspect="1"/>
          </p:cNvPicPr>
          <p:nvPr/>
        </p:nvPicPr>
        <p:blipFill>
          <a:blip r:embed="rId2"/>
          <a:stretch>
            <a:fillRect/>
          </a:stretch>
        </p:blipFill>
        <p:spPr>
          <a:xfrm>
            <a:off x="215756" y="980085"/>
            <a:ext cx="5296105" cy="3205537"/>
          </a:xfrm>
          <a:prstGeom prst="rect">
            <a:avLst/>
          </a:prstGeom>
        </p:spPr>
      </p:pic>
      <p:pic>
        <p:nvPicPr>
          <p:cNvPr id="9" name="Picture 8">
            <a:extLst>
              <a:ext uri="{FF2B5EF4-FFF2-40B4-BE49-F238E27FC236}">
                <a16:creationId xmlns:a16="http://schemas.microsoft.com/office/drawing/2014/main" id="{ECB0452F-1033-405F-B3B2-AABB841836F5}"/>
              </a:ext>
            </a:extLst>
          </p:cNvPr>
          <p:cNvPicPr>
            <a:picLocks noChangeAspect="1"/>
          </p:cNvPicPr>
          <p:nvPr/>
        </p:nvPicPr>
        <p:blipFill>
          <a:blip r:embed="rId3"/>
          <a:stretch>
            <a:fillRect/>
          </a:stretch>
        </p:blipFill>
        <p:spPr>
          <a:xfrm>
            <a:off x="5855011" y="1064298"/>
            <a:ext cx="2878024" cy="3037110"/>
          </a:xfrm>
          <a:prstGeom prst="rect">
            <a:avLst/>
          </a:prstGeom>
        </p:spPr>
      </p:pic>
      <p:sp>
        <p:nvSpPr>
          <p:cNvPr id="11" name="TextBox 10">
            <a:extLst>
              <a:ext uri="{FF2B5EF4-FFF2-40B4-BE49-F238E27FC236}">
                <a16:creationId xmlns:a16="http://schemas.microsoft.com/office/drawing/2014/main" id="{2A2F504D-ADFB-1226-38CC-7BE593C385AD}"/>
              </a:ext>
            </a:extLst>
          </p:cNvPr>
          <p:cNvSpPr txBox="1"/>
          <p:nvPr/>
        </p:nvSpPr>
        <p:spPr>
          <a:xfrm>
            <a:off x="176590" y="4598559"/>
            <a:ext cx="8710556" cy="1200329"/>
          </a:xfrm>
          <a:prstGeom prst="rect">
            <a:avLst/>
          </a:prstGeom>
          <a:noFill/>
        </p:spPr>
        <p:txBody>
          <a:bodyPr wrap="square">
            <a:spAutoFit/>
          </a:bodyPr>
          <a:lstStyle/>
          <a:p>
            <a:r>
              <a:rPr lang="en-IN" sz="2400" dirty="0">
                <a:solidFill>
                  <a:srgbClr val="FF0000"/>
                </a:solidFill>
              </a:rPr>
              <a:t>undefined and null </a:t>
            </a:r>
            <a:r>
              <a:rPr lang="en-IN" sz="2400" dirty="0"/>
              <a:t>are two special values in JavaScript </a:t>
            </a:r>
          </a:p>
          <a:p>
            <a:r>
              <a:rPr lang="en-IN" sz="2400" dirty="0"/>
              <a:t>They both represent the absence of a value, but they are used differently.</a:t>
            </a:r>
          </a:p>
        </p:txBody>
      </p:sp>
    </p:spTree>
    <p:extLst>
      <p:ext uri="{BB962C8B-B14F-4D97-AF65-F5344CB8AC3E}">
        <p14:creationId xmlns:p14="http://schemas.microsoft.com/office/powerpoint/2010/main" val="69003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46DE94-3B08-1D14-525E-D4860C1575BE}"/>
              </a:ext>
            </a:extLst>
          </p:cNvPr>
          <p:cNvSpPr>
            <a:spLocks noGrp="1"/>
          </p:cNvSpPr>
          <p:nvPr>
            <p:ph idx="1"/>
          </p:nvPr>
        </p:nvSpPr>
        <p:spPr>
          <a:xfrm>
            <a:off x="628650" y="328773"/>
            <a:ext cx="7886700" cy="5848190"/>
          </a:xfrm>
        </p:spPr>
        <p:txBody>
          <a:bodyPr>
            <a:normAutofit lnSpcReduction="10000"/>
          </a:bodyPr>
          <a:lstStyle/>
          <a:p>
            <a:pPr marL="0" indent="0">
              <a:buNone/>
            </a:pPr>
            <a:r>
              <a:rPr lang="en-US" dirty="0">
                <a:solidFill>
                  <a:srgbClr val="0000FF"/>
                </a:solidFill>
              </a:rPr>
              <a:t>undefined</a:t>
            </a:r>
          </a:p>
          <a:p>
            <a:pPr marL="0" indent="0">
              <a:buNone/>
            </a:pPr>
            <a:r>
              <a:rPr lang="en-US" dirty="0"/>
              <a:t>A variable has the value undefined when it has been declared but has not been assigned a value.</a:t>
            </a:r>
          </a:p>
          <a:p>
            <a:pPr marL="0" indent="0">
              <a:buNone/>
            </a:pPr>
            <a:r>
              <a:rPr lang="en-US" dirty="0">
                <a:solidFill>
                  <a:srgbClr val="0000FF"/>
                </a:solidFill>
              </a:rPr>
              <a:t>Example 1</a:t>
            </a:r>
          </a:p>
          <a:p>
            <a:pPr marL="0" indent="0">
              <a:buNone/>
            </a:pPr>
            <a:r>
              <a:rPr lang="en-US" dirty="0"/>
              <a:t>let age;</a:t>
            </a:r>
          </a:p>
          <a:p>
            <a:pPr marL="0" indent="0">
              <a:buNone/>
            </a:pPr>
            <a:r>
              <a:rPr lang="en-US" dirty="0"/>
              <a:t>console.log(age);</a:t>
            </a:r>
          </a:p>
          <a:p>
            <a:pPr marL="0" indent="0">
              <a:buNone/>
            </a:pPr>
            <a:r>
              <a:rPr lang="en-US" dirty="0">
                <a:solidFill>
                  <a:srgbClr val="0000FF"/>
                </a:solidFill>
              </a:rPr>
              <a:t>Output</a:t>
            </a:r>
          </a:p>
          <a:p>
            <a:pPr marL="0" indent="0">
              <a:buNone/>
            </a:pPr>
            <a:r>
              <a:rPr lang="en-US" dirty="0"/>
              <a:t>Undefined</a:t>
            </a:r>
          </a:p>
          <a:p>
            <a:pPr marL="0" indent="0">
              <a:buNone/>
            </a:pPr>
            <a:r>
              <a:rPr lang="en-US" dirty="0"/>
              <a:t>---------------------------------------------</a:t>
            </a:r>
          </a:p>
          <a:p>
            <a:pPr marL="0" indent="0">
              <a:buNone/>
            </a:pPr>
            <a:r>
              <a:rPr lang="en-US" dirty="0"/>
              <a:t>The variable age exists.</a:t>
            </a:r>
          </a:p>
          <a:p>
            <a:pPr marL="0" indent="0">
              <a:buNone/>
            </a:pPr>
            <a:r>
              <a:rPr lang="en-US" dirty="0"/>
              <a:t>No value has been assigned to it.</a:t>
            </a:r>
          </a:p>
          <a:p>
            <a:pPr marL="0" indent="0">
              <a:buNone/>
            </a:pPr>
            <a:r>
              <a:rPr lang="en-US" dirty="0">
                <a:solidFill>
                  <a:srgbClr val="FF0000"/>
                </a:solidFill>
              </a:rPr>
              <a:t>JavaScript automatically gives it the value undefined</a:t>
            </a:r>
            <a:r>
              <a:rPr lang="en-US" dirty="0"/>
              <a:t>.</a:t>
            </a:r>
            <a:endParaRPr lang="en-IN" dirty="0"/>
          </a:p>
        </p:txBody>
      </p:sp>
    </p:spTree>
    <p:extLst>
      <p:ext uri="{BB962C8B-B14F-4D97-AF65-F5344CB8AC3E}">
        <p14:creationId xmlns:p14="http://schemas.microsoft.com/office/powerpoint/2010/main" val="3025994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75AC57-FDF7-82AB-9ABE-028829B80BD6}"/>
              </a:ext>
            </a:extLst>
          </p:cNvPr>
          <p:cNvSpPr txBox="1"/>
          <p:nvPr/>
        </p:nvSpPr>
        <p:spPr>
          <a:xfrm>
            <a:off x="226031" y="527477"/>
            <a:ext cx="8794679" cy="5509200"/>
          </a:xfrm>
          <a:prstGeom prst="rect">
            <a:avLst/>
          </a:prstGeom>
          <a:noFill/>
        </p:spPr>
        <p:txBody>
          <a:bodyPr wrap="square">
            <a:spAutoFit/>
          </a:bodyPr>
          <a:lstStyle/>
          <a:p>
            <a:r>
              <a:rPr lang="en-IN" sz="3200" dirty="0">
                <a:solidFill>
                  <a:srgbClr val="FF0000"/>
                </a:solidFill>
              </a:rPr>
              <a:t>Example 2</a:t>
            </a:r>
          </a:p>
          <a:p>
            <a:r>
              <a:rPr lang="en-IN" sz="3200" dirty="0"/>
              <a:t>A function that doesn't return anything returns undefined.</a:t>
            </a:r>
          </a:p>
          <a:p>
            <a:r>
              <a:rPr lang="en-IN" sz="3200" dirty="0"/>
              <a:t>function greet() {</a:t>
            </a:r>
          </a:p>
          <a:p>
            <a:r>
              <a:rPr lang="en-IN" sz="3200" dirty="0"/>
              <a:t>    console.log("Hello");</a:t>
            </a:r>
          </a:p>
          <a:p>
            <a:r>
              <a:rPr lang="en-IN" sz="3200" dirty="0"/>
              <a:t>}</a:t>
            </a:r>
          </a:p>
          <a:p>
            <a:r>
              <a:rPr lang="en-IN" sz="3200" dirty="0"/>
              <a:t>let result = greet();</a:t>
            </a:r>
          </a:p>
          <a:p>
            <a:r>
              <a:rPr lang="en-IN" sz="3200" dirty="0"/>
              <a:t>console.log(result);</a:t>
            </a:r>
          </a:p>
          <a:p>
            <a:r>
              <a:rPr lang="en-IN" sz="3200" dirty="0">
                <a:solidFill>
                  <a:srgbClr val="FF0000"/>
                </a:solidFill>
              </a:rPr>
              <a:t>Output</a:t>
            </a:r>
          </a:p>
          <a:p>
            <a:r>
              <a:rPr lang="en-IN" sz="3200" dirty="0"/>
              <a:t>Hello</a:t>
            </a:r>
          </a:p>
          <a:p>
            <a:r>
              <a:rPr lang="en-IN" sz="3200" dirty="0"/>
              <a:t>undefined</a:t>
            </a:r>
          </a:p>
        </p:txBody>
      </p:sp>
    </p:spTree>
    <p:extLst>
      <p:ext uri="{BB962C8B-B14F-4D97-AF65-F5344CB8AC3E}">
        <p14:creationId xmlns:p14="http://schemas.microsoft.com/office/powerpoint/2010/main" val="3061998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9B987C-45B1-B9EB-23B8-358CEA423AEF}"/>
              </a:ext>
            </a:extLst>
          </p:cNvPr>
          <p:cNvSpPr>
            <a:spLocks noGrp="1"/>
          </p:cNvSpPr>
          <p:nvPr>
            <p:ph idx="1"/>
          </p:nvPr>
        </p:nvSpPr>
        <p:spPr>
          <a:xfrm>
            <a:off x="314325" y="340518"/>
            <a:ext cx="8515350" cy="6176963"/>
          </a:xfrm>
        </p:spPr>
        <p:txBody>
          <a:bodyPr>
            <a:normAutofit fontScale="92500" lnSpcReduction="10000"/>
          </a:bodyPr>
          <a:lstStyle/>
          <a:p>
            <a:pPr marL="0" indent="0">
              <a:buNone/>
            </a:pPr>
            <a:r>
              <a:rPr lang="en-US" dirty="0">
                <a:solidFill>
                  <a:srgbClr val="0000FF"/>
                </a:solidFill>
              </a:rPr>
              <a:t>null</a:t>
            </a:r>
          </a:p>
          <a:p>
            <a:pPr marL="0" indent="0">
              <a:buNone/>
            </a:pPr>
            <a:r>
              <a:rPr lang="en-US" dirty="0"/>
              <a:t>null means there is intentionally no value.</a:t>
            </a:r>
          </a:p>
          <a:p>
            <a:pPr marL="0" indent="0">
              <a:buNone/>
            </a:pPr>
            <a:r>
              <a:rPr lang="en-US" dirty="0"/>
              <a:t>It is a value that you assign yourself.</a:t>
            </a:r>
          </a:p>
          <a:p>
            <a:pPr marL="0" indent="0">
              <a:buNone/>
            </a:pPr>
            <a:r>
              <a:rPr lang="en-US" dirty="0">
                <a:solidFill>
                  <a:srgbClr val="0000FF"/>
                </a:solidFill>
              </a:rPr>
              <a:t>Example</a:t>
            </a:r>
          </a:p>
          <a:p>
            <a:pPr marL="0" indent="0">
              <a:buNone/>
            </a:pPr>
            <a:r>
              <a:rPr lang="en-US" dirty="0"/>
              <a:t>let user = null;</a:t>
            </a:r>
          </a:p>
          <a:p>
            <a:pPr marL="0" indent="0">
              <a:buNone/>
            </a:pPr>
            <a:r>
              <a:rPr lang="en-US" dirty="0"/>
              <a:t>console.log(user);</a:t>
            </a:r>
          </a:p>
          <a:p>
            <a:pPr marL="0" indent="0">
              <a:buNone/>
            </a:pPr>
            <a:r>
              <a:rPr lang="en-US" dirty="0">
                <a:solidFill>
                  <a:srgbClr val="0000FF"/>
                </a:solidFill>
              </a:rPr>
              <a:t>Output</a:t>
            </a:r>
          </a:p>
          <a:p>
            <a:pPr marL="0" indent="0">
              <a:buNone/>
            </a:pPr>
            <a:r>
              <a:rPr lang="en-US" dirty="0"/>
              <a:t>null</a:t>
            </a:r>
          </a:p>
          <a:p>
            <a:pPr marL="0" indent="0">
              <a:buNone/>
            </a:pPr>
            <a:r>
              <a:rPr lang="en-US" dirty="0"/>
              <a:t>This means:</a:t>
            </a:r>
          </a:p>
          <a:p>
            <a:pPr marL="0" indent="0">
              <a:buNone/>
            </a:pPr>
            <a:r>
              <a:rPr lang="en-US" dirty="0"/>
              <a:t>"Currently, there is no user."</a:t>
            </a:r>
          </a:p>
          <a:p>
            <a:pPr marL="0" indent="0">
              <a:buNone/>
            </a:pPr>
            <a:r>
              <a:rPr lang="en-US" dirty="0"/>
              <a:t>Another example:</a:t>
            </a:r>
          </a:p>
          <a:p>
            <a:pPr marL="0" indent="0">
              <a:buNone/>
            </a:pPr>
            <a:r>
              <a:rPr lang="en-US" dirty="0"/>
              <a:t>let </a:t>
            </a:r>
            <a:r>
              <a:rPr lang="en-US" dirty="0" err="1"/>
              <a:t>selectedItem</a:t>
            </a:r>
            <a:r>
              <a:rPr lang="en-US" dirty="0"/>
              <a:t> = null;</a:t>
            </a:r>
          </a:p>
          <a:p>
            <a:pPr marL="0" indent="0">
              <a:buNone/>
            </a:pPr>
            <a:r>
              <a:rPr lang="en-US" dirty="0"/>
              <a:t>This means no item is selected yet.</a:t>
            </a:r>
            <a:endParaRPr lang="en-IN" dirty="0"/>
          </a:p>
        </p:txBody>
      </p:sp>
    </p:spTree>
    <p:extLst>
      <p:ext uri="{BB962C8B-B14F-4D97-AF65-F5344CB8AC3E}">
        <p14:creationId xmlns:p14="http://schemas.microsoft.com/office/powerpoint/2010/main" val="3209295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CDC24C-B625-B479-EF28-5FE1B718E96F}"/>
              </a:ext>
            </a:extLst>
          </p:cNvPr>
          <p:cNvSpPr txBox="1"/>
          <p:nvPr/>
        </p:nvSpPr>
        <p:spPr>
          <a:xfrm>
            <a:off x="448056" y="76492"/>
            <a:ext cx="8458200" cy="1200329"/>
          </a:xfrm>
          <a:prstGeom prst="rect">
            <a:avLst/>
          </a:prstGeom>
          <a:noFill/>
        </p:spPr>
        <p:txBody>
          <a:bodyPr wrap="square">
            <a:spAutoFit/>
          </a:bodyPr>
          <a:lstStyle/>
          <a:p>
            <a:r>
              <a:rPr lang="en-US" sz="2400" b="0" i="0" dirty="0">
                <a:solidFill>
                  <a:srgbClr val="273239"/>
                </a:solidFill>
                <a:effectLst/>
                <a:latin typeface="Nunito" pitchFamily="2" charset="0"/>
              </a:rPr>
              <a:t>In JavaScript, </a:t>
            </a:r>
            <a:r>
              <a:rPr lang="en-US" sz="2400" b="0" i="0" dirty="0">
                <a:solidFill>
                  <a:srgbClr val="0000FF"/>
                </a:solidFill>
                <a:effectLst/>
                <a:latin typeface="Nunito" pitchFamily="2" charset="0"/>
              </a:rPr>
              <a:t>an array </a:t>
            </a:r>
            <a:r>
              <a:rPr lang="en-US" sz="2400" b="0" i="0" dirty="0">
                <a:solidFill>
                  <a:srgbClr val="273239"/>
                </a:solidFill>
                <a:effectLst/>
                <a:latin typeface="Nunito" pitchFamily="2" charset="0"/>
              </a:rPr>
              <a:t>is an ordered list of values. Each value, known as an element, is assigned a numeric position in the array called its index.</a:t>
            </a:r>
            <a:endParaRPr lang="en-IN" sz="2400" dirty="0"/>
          </a:p>
        </p:txBody>
      </p:sp>
      <p:sp>
        <p:nvSpPr>
          <p:cNvPr id="5" name="TextBox 4">
            <a:extLst>
              <a:ext uri="{FF2B5EF4-FFF2-40B4-BE49-F238E27FC236}">
                <a16:creationId xmlns:a16="http://schemas.microsoft.com/office/drawing/2014/main" id="{8047059A-B58A-62A7-2689-645000B793AA}"/>
              </a:ext>
            </a:extLst>
          </p:cNvPr>
          <p:cNvSpPr txBox="1"/>
          <p:nvPr/>
        </p:nvSpPr>
        <p:spPr>
          <a:xfrm>
            <a:off x="448056" y="1465857"/>
            <a:ext cx="8695944" cy="1938992"/>
          </a:xfrm>
          <a:prstGeom prst="rect">
            <a:avLst/>
          </a:prstGeom>
          <a:noFill/>
        </p:spPr>
        <p:txBody>
          <a:bodyPr wrap="square">
            <a:spAutoFit/>
          </a:bodyPr>
          <a:lstStyle/>
          <a:p>
            <a:pPr algn="l" fontAlgn="base">
              <a:buFont typeface="Arial" panose="020B0604020202020204" pitchFamily="34" charset="0"/>
              <a:buChar char="•"/>
            </a:pPr>
            <a:r>
              <a:rPr lang="en-US" sz="2400" b="0" i="0" dirty="0">
                <a:solidFill>
                  <a:srgbClr val="273239"/>
                </a:solidFill>
                <a:effectLst/>
                <a:latin typeface="Nunito" pitchFamily="2" charset="0"/>
              </a:rPr>
              <a:t>The </a:t>
            </a:r>
            <a:r>
              <a:rPr lang="en-US" sz="2400" b="0" i="0" dirty="0">
                <a:solidFill>
                  <a:srgbClr val="0000FF"/>
                </a:solidFill>
                <a:effectLst/>
                <a:latin typeface="Nunito" pitchFamily="2" charset="0"/>
              </a:rPr>
              <a:t>indexing starts at 0, so the first element is at position 0</a:t>
            </a:r>
            <a:r>
              <a:rPr lang="en-US" sz="2400" b="0" i="0" dirty="0">
                <a:solidFill>
                  <a:srgbClr val="273239"/>
                </a:solidFill>
                <a:effectLst/>
                <a:latin typeface="Nunito" pitchFamily="2" charset="0"/>
              </a:rPr>
              <a:t>, the second at position 1, and so on.</a:t>
            </a:r>
          </a:p>
          <a:p>
            <a:pPr algn="l" fontAlgn="base">
              <a:buFont typeface="Arial" panose="020B0604020202020204" pitchFamily="34" charset="0"/>
              <a:buChar char="•"/>
            </a:pPr>
            <a:r>
              <a:rPr lang="en-US" sz="2400" b="0" i="0" dirty="0">
                <a:solidFill>
                  <a:srgbClr val="273239"/>
                </a:solidFill>
                <a:effectLst/>
                <a:latin typeface="Nunito" pitchFamily="2" charset="0"/>
              </a:rPr>
              <a:t>Arrays can hold </a:t>
            </a:r>
            <a:r>
              <a:rPr lang="en-US" sz="2400" b="0" i="0" dirty="0">
                <a:solidFill>
                  <a:srgbClr val="0000FF"/>
                </a:solidFill>
                <a:effectLst/>
                <a:latin typeface="Nunito" pitchFamily="2" charset="0"/>
              </a:rPr>
              <a:t>any type of data-such as numbers, strings, objects, or even other arrays-making </a:t>
            </a:r>
            <a:r>
              <a:rPr lang="en-US" sz="2400" b="0" i="0" dirty="0">
                <a:solidFill>
                  <a:srgbClr val="273239"/>
                </a:solidFill>
                <a:effectLst/>
                <a:latin typeface="Nunito" pitchFamily="2" charset="0"/>
              </a:rPr>
              <a:t>them a flexible and essential part of JavaScript programming.</a:t>
            </a:r>
          </a:p>
        </p:txBody>
      </p:sp>
      <p:pic>
        <p:nvPicPr>
          <p:cNvPr id="7" name="Picture 6">
            <a:extLst>
              <a:ext uri="{FF2B5EF4-FFF2-40B4-BE49-F238E27FC236}">
                <a16:creationId xmlns:a16="http://schemas.microsoft.com/office/drawing/2014/main" id="{A8531464-C6FE-47CB-B13B-B8FE0CA94510}"/>
              </a:ext>
            </a:extLst>
          </p:cNvPr>
          <p:cNvPicPr>
            <a:picLocks noChangeAspect="1"/>
          </p:cNvPicPr>
          <p:nvPr/>
        </p:nvPicPr>
        <p:blipFill>
          <a:blip r:embed="rId2"/>
          <a:stretch>
            <a:fillRect/>
          </a:stretch>
        </p:blipFill>
        <p:spPr>
          <a:xfrm>
            <a:off x="1557528" y="3593885"/>
            <a:ext cx="6028944" cy="3014472"/>
          </a:xfrm>
          <a:prstGeom prst="rect">
            <a:avLst/>
          </a:prstGeom>
        </p:spPr>
      </p:pic>
    </p:spTree>
    <p:extLst>
      <p:ext uri="{BB962C8B-B14F-4D97-AF65-F5344CB8AC3E}">
        <p14:creationId xmlns:p14="http://schemas.microsoft.com/office/powerpoint/2010/main" val="2400823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40B18F-3BE8-2453-5307-21EA6EFD0E96}"/>
              </a:ext>
            </a:extLst>
          </p:cNvPr>
          <p:cNvSpPr txBox="1"/>
          <p:nvPr/>
        </p:nvSpPr>
        <p:spPr>
          <a:xfrm>
            <a:off x="320040" y="549301"/>
            <a:ext cx="8311896" cy="2308324"/>
          </a:xfrm>
          <a:prstGeom prst="rect">
            <a:avLst/>
          </a:prstGeom>
          <a:noFill/>
        </p:spPr>
        <p:txBody>
          <a:bodyPr wrap="square">
            <a:spAutoFit/>
          </a:bodyPr>
          <a:lstStyle/>
          <a:p>
            <a:r>
              <a:rPr lang="en-IN" sz="2400" dirty="0"/>
              <a:t>// Creating an Array and Initializing with Values</a:t>
            </a:r>
          </a:p>
          <a:p>
            <a:r>
              <a:rPr lang="en-IN" sz="2400" dirty="0"/>
              <a:t>let b = [10, 20, 30];</a:t>
            </a:r>
          </a:p>
          <a:p>
            <a:r>
              <a:rPr lang="en-IN" sz="2400" dirty="0"/>
              <a:t>console.log(b);</a:t>
            </a:r>
          </a:p>
          <a:p>
            <a:r>
              <a:rPr lang="en-IN" sz="2400" dirty="0"/>
              <a:t>// Creating and Initializing an array with values</a:t>
            </a:r>
          </a:p>
          <a:p>
            <a:r>
              <a:rPr lang="en-IN" sz="2400" dirty="0"/>
              <a:t>let a = new Array(10, 20, 30);</a:t>
            </a:r>
          </a:p>
          <a:p>
            <a:r>
              <a:rPr lang="en-IN" sz="2400" dirty="0"/>
              <a:t>console.log(a);</a:t>
            </a:r>
          </a:p>
        </p:txBody>
      </p:sp>
      <p:sp>
        <p:nvSpPr>
          <p:cNvPr id="5" name="TextBox 4">
            <a:extLst>
              <a:ext uri="{FF2B5EF4-FFF2-40B4-BE49-F238E27FC236}">
                <a16:creationId xmlns:a16="http://schemas.microsoft.com/office/drawing/2014/main" id="{EB5345E3-B3F4-FF4B-C3B6-499DD35D2020}"/>
              </a:ext>
            </a:extLst>
          </p:cNvPr>
          <p:cNvSpPr txBox="1"/>
          <p:nvPr/>
        </p:nvSpPr>
        <p:spPr>
          <a:xfrm>
            <a:off x="320040" y="3429000"/>
            <a:ext cx="8046720" cy="2308324"/>
          </a:xfrm>
          <a:prstGeom prst="rect">
            <a:avLst/>
          </a:prstGeom>
          <a:noFill/>
        </p:spPr>
        <p:txBody>
          <a:bodyPr wrap="square">
            <a:spAutoFit/>
          </a:bodyPr>
          <a:lstStyle/>
          <a:p>
            <a:r>
              <a:rPr lang="en-IN" sz="2400" dirty="0"/>
              <a:t>// Creating an Array and Initializing with Values</a:t>
            </a:r>
          </a:p>
          <a:p>
            <a:r>
              <a:rPr lang="en-IN" sz="2400" dirty="0"/>
              <a:t>let a = ["HTML", "CSS", "JS"];</a:t>
            </a:r>
          </a:p>
          <a:p>
            <a:endParaRPr lang="en-IN" sz="2400" dirty="0"/>
          </a:p>
          <a:p>
            <a:r>
              <a:rPr lang="en-IN" sz="2400" dirty="0"/>
              <a:t>// Accessing Array Elements</a:t>
            </a:r>
          </a:p>
          <a:p>
            <a:r>
              <a:rPr lang="en-IN" sz="2400" dirty="0">
                <a:solidFill>
                  <a:srgbClr val="0000FF"/>
                </a:solidFill>
              </a:rPr>
              <a:t>console.log(a[0]);</a:t>
            </a:r>
          </a:p>
          <a:p>
            <a:r>
              <a:rPr lang="en-IN" sz="2400" dirty="0"/>
              <a:t>console.log(a[1]);</a:t>
            </a:r>
          </a:p>
        </p:txBody>
      </p:sp>
    </p:spTree>
    <p:extLst>
      <p:ext uri="{BB962C8B-B14F-4D97-AF65-F5344CB8AC3E}">
        <p14:creationId xmlns:p14="http://schemas.microsoft.com/office/powerpoint/2010/main" val="116257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EFB716C-0653-C6C3-CCB0-2C8B6BF237C5}"/>
              </a:ext>
            </a:extLst>
          </p:cNvPr>
          <p:cNvSpPr txBox="1"/>
          <p:nvPr/>
        </p:nvSpPr>
        <p:spPr>
          <a:xfrm>
            <a:off x="274320" y="226582"/>
            <a:ext cx="8385048" cy="3046988"/>
          </a:xfrm>
          <a:prstGeom prst="rect">
            <a:avLst/>
          </a:prstGeom>
          <a:noFill/>
        </p:spPr>
        <p:txBody>
          <a:bodyPr wrap="square">
            <a:spAutoFit/>
          </a:bodyPr>
          <a:lstStyle/>
          <a:p>
            <a:r>
              <a:rPr lang="en-IN" sz="2400" dirty="0">
                <a:solidFill>
                  <a:srgbClr val="0000FF"/>
                </a:solidFill>
              </a:rPr>
              <a:t>Accessing the Last Element of an Array</a:t>
            </a:r>
          </a:p>
          <a:p>
            <a:r>
              <a:rPr lang="en-IN" sz="2400" dirty="0"/>
              <a:t>We can access the last array element using [</a:t>
            </a:r>
            <a:r>
              <a:rPr lang="en-IN" sz="2400" dirty="0" err="1"/>
              <a:t>array.length</a:t>
            </a:r>
            <a:r>
              <a:rPr lang="en-IN" sz="2400" dirty="0"/>
              <a:t> - 1] index number.</a:t>
            </a:r>
          </a:p>
          <a:p>
            <a:r>
              <a:rPr lang="en-IN" sz="2400" dirty="0"/>
              <a:t>// Creating an Array and Initializing with Values</a:t>
            </a:r>
          </a:p>
          <a:p>
            <a:r>
              <a:rPr lang="en-IN" sz="2400" dirty="0"/>
              <a:t>let a = ["HTML", "CSS", "JS"];​</a:t>
            </a:r>
          </a:p>
          <a:p>
            <a:r>
              <a:rPr lang="en-IN" sz="2400" dirty="0"/>
              <a:t>// Accessing Last Array Elements</a:t>
            </a:r>
          </a:p>
          <a:p>
            <a:r>
              <a:rPr lang="en-IN" sz="2400" dirty="0">
                <a:solidFill>
                  <a:srgbClr val="0000FF"/>
                </a:solidFill>
              </a:rPr>
              <a:t>let </a:t>
            </a:r>
            <a:r>
              <a:rPr lang="en-IN" sz="2400" dirty="0" err="1">
                <a:solidFill>
                  <a:srgbClr val="0000FF"/>
                </a:solidFill>
              </a:rPr>
              <a:t>lst</a:t>
            </a:r>
            <a:r>
              <a:rPr lang="en-IN" sz="2400" dirty="0">
                <a:solidFill>
                  <a:srgbClr val="0000FF"/>
                </a:solidFill>
              </a:rPr>
              <a:t> = a[</a:t>
            </a:r>
            <a:r>
              <a:rPr lang="en-IN" sz="2400" dirty="0" err="1">
                <a:solidFill>
                  <a:srgbClr val="0000FF"/>
                </a:solidFill>
              </a:rPr>
              <a:t>a.length</a:t>
            </a:r>
            <a:r>
              <a:rPr lang="en-IN" sz="2400" dirty="0">
                <a:solidFill>
                  <a:srgbClr val="0000FF"/>
                </a:solidFill>
              </a:rPr>
              <a:t> - 1];​</a:t>
            </a:r>
          </a:p>
          <a:p>
            <a:r>
              <a:rPr lang="en-IN" sz="2400" dirty="0"/>
              <a:t>console.log("Last Item: ", </a:t>
            </a:r>
            <a:r>
              <a:rPr lang="en-IN" sz="2400" dirty="0" err="1"/>
              <a:t>lst</a:t>
            </a:r>
            <a:r>
              <a:rPr lang="en-IN" sz="2400" dirty="0"/>
              <a:t>);</a:t>
            </a:r>
          </a:p>
        </p:txBody>
      </p:sp>
      <p:sp>
        <p:nvSpPr>
          <p:cNvPr id="13" name="TextBox 12">
            <a:extLst>
              <a:ext uri="{FF2B5EF4-FFF2-40B4-BE49-F238E27FC236}">
                <a16:creationId xmlns:a16="http://schemas.microsoft.com/office/drawing/2014/main" id="{33CC0126-6B62-4393-4C25-2426D1322720}"/>
              </a:ext>
            </a:extLst>
          </p:cNvPr>
          <p:cNvSpPr txBox="1"/>
          <p:nvPr/>
        </p:nvSpPr>
        <p:spPr>
          <a:xfrm>
            <a:off x="274320" y="3584431"/>
            <a:ext cx="7717536" cy="3046988"/>
          </a:xfrm>
          <a:prstGeom prst="rect">
            <a:avLst/>
          </a:prstGeom>
          <a:noFill/>
        </p:spPr>
        <p:txBody>
          <a:bodyPr wrap="square">
            <a:spAutoFit/>
          </a:bodyPr>
          <a:lstStyle/>
          <a:p>
            <a:r>
              <a:rPr lang="en-IN" sz="2400" dirty="0">
                <a:solidFill>
                  <a:srgbClr val="0000FF"/>
                </a:solidFill>
              </a:rPr>
              <a:t>Modifying the Array Elements</a:t>
            </a:r>
          </a:p>
          <a:p>
            <a:r>
              <a:rPr lang="en-IN" sz="2400" dirty="0"/>
              <a:t>Elements in an array can be modified by assigning a new value to their corresponding index.</a:t>
            </a:r>
          </a:p>
          <a:p>
            <a:r>
              <a:rPr lang="en-IN" sz="2400" dirty="0"/>
              <a:t>// Creating an Array and Initializing with Values</a:t>
            </a:r>
          </a:p>
          <a:p>
            <a:r>
              <a:rPr lang="en-IN" sz="2400" dirty="0"/>
              <a:t>let a = ["HTML", "CSS", "JS"];</a:t>
            </a:r>
          </a:p>
          <a:p>
            <a:r>
              <a:rPr lang="en-IN" sz="2400" dirty="0"/>
              <a:t>console.log(a);</a:t>
            </a:r>
          </a:p>
          <a:p>
            <a:r>
              <a:rPr lang="en-IN" sz="2400" dirty="0">
                <a:solidFill>
                  <a:srgbClr val="0000FF"/>
                </a:solidFill>
              </a:rPr>
              <a:t>​a[1]= "Bootstrap";</a:t>
            </a:r>
          </a:p>
          <a:p>
            <a:r>
              <a:rPr lang="en-IN" sz="2400" dirty="0"/>
              <a:t>console.log(a);</a:t>
            </a:r>
          </a:p>
        </p:txBody>
      </p:sp>
    </p:spTree>
    <p:extLst>
      <p:ext uri="{BB962C8B-B14F-4D97-AF65-F5344CB8AC3E}">
        <p14:creationId xmlns:p14="http://schemas.microsoft.com/office/powerpoint/2010/main" val="1330047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05A4F8-FC87-2B26-CF2F-839DF20C32E6}"/>
              </a:ext>
            </a:extLst>
          </p:cNvPr>
          <p:cNvSpPr txBox="1"/>
          <p:nvPr/>
        </p:nvSpPr>
        <p:spPr>
          <a:xfrm>
            <a:off x="512064" y="803761"/>
            <a:ext cx="7991856" cy="4893647"/>
          </a:xfrm>
          <a:prstGeom prst="rect">
            <a:avLst/>
          </a:prstGeom>
          <a:noFill/>
        </p:spPr>
        <p:txBody>
          <a:bodyPr wrap="square">
            <a:spAutoFit/>
          </a:bodyPr>
          <a:lstStyle/>
          <a:p>
            <a:r>
              <a:rPr lang="en-IN" sz="2400" dirty="0">
                <a:solidFill>
                  <a:srgbClr val="0000FF"/>
                </a:solidFill>
              </a:rPr>
              <a:t>Adding Elements to the Array</a:t>
            </a:r>
          </a:p>
          <a:p>
            <a:r>
              <a:rPr lang="en-IN" sz="2400" dirty="0"/>
              <a:t>Elements can be added to the array using methods like push() and unshift().</a:t>
            </a:r>
          </a:p>
          <a:p>
            <a:r>
              <a:rPr lang="en-IN" sz="2400" dirty="0">
                <a:solidFill>
                  <a:srgbClr val="0000FF"/>
                </a:solidFill>
              </a:rPr>
              <a:t>The push() method add the element to the end of the array.</a:t>
            </a:r>
          </a:p>
          <a:p>
            <a:r>
              <a:rPr lang="en-IN" sz="2400" dirty="0">
                <a:solidFill>
                  <a:srgbClr val="0000FF"/>
                </a:solidFill>
              </a:rPr>
              <a:t>The unshift() method add the element to the starting of the </a:t>
            </a:r>
            <a:r>
              <a:rPr lang="en-IN" sz="2400" dirty="0"/>
              <a:t>array.</a:t>
            </a:r>
          </a:p>
          <a:p>
            <a:r>
              <a:rPr lang="en-IN" sz="2400" dirty="0"/>
              <a:t>// Creating an Array and Initializing with Values</a:t>
            </a:r>
          </a:p>
          <a:p>
            <a:r>
              <a:rPr lang="en-IN" sz="2400" dirty="0"/>
              <a:t>let a = ["HTML", "CSS", "JS"];​</a:t>
            </a:r>
          </a:p>
          <a:p>
            <a:r>
              <a:rPr lang="en-IN" sz="2400" dirty="0"/>
              <a:t>// Add Element to the end of Array</a:t>
            </a:r>
          </a:p>
          <a:p>
            <a:r>
              <a:rPr lang="en-IN" sz="2400" dirty="0" err="1">
                <a:solidFill>
                  <a:srgbClr val="0000FF"/>
                </a:solidFill>
              </a:rPr>
              <a:t>a.push</a:t>
            </a:r>
            <a:r>
              <a:rPr lang="en-IN" sz="2400" dirty="0">
                <a:solidFill>
                  <a:srgbClr val="0000FF"/>
                </a:solidFill>
              </a:rPr>
              <a:t>("Node.js");​</a:t>
            </a:r>
          </a:p>
          <a:p>
            <a:r>
              <a:rPr lang="en-IN" sz="2400" dirty="0"/>
              <a:t>// Add Element to the beginning</a:t>
            </a:r>
          </a:p>
          <a:p>
            <a:r>
              <a:rPr lang="en-IN" sz="2400" dirty="0" err="1">
                <a:solidFill>
                  <a:srgbClr val="0000FF"/>
                </a:solidFill>
              </a:rPr>
              <a:t>a.unshift</a:t>
            </a:r>
            <a:r>
              <a:rPr lang="en-IN" sz="2400" dirty="0">
                <a:solidFill>
                  <a:srgbClr val="0000FF"/>
                </a:solidFill>
              </a:rPr>
              <a:t>("Web Development");​</a:t>
            </a:r>
          </a:p>
          <a:p>
            <a:r>
              <a:rPr lang="en-IN" sz="2400" dirty="0"/>
              <a:t>console.log(a);</a:t>
            </a:r>
          </a:p>
        </p:txBody>
      </p:sp>
    </p:spTree>
    <p:extLst>
      <p:ext uri="{BB962C8B-B14F-4D97-AF65-F5344CB8AC3E}">
        <p14:creationId xmlns:p14="http://schemas.microsoft.com/office/powerpoint/2010/main" val="1632412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C9552E-4ECB-D7F7-F0E4-EC3DFB662BEC}"/>
              </a:ext>
            </a:extLst>
          </p:cNvPr>
          <p:cNvSpPr txBox="1"/>
          <p:nvPr/>
        </p:nvSpPr>
        <p:spPr>
          <a:xfrm>
            <a:off x="118872" y="253550"/>
            <a:ext cx="8906256" cy="6186309"/>
          </a:xfrm>
          <a:prstGeom prst="rect">
            <a:avLst/>
          </a:prstGeom>
          <a:noFill/>
        </p:spPr>
        <p:txBody>
          <a:bodyPr wrap="square">
            <a:spAutoFit/>
          </a:bodyPr>
          <a:lstStyle/>
          <a:p>
            <a:r>
              <a:rPr lang="en-IN" sz="2200" dirty="0">
                <a:solidFill>
                  <a:srgbClr val="0000FF"/>
                </a:solidFill>
              </a:rPr>
              <a:t>Removing Elements from an Array</a:t>
            </a:r>
          </a:p>
          <a:p>
            <a:r>
              <a:rPr lang="en-IN" sz="2200" dirty="0"/>
              <a:t>To remove the elements from an array we have different methods like pop(), shift(), or splice().</a:t>
            </a:r>
          </a:p>
          <a:p>
            <a:r>
              <a:rPr lang="en-IN" sz="2200" dirty="0">
                <a:solidFill>
                  <a:srgbClr val="0000FF"/>
                </a:solidFill>
              </a:rPr>
              <a:t>The pop() method removes an element from the last index of the array.</a:t>
            </a:r>
          </a:p>
          <a:p>
            <a:r>
              <a:rPr lang="en-IN" sz="2200" dirty="0">
                <a:solidFill>
                  <a:srgbClr val="0000FF"/>
                </a:solidFill>
              </a:rPr>
              <a:t>The shift() method removes the element from the first index of the array.</a:t>
            </a:r>
          </a:p>
          <a:p>
            <a:r>
              <a:rPr lang="en-IN" sz="2200" dirty="0">
                <a:solidFill>
                  <a:srgbClr val="0000FF"/>
                </a:solidFill>
              </a:rPr>
              <a:t>The splice() method removes or replaces the element from the array.</a:t>
            </a:r>
          </a:p>
          <a:p>
            <a:r>
              <a:rPr lang="en-IN" sz="2200" dirty="0"/>
              <a:t>// Creating an Array and Initializing with Values</a:t>
            </a:r>
          </a:p>
          <a:p>
            <a:r>
              <a:rPr lang="en-IN" sz="2200" dirty="0"/>
              <a:t>let a = ["HTML", "CSS", "JS"];</a:t>
            </a:r>
          </a:p>
          <a:p>
            <a:r>
              <a:rPr lang="en-IN" sz="2200" dirty="0"/>
              <a:t>console.log("Original Array: " + a);</a:t>
            </a:r>
          </a:p>
          <a:p>
            <a:r>
              <a:rPr lang="en-IN" sz="2200" dirty="0"/>
              <a:t>​// Removes and returns the last element</a:t>
            </a:r>
          </a:p>
          <a:p>
            <a:r>
              <a:rPr lang="en-IN" sz="2200" dirty="0"/>
              <a:t>let </a:t>
            </a:r>
            <a:r>
              <a:rPr lang="en-IN" sz="2200" dirty="0" err="1"/>
              <a:t>lst</a:t>
            </a:r>
            <a:r>
              <a:rPr lang="en-IN" sz="2200" dirty="0"/>
              <a:t> = </a:t>
            </a:r>
            <a:r>
              <a:rPr lang="en-IN" sz="2200" dirty="0" err="1"/>
              <a:t>a.pop</a:t>
            </a:r>
            <a:r>
              <a:rPr lang="en-IN" sz="2200" dirty="0"/>
              <a:t>();</a:t>
            </a:r>
          </a:p>
          <a:p>
            <a:r>
              <a:rPr lang="en-IN" sz="2200" dirty="0"/>
              <a:t>console.log("After Removing the last: " + a);​</a:t>
            </a:r>
          </a:p>
          <a:p>
            <a:r>
              <a:rPr lang="en-IN" sz="2200" dirty="0"/>
              <a:t>// Removes and returns the first element</a:t>
            </a:r>
          </a:p>
          <a:p>
            <a:r>
              <a:rPr lang="en-IN" sz="2200" dirty="0"/>
              <a:t>let </a:t>
            </a:r>
            <a:r>
              <a:rPr lang="en-IN" sz="2200" dirty="0" err="1"/>
              <a:t>fst</a:t>
            </a:r>
            <a:r>
              <a:rPr lang="en-IN" sz="2200" dirty="0"/>
              <a:t> = </a:t>
            </a:r>
            <a:r>
              <a:rPr lang="en-IN" sz="2200" dirty="0" err="1"/>
              <a:t>a.shift</a:t>
            </a:r>
            <a:r>
              <a:rPr lang="en-IN" sz="2200" dirty="0"/>
              <a:t>();</a:t>
            </a:r>
          </a:p>
          <a:p>
            <a:r>
              <a:rPr lang="en-IN" sz="2200" dirty="0"/>
              <a:t>console.log("After Removing the First: " + a);​</a:t>
            </a:r>
          </a:p>
          <a:p>
            <a:r>
              <a:rPr lang="en-IN" sz="2200" dirty="0"/>
              <a:t>// Removes 2 elements starting from index 1</a:t>
            </a:r>
          </a:p>
          <a:p>
            <a:r>
              <a:rPr lang="en-IN" sz="2200" dirty="0" err="1"/>
              <a:t>a.splice</a:t>
            </a:r>
            <a:r>
              <a:rPr lang="en-IN" sz="2200" dirty="0"/>
              <a:t>(1, 2);</a:t>
            </a:r>
          </a:p>
          <a:p>
            <a:r>
              <a:rPr lang="en-IN" sz="2200" dirty="0"/>
              <a:t>console.log("After Removing 2 elements starting from index 1: " + a);</a:t>
            </a:r>
          </a:p>
        </p:txBody>
      </p:sp>
    </p:spTree>
    <p:extLst>
      <p:ext uri="{BB962C8B-B14F-4D97-AF65-F5344CB8AC3E}">
        <p14:creationId xmlns:p14="http://schemas.microsoft.com/office/powerpoint/2010/main" val="643375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BD4210-4CE4-D816-0E18-3F0222C020A2}"/>
              </a:ext>
            </a:extLst>
          </p:cNvPr>
          <p:cNvSpPr txBox="1"/>
          <p:nvPr/>
        </p:nvSpPr>
        <p:spPr>
          <a:xfrm>
            <a:off x="393192" y="533460"/>
            <a:ext cx="7699248" cy="4154984"/>
          </a:xfrm>
          <a:prstGeom prst="rect">
            <a:avLst/>
          </a:prstGeom>
          <a:noFill/>
        </p:spPr>
        <p:txBody>
          <a:bodyPr wrap="square">
            <a:spAutoFit/>
          </a:bodyPr>
          <a:lstStyle/>
          <a:p>
            <a:r>
              <a:rPr lang="en-IN" sz="2400" dirty="0">
                <a:solidFill>
                  <a:srgbClr val="0000FF"/>
                </a:solidFill>
              </a:rPr>
              <a:t>Increase and Decrease the Array Length</a:t>
            </a:r>
          </a:p>
          <a:p>
            <a:r>
              <a:rPr lang="en-IN" sz="2400" dirty="0"/>
              <a:t>We can increase and decrease the array length using the JavaScript length property.</a:t>
            </a:r>
          </a:p>
          <a:p>
            <a:r>
              <a:rPr lang="en-IN" sz="2400" dirty="0"/>
              <a:t>// Creating an Array and Initializing with Values</a:t>
            </a:r>
          </a:p>
          <a:p>
            <a:r>
              <a:rPr lang="en-IN" sz="2400" dirty="0"/>
              <a:t>let a = ["HTML", "CSS", "JS"]​</a:t>
            </a:r>
          </a:p>
          <a:p>
            <a:r>
              <a:rPr lang="en-IN" sz="2400" dirty="0"/>
              <a:t>// Increase the array length to 7</a:t>
            </a:r>
          </a:p>
          <a:p>
            <a:r>
              <a:rPr lang="en-IN" sz="2400" dirty="0" err="1">
                <a:solidFill>
                  <a:srgbClr val="0000FF"/>
                </a:solidFill>
              </a:rPr>
              <a:t>a.length</a:t>
            </a:r>
            <a:r>
              <a:rPr lang="en-IN" sz="2400" dirty="0">
                <a:solidFill>
                  <a:srgbClr val="0000FF"/>
                </a:solidFill>
              </a:rPr>
              <a:t> = 7;​</a:t>
            </a:r>
          </a:p>
          <a:p>
            <a:r>
              <a:rPr lang="en-IN" sz="2400" dirty="0"/>
              <a:t>console.log("After Increasing Length: ", a);​</a:t>
            </a:r>
          </a:p>
          <a:p>
            <a:r>
              <a:rPr lang="en-IN" sz="2400" dirty="0"/>
              <a:t>// Decrease the array length to 2</a:t>
            </a:r>
          </a:p>
          <a:p>
            <a:r>
              <a:rPr lang="en-IN" sz="2400" dirty="0" err="1">
                <a:solidFill>
                  <a:srgbClr val="0000FF"/>
                </a:solidFill>
              </a:rPr>
              <a:t>a.length</a:t>
            </a:r>
            <a:r>
              <a:rPr lang="en-IN" sz="2400" dirty="0">
                <a:solidFill>
                  <a:srgbClr val="0000FF"/>
                </a:solidFill>
              </a:rPr>
              <a:t> = 2;</a:t>
            </a:r>
          </a:p>
          <a:p>
            <a:r>
              <a:rPr lang="en-IN" sz="2400" dirty="0"/>
              <a:t>console.log("After Decreasing Length: ", a)</a:t>
            </a:r>
          </a:p>
        </p:txBody>
      </p:sp>
    </p:spTree>
    <p:extLst>
      <p:ext uri="{BB962C8B-B14F-4D97-AF65-F5344CB8AC3E}">
        <p14:creationId xmlns:p14="http://schemas.microsoft.com/office/powerpoint/2010/main" val="1436409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32247B-B1A8-8E3F-03CD-0C62717303B3}"/>
              </a:ext>
            </a:extLst>
          </p:cNvPr>
          <p:cNvSpPr txBox="1"/>
          <p:nvPr/>
        </p:nvSpPr>
        <p:spPr>
          <a:xfrm>
            <a:off x="365760" y="176844"/>
            <a:ext cx="8412480" cy="3416320"/>
          </a:xfrm>
          <a:prstGeom prst="rect">
            <a:avLst/>
          </a:prstGeom>
          <a:noFill/>
        </p:spPr>
        <p:txBody>
          <a:bodyPr wrap="square">
            <a:spAutoFit/>
          </a:bodyPr>
          <a:lstStyle/>
          <a:p>
            <a:r>
              <a:rPr lang="en-IN" sz="2400" dirty="0">
                <a:solidFill>
                  <a:srgbClr val="0000FF"/>
                </a:solidFill>
              </a:rPr>
              <a:t>Array Concatenation</a:t>
            </a:r>
          </a:p>
          <a:p>
            <a:r>
              <a:rPr lang="en-IN" sz="2400" dirty="0"/>
              <a:t>Combine two or more arrays using the </a:t>
            </a:r>
            <a:r>
              <a:rPr lang="en-IN" sz="2400" dirty="0" err="1"/>
              <a:t>concat</a:t>
            </a:r>
            <a:r>
              <a:rPr lang="en-IN" sz="2400" dirty="0"/>
              <a:t>() method. It returns new array containing joined arrays elements.</a:t>
            </a:r>
          </a:p>
          <a:p>
            <a:r>
              <a:rPr lang="en-IN" sz="2400" dirty="0"/>
              <a:t>// Creating an Array and Initializing with Values</a:t>
            </a:r>
          </a:p>
          <a:p>
            <a:r>
              <a:rPr lang="en-IN" sz="2400" dirty="0"/>
              <a:t>let a = ["HTML", "CSS", "JS", "React"];</a:t>
            </a:r>
          </a:p>
          <a:p>
            <a:r>
              <a:rPr lang="en-IN" sz="2400" dirty="0"/>
              <a:t>let b = ["Node.js", "Express.js"];​</a:t>
            </a:r>
          </a:p>
          <a:p>
            <a:r>
              <a:rPr lang="en-IN" sz="2400" dirty="0"/>
              <a:t>// Concatenate both arrays</a:t>
            </a:r>
          </a:p>
          <a:p>
            <a:r>
              <a:rPr lang="en-IN" sz="2400" dirty="0">
                <a:solidFill>
                  <a:srgbClr val="0000FF"/>
                </a:solidFill>
              </a:rPr>
              <a:t>let </a:t>
            </a:r>
            <a:r>
              <a:rPr lang="en-IN" sz="2400" dirty="0" err="1">
                <a:solidFill>
                  <a:srgbClr val="0000FF"/>
                </a:solidFill>
              </a:rPr>
              <a:t>concateArray</a:t>
            </a:r>
            <a:r>
              <a:rPr lang="en-IN" sz="2400" dirty="0">
                <a:solidFill>
                  <a:srgbClr val="0000FF"/>
                </a:solidFill>
              </a:rPr>
              <a:t> = </a:t>
            </a:r>
            <a:r>
              <a:rPr lang="en-IN" sz="2400" dirty="0" err="1">
                <a:solidFill>
                  <a:srgbClr val="0000FF"/>
                </a:solidFill>
              </a:rPr>
              <a:t>a.concat</a:t>
            </a:r>
            <a:r>
              <a:rPr lang="en-IN" sz="2400" dirty="0">
                <a:solidFill>
                  <a:srgbClr val="0000FF"/>
                </a:solidFill>
              </a:rPr>
              <a:t>(b);​</a:t>
            </a:r>
          </a:p>
          <a:p>
            <a:r>
              <a:rPr lang="en-IN" sz="2400" dirty="0"/>
              <a:t>console.log("Concatenated Array: ", </a:t>
            </a:r>
            <a:r>
              <a:rPr lang="en-IN" sz="2400" dirty="0" err="1"/>
              <a:t>concateArray</a:t>
            </a:r>
            <a:r>
              <a:rPr lang="en-IN" sz="2400" dirty="0"/>
              <a:t>);</a:t>
            </a:r>
          </a:p>
        </p:txBody>
      </p:sp>
      <p:sp>
        <p:nvSpPr>
          <p:cNvPr id="5" name="TextBox 4">
            <a:extLst>
              <a:ext uri="{FF2B5EF4-FFF2-40B4-BE49-F238E27FC236}">
                <a16:creationId xmlns:a16="http://schemas.microsoft.com/office/drawing/2014/main" id="{64EAF141-B5BE-67CA-A831-1CF9E6447079}"/>
              </a:ext>
            </a:extLst>
          </p:cNvPr>
          <p:cNvSpPr txBox="1"/>
          <p:nvPr/>
        </p:nvSpPr>
        <p:spPr>
          <a:xfrm>
            <a:off x="365760" y="3767328"/>
            <a:ext cx="7790688" cy="2677656"/>
          </a:xfrm>
          <a:prstGeom prst="rect">
            <a:avLst/>
          </a:prstGeom>
          <a:noFill/>
        </p:spPr>
        <p:txBody>
          <a:bodyPr wrap="square">
            <a:spAutoFit/>
          </a:bodyPr>
          <a:lstStyle/>
          <a:p>
            <a:r>
              <a:rPr lang="en-IN" sz="2400" dirty="0">
                <a:solidFill>
                  <a:srgbClr val="0000FF"/>
                </a:solidFill>
              </a:rPr>
              <a:t>Conversion of an Array to String</a:t>
            </a:r>
          </a:p>
          <a:p>
            <a:r>
              <a:rPr lang="en-IN" sz="2400" dirty="0"/>
              <a:t>We have a built-in method </a:t>
            </a:r>
            <a:r>
              <a:rPr lang="en-IN" sz="2400" dirty="0" err="1"/>
              <a:t>toString</a:t>
            </a:r>
            <a:r>
              <a:rPr lang="en-IN" sz="2400" dirty="0"/>
              <a:t>() to converts an array to a string.</a:t>
            </a:r>
          </a:p>
          <a:p>
            <a:r>
              <a:rPr lang="en-IN" sz="2400" dirty="0"/>
              <a:t>// Creating an Array and Initializing with Values</a:t>
            </a:r>
          </a:p>
          <a:p>
            <a:r>
              <a:rPr lang="en-IN" sz="2400" dirty="0"/>
              <a:t>let a = ["HTML", "CSS", "JS"];​</a:t>
            </a:r>
          </a:p>
          <a:p>
            <a:r>
              <a:rPr lang="en-IN" sz="2400" dirty="0"/>
              <a:t>// Convert array </a:t>
            </a:r>
            <a:r>
              <a:rPr lang="en-IN" sz="2400" dirty="0" err="1"/>
              <a:t>ot</a:t>
            </a:r>
            <a:r>
              <a:rPr lang="en-IN" sz="2400" dirty="0"/>
              <a:t> String</a:t>
            </a:r>
          </a:p>
          <a:p>
            <a:r>
              <a:rPr lang="en-IN" sz="2400" dirty="0">
                <a:solidFill>
                  <a:srgbClr val="0000FF"/>
                </a:solidFill>
              </a:rPr>
              <a:t>console.log(</a:t>
            </a:r>
            <a:r>
              <a:rPr lang="en-IN" sz="2400" dirty="0" err="1">
                <a:solidFill>
                  <a:srgbClr val="0000FF"/>
                </a:solidFill>
              </a:rPr>
              <a:t>a.toString</a:t>
            </a:r>
            <a:r>
              <a:rPr lang="en-IN" sz="2400" dirty="0">
                <a:solidFill>
                  <a:srgbClr val="0000FF"/>
                </a:solidFill>
              </a:rPr>
              <a:t>());</a:t>
            </a:r>
          </a:p>
        </p:txBody>
      </p:sp>
    </p:spTree>
    <p:extLst>
      <p:ext uri="{BB962C8B-B14F-4D97-AF65-F5344CB8AC3E}">
        <p14:creationId xmlns:p14="http://schemas.microsoft.com/office/powerpoint/2010/main" val="1223081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F582BF-4D3F-5ED3-577F-4F650497FD9A}"/>
              </a:ext>
            </a:extLst>
          </p:cNvPr>
          <p:cNvSpPr txBox="1"/>
          <p:nvPr/>
        </p:nvSpPr>
        <p:spPr>
          <a:xfrm>
            <a:off x="411480" y="473470"/>
            <a:ext cx="7178040" cy="2677656"/>
          </a:xfrm>
          <a:prstGeom prst="rect">
            <a:avLst/>
          </a:prstGeom>
          <a:noFill/>
        </p:spPr>
        <p:txBody>
          <a:bodyPr wrap="square">
            <a:spAutoFit/>
          </a:bodyPr>
          <a:lstStyle/>
          <a:p>
            <a:r>
              <a:rPr lang="en-IN" sz="2400" dirty="0">
                <a:solidFill>
                  <a:srgbClr val="0000FF"/>
                </a:solidFill>
              </a:rPr>
              <a:t>Check the Type of an Arrays</a:t>
            </a:r>
          </a:p>
          <a:p>
            <a:r>
              <a:rPr lang="en-IN" sz="2400" dirty="0"/>
              <a:t>The JavaScript </a:t>
            </a:r>
            <a:r>
              <a:rPr lang="en-IN" sz="2400" dirty="0" err="1"/>
              <a:t>typeof</a:t>
            </a:r>
            <a:r>
              <a:rPr lang="en-IN" sz="2400" dirty="0"/>
              <a:t> operator is used to check the type of an array. It </a:t>
            </a:r>
            <a:r>
              <a:rPr lang="en-IN" sz="2400" dirty="0">
                <a:solidFill>
                  <a:srgbClr val="0000FF"/>
                </a:solidFill>
              </a:rPr>
              <a:t>returns "object" for arrays</a:t>
            </a:r>
            <a:r>
              <a:rPr lang="en-IN" sz="2400" dirty="0"/>
              <a:t>.</a:t>
            </a:r>
          </a:p>
          <a:p>
            <a:r>
              <a:rPr lang="en-IN" sz="2400" dirty="0"/>
              <a:t>// Creating an Array and Initializing with Values</a:t>
            </a:r>
          </a:p>
          <a:p>
            <a:r>
              <a:rPr lang="en-IN" sz="2400" dirty="0"/>
              <a:t>let a = ["HTML", "CSS", "JS"];​</a:t>
            </a:r>
          </a:p>
          <a:p>
            <a:r>
              <a:rPr lang="en-IN" sz="2400" dirty="0"/>
              <a:t>// Check type of array</a:t>
            </a:r>
          </a:p>
          <a:p>
            <a:r>
              <a:rPr lang="en-IN" sz="2400" dirty="0"/>
              <a:t>console.log(</a:t>
            </a:r>
            <a:r>
              <a:rPr lang="en-IN" sz="2400" dirty="0" err="1"/>
              <a:t>typeof</a:t>
            </a:r>
            <a:r>
              <a:rPr lang="en-IN" sz="2400" dirty="0"/>
              <a:t> a);</a:t>
            </a:r>
          </a:p>
        </p:txBody>
      </p:sp>
    </p:spTree>
    <p:extLst>
      <p:ext uri="{BB962C8B-B14F-4D97-AF65-F5344CB8AC3E}">
        <p14:creationId xmlns:p14="http://schemas.microsoft.com/office/powerpoint/2010/main" val="3166267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2EE3CF-4FDD-9950-4137-DB23CA0FEAD8}"/>
              </a:ext>
            </a:extLst>
          </p:cNvPr>
          <p:cNvSpPr txBox="1"/>
          <p:nvPr/>
        </p:nvSpPr>
        <p:spPr>
          <a:xfrm>
            <a:off x="203454" y="134231"/>
            <a:ext cx="8581644" cy="707886"/>
          </a:xfrm>
          <a:prstGeom prst="rect">
            <a:avLst/>
          </a:prstGeom>
          <a:noFill/>
        </p:spPr>
        <p:txBody>
          <a:bodyPr wrap="square">
            <a:spAutoFit/>
          </a:bodyPr>
          <a:lstStyle/>
          <a:p>
            <a:r>
              <a:rPr lang="en-US" sz="2000" dirty="0"/>
              <a:t>JavaScript arrays can store values of different data types in the same array. This is possible because JavaScript is a dynamically typed language</a:t>
            </a:r>
            <a:endParaRPr lang="en-IN" sz="2000" dirty="0"/>
          </a:p>
        </p:txBody>
      </p:sp>
      <p:sp>
        <p:nvSpPr>
          <p:cNvPr id="5" name="TextBox 4">
            <a:extLst>
              <a:ext uri="{FF2B5EF4-FFF2-40B4-BE49-F238E27FC236}">
                <a16:creationId xmlns:a16="http://schemas.microsoft.com/office/drawing/2014/main" id="{AE5378EC-F3BA-31EA-0F23-AE7555FCF731}"/>
              </a:ext>
            </a:extLst>
          </p:cNvPr>
          <p:cNvSpPr txBox="1"/>
          <p:nvPr/>
        </p:nvSpPr>
        <p:spPr>
          <a:xfrm>
            <a:off x="166878" y="1107318"/>
            <a:ext cx="4023360" cy="4524315"/>
          </a:xfrm>
          <a:prstGeom prst="rect">
            <a:avLst/>
          </a:prstGeom>
          <a:noFill/>
        </p:spPr>
        <p:txBody>
          <a:bodyPr wrap="square">
            <a:spAutoFit/>
          </a:bodyPr>
          <a:lstStyle/>
          <a:p>
            <a:r>
              <a:rPr lang="en-IN" dirty="0"/>
              <a:t>let data = [</a:t>
            </a:r>
          </a:p>
          <a:p>
            <a:r>
              <a:rPr lang="en-IN" dirty="0"/>
              <a:t>    100,                    // Number</a:t>
            </a:r>
          </a:p>
          <a:p>
            <a:r>
              <a:rPr lang="en-IN" dirty="0"/>
              <a:t>    "John",                 // String</a:t>
            </a:r>
          </a:p>
          <a:p>
            <a:r>
              <a:rPr lang="en-IN" dirty="0"/>
              <a:t>    true,                   // Boolean</a:t>
            </a:r>
          </a:p>
          <a:p>
            <a:r>
              <a:rPr lang="en-IN" dirty="0"/>
              <a:t>    null,                   // Null</a:t>
            </a:r>
          </a:p>
          <a:p>
            <a:r>
              <a:rPr lang="en-IN" dirty="0"/>
              <a:t>    undefined,              // Undefined</a:t>
            </a:r>
          </a:p>
          <a:p>
            <a:r>
              <a:rPr lang="en-IN" dirty="0"/>
              <a:t>    { city: "Chennai" },    // Object</a:t>
            </a:r>
          </a:p>
          <a:p>
            <a:r>
              <a:rPr lang="en-IN" dirty="0"/>
              <a:t>    [10, 20],               // Array</a:t>
            </a:r>
          </a:p>
          <a:p>
            <a:r>
              <a:rPr lang="en-IN" dirty="0"/>
              <a:t>    function() {            // Function</a:t>
            </a:r>
          </a:p>
          <a:p>
            <a:r>
              <a:rPr lang="en-IN" dirty="0"/>
              <a:t>        return "Hello";</a:t>
            </a:r>
          </a:p>
          <a:p>
            <a:r>
              <a:rPr lang="en-IN" dirty="0"/>
              <a:t>    }</a:t>
            </a:r>
          </a:p>
          <a:p>
            <a:r>
              <a:rPr lang="en-IN" dirty="0"/>
              <a:t>];</a:t>
            </a:r>
          </a:p>
          <a:p>
            <a:endParaRPr lang="en-IN" dirty="0"/>
          </a:p>
          <a:p>
            <a:r>
              <a:rPr lang="en-IN" dirty="0"/>
              <a:t>console.log(data);</a:t>
            </a:r>
          </a:p>
          <a:p>
            <a:r>
              <a:rPr lang="en-IN" dirty="0"/>
              <a:t>console.log(data[6][1]);    // 20</a:t>
            </a:r>
          </a:p>
          <a:p>
            <a:r>
              <a:rPr lang="en-IN" dirty="0"/>
              <a:t>console.log(data[7]());     // Hello</a:t>
            </a:r>
          </a:p>
        </p:txBody>
      </p:sp>
      <p:sp>
        <p:nvSpPr>
          <p:cNvPr id="8" name="TextBox 7">
            <a:extLst>
              <a:ext uri="{FF2B5EF4-FFF2-40B4-BE49-F238E27FC236}">
                <a16:creationId xmlns:a16="http://schemas.microsoft.com/office/drawing/2014/main" id="{F712EB9C-6020-089B-B054-EA879B02A351}"/>
              </a:ext>
            </a:extLst>
          </p:cNvPr>
          <p:cNvSpPr txBox="1"/>
          <p:nvPr/>
        </p:nvSpPr>
        <p:spPr>
          <a:xfrm>
            <a:off x="3570732" y="872894"/>
            <a:ext cx="2916936" cy="3693319"/>
          </a:xfrm>
          <a:prstGeom prst="rect">
            <a:avLst/>
          </a:prstGeom>
          <a:noFill/>
        </p:spPr>
        <p:txBody>
          <a:bodyPr wrap="square">
            <a:spAutoFit/>
          </a:bodyPr>
          <a:lstStyle/>
          <a:p>
            <a:r>
              <a:rPr lang="en-IN" dirty="0">
                <a:solidFill>
                  <a:srgbClr val="0000FF"/>
                </a:solidFill>
              </a:rPr>
              <a:t>Output</a:t>
            </a:r>
          </a:p>
          <a:p>
            <a:r>
              <a:rPr lang="en-IN" dirty="0"/>
              <a:t>[</a:t>
            </a:r>
          </a:p>
          <a:p>
            <a:r>
              <a:rPr lang="en-IN" dirty="0"/>
              <a:t>  100,</a:t>
            </a:r>
          </a:p>
          <a:p>
            <a:r>
              <a:rPr lang="en-IN" dirty="0"/>
              <a:t>  "John",</a:t>
            </a:r>
          </a:p>
          <a:p>
            <a:r>
              <a:rPr lang="en-IN" dirty="0"/>
              <a:t>  true,</a:t>
            </a:r>
          </a:p>
          <a:p>
            <a:r>
              <a:rPr lang="en-IN" dirty="0"/>
              <a:t>  null,</a:t>
            </a:r>
          </a:p>
          <a:p>
            <a:r>
              <a:rPr lang="en-IN" dirty="0"/>
              <a:t>  undefined,</a:t>
            </a:r>
          </a:p>
          <a:p>
            <a:r>
              <a:rPr lang="en-IN" dirty="0"/>
              <a:t>  { city: "Chennai" },</a:t>
            </a:r>
          </a:p>
          <a:p>
            <a:r>
              <a:rPr lang="en-IN" dirty="0"/>
              <a:t>  [10, 20],</a:t>
            </a:r>
          </a:p>
          <a:p>
            <a:r>
              <a:rPr lang="en-IN" dirty="0"/>
              <a:t>  function() { return "Hello"; }</a:t>
            </a:r>
          </a:p>
          <a:p>
            <a:r>
              <a:rPr lang="en-IN" dirty="0"/>
              <a:t>]</a:t>
            </a:r>
          </a:p>
          <a:p>
            <a:r>
              <a:rPr lang="en-IN" dirty="0"/>
              <a:t>20</a:t>
            </a:r>
          </a:p>
          <a:p>
            <a:r>
              <a:rPr lang="en-IN" dirty="0"/>
              <a:t>Hello</a:t>
            </a:r>
          </a:p>
        </p:txBody>
      </p:sp>
      <p:sp>
        <p:nvSpPr>
          <p:cNvPr id="11" name="TextBox 10">
            <a:extLst>
              <a:ext uri="{FF2B5EF4-FFF2-40B4-BE49-F238E27FC236}">
                <a16:creationId xmlns:a16="http://schemas.microsoft.com/office/drawing/2014/main" id="{552BA083-3645-63FD-B058-6454F0D9136D}"/>
              </a:ext>
            </a:extLst>
          </p:cNvPr>
          <p:cNvSpPr txBox="1"/>
          <p:nvPr/>
        </p:nvSpPr>
        <p:spPr>
          <a:xfrm>
            <a:off x="4494276" y="4047006"/>
            <a:ext cx="4402836" cy="2585323"/>
          </a:xfrm>
          <a:prstGeom prst="rect">
            <a:avLst/>
          </a:prstGeom>
          <a:noFill/>
        </p:spPr>
        <p:txBody>
          <a:bodyPr wrap="square">
            <a:spAutoFit/>
          </a:bodyPr>
          <a:lstStyle/>
          <a:p>
            <a:r>
              <a:rPr lang="en-IN" dirty="0">
                <a:solidFill>
                  <a:srgbClr val="0000FF"/>
                </a:solidFill>
              </a:rPr>
              <a:t>Representing real-world data</a:t>
            </a:r>
          </a:p>
          <a:p>
            <a:r>
              <a:rPr lang="en-IN" dirty="0"/>
              <a:t>Suppose you want to store information about a student.</a:t>
            </a:r>
          </a:p>
          <a:p>
            <a:r>
              <a:rPr lang="en-IN" dirty="0"/>
              <a:t>let student = [</a:t>
            </a:r>
          </a:p>
          <a:p>
            <a:r>
              <a:rPr lang="en-IN" dirty="0"/>
              <a:t>    101,</a:t>
            </a:r>
          </a:p>
          <a:p>
            <a:r>
              <a:rPr lang="en-IN" dirty="0"/>
              <a:t>    "Alice",</a:t>
            </a:r>
          </a:p>
          <a:p>
            <a:r>
              <a:rPr lang="en-IN" dirty="0"/>
              <a:t>    89.5,</a:t>
            </a:r>
          </a:p>
          <a:p>
            <a:r>
              <a:rPr lang="en-IN" dirty="0"/>
              <a:t>    true</a:t>
            </a:r>
          </a:p>
          <a:p>
            <a:r>
              <a:rPr lang="en-IN" dirty="0"/>
              <a:t>];</a:t>
            </a:r>
          </a:p>
        </p:txBody>
      </p:sp>
    </p:spTree>
    <p:extLst>
      <p:ext uri="{BB962C8B-B14F-4D97-AF65-F5344CB8AC3E}">
        <p14:creationId xmlns:p14="http://schemas.microsoft.com/office/powerpoint/2010/main" val="2680540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A915045-3D2F-56AF-BF17-032546EA3519}"/>
              </a:ext>
            </a:extLst>
          </p:cNvPr>
          <p:cNvSpPr txBox="1"/>
          <p:nvPr/>
        </p:nvSpPr>
        <p:spPr>
          <a:xfrm>
            <a:off x="224287" y="104049"/>
            <a:ext cx="8695426" cy="6370975"/>
          </a:xfrm>
          <a:prstGeom prst="rect">
            <a:avLst/>
          </a:prstGeom>
          <a:noFill/>
        </p:spPr>
        <p:txBody>
          <a:bodyPr wrap="square">
            <a:spAutoFit/>
          </a:bodyPr>
          <a:lstStyle/>
          <a:p>
            <a:r>
              <a:rPr lang="en-IN" sz="2400" dirty="0"/>
              <a:t>In JavaScript, </a:t>
            </a:r>
            <a:r>
              <a:rPr lang="en-IN" sz="2400" dirty="0">
                <a:solidFill>
                  <a:srgbClr val="0000FF"/>
                </a:solidFill>
              </a:rPr>
              <a:t>objects are collections of properties</a:t>
            </a:r>
            <a:r>
              <a:rPr lang="en-IN" sz="2400" dirty="0"/>
              <a:t>, where a property is an association between a </a:t>
            </a:r>
            <a:r>
              <a:rPr lang="en-IN" sz="2400" dirty="0">
                <a:solidFill>
                  <a:srgbClr val="0000FF"/>
                </a:solidFill>
              </a:rPr>
              <a:t>name (or key) and a value. </a:t>
            </a:r>
            <a:r>
              <a:rPr lang="en-IN" sz="2400" dirty="0"/>
              <a:t>These values can be functions, in which case the property is known as a method. There are </a:t>
            </a:r>
            <a:r>
              <a:rPr lang="en-IN" sz="2400" dirty="0">
                <a:solidFill>
                  <a:srgbClr val="0000FF"/>
                </a:solidFill>
              </a:rPr>
              <a:t>several ways to create objects </a:t>
            </a:r>
            <a:r>
              <a:rPr lang="en-IN" sz="2400" dirty="0"/>
              <a:t>in JavaScript, each with its own use cases and advantages.</a:t>
            </a:r>
          </a:p>
          <a:p>
            <a:r>
              <a:rPr lang="en-IN" sz="2400" dirty="0">
                <a:solidFill>
                  <a:srgbClr val="0000FF"/>
                </a:solidFill>
              </a:rPr>
              <a:t>Using Object Literals</a:t>
            </a:r>
          </a:p>
          <a:p>
            <a:r>
              <a:rPr lang="en-IN" sz="2400" dirty="0"/>
              <a:t>The simplest way to create an object is by using an object literal. This method involves defining an object with a list of name-value pairs inside curly braces {}. For example:</a:t>
            </a:r>
          </a:p>
          <a:p>
            <a:r>
              <a:rPr lang="en-IN" sz="2400" dirty="0" err="1">
                <a:solidFill>
                  <a:srgbClr val="FF0000"/>
                </a:solidFill>
              </a:rPr>
              <a:t>const</a:t>
            </a:r>
            <a:r>
              <a:rPr lang="en-IN" sz="2400" dirty="0">
                <a:solidFill>
                  <a:srgbClr val="FF0000"/>
                </a:solidFill>
              </a:rPr>
              <a:t> person = {</a:t>
            </a:r>
          </a:p>
          <a:p>
            <a:r>
              <a:rPr lang="en-IN" sz="2400" dirty="0" err="1">
                <a:solidFill>
                  <a:srgbClr val="FF0000"/>
                </a:solidFill>
              </a:rPr>
              <a:t>firstName</a:t>
            </a:r>
            <a:r>
              <a:rPr lang="en-IN" sz="2400" dirty="0">
                <a:solidFill>
                  <a:srgbClr val="FF0000"/>
                </a:solidFill>
              </a:rPr>
              <a:t>: "John",</a:t>
            </a:r>
          </a:p>
          <a:p>
            <a:r>
              <a:rPr lang="en-IN" sz="2400" dirty="0" err="1">
                <a:solidFill>
                  <a:srgbClr val="FF0000"/>
                </a:solidFill>
              </a:rPr>
              <a:t>lastName</a:t>
            </a:r>
            <a:r>
              <a:rPr lang="en-IN" sz="2400" dirty="0">
                <a:solidFill>
                  <a:srgbClr val="FF0000"/>
                </a:solidFill>
              </a:rPr>
              <a:t>: "Doe",</a:t>
            </a:r>
          </a:p>
          <a:p>
            <a:r>
              <a:rPr lang="en-IN" sz="2400" dirty="0">
                <a:solidFill>
                  <a:srgbClr val="FF0000"/>
                </a:solidFill>
              </a:rPr>
              <a:t>age: 50,</a:t>
            </a:r>
          </a:p>
          <a:p>
            <a:r>
              <a:rPr lang="en-IN" sz="2400" dirty="0" err="1">
                <a:solidFill>
                  <a:srgbClr val="FF0000"/>
                </a:solidFill>
              </a:rPr>
              <a:t>eyeColor</a:t>
            </a:r>
            <a:r>
              <a:rPr lang="en-IN" sz="2400" dirty="0">
                <a:solidFill>
                  <a:srgbClr val="FF0000"/>
                </a:solidFill>
              </a:rPr>
              <a:t>: "blue"</a:t>
            </a:r>
          </a:p>
          <a:p>
            <a:r>
              <a:rPr lang="en-IN" sz="2400" dirty="0">
                <a:solidFill>
                  <a:srgbClr val="FF0000"/>
                </a:solidFill>
              </a:rPr>
              <a:t>};</a:t>
            </a:r>
          </a:p>
          <a:p>
            <a:r>
              <a:rPr lang="en-IN" sz="2400" dirty="0"/>
              <a:t>This creates an object person with properties </a:t>
            </a:r>
            <a:r>
              <a:rPr lang="en-IN" sz="2400" dirty="0" err="1"/>
              <a:t>firstName</a:t>
            </a:r>
            <a:r>
              <a:rPr lang="en-IN" sz="2400" dirty="0"/>
              <a:t>, </a:t>
            </a:r>
            <a:r>
              <a:rPr lang="en-IN" sz="2400" dirty="0" err="1"/>
              <a:t>lastName</a:t>
            </a:r>
            <a:r>
              <a:rPr lang="en-IN" sz="2400" dirty="0"/>
              <a:t>, age, and </a:t>
            </a:r>
            <a:r>
              <a:rPr lang="en-IN" sz="2400" dirty="0" err="1"/>
              <a:t>eyeColor</a:t>
            </a:r>
            <a:r>
              <a:rPr lang="en-IN" sz="2400" dirty="0"/>
              <a:t>.</a:t>
            </a:r>
          </a:p>
        </p:txBody>
      </p:sp>
      <p:sp>
        <p:nvSpPr>
          <p:cNvPr id="3" name="TextBox 2">
            <a:extLst>
              <a:ext uri="{FF2B5EF4-FFF2-40B4-BE49-F238E27FC236}">
                <a16:creationId xmlns:a16="http://schemas.microsoft.com/office/drawing/2014/main" id="{EDC37155-638B-2A4F-1353-E52BBD5DFE30}"/>
              </a:ext>
            </a:extLst>
          </p:cNvPr>
          <p:cNvSpPr txBox="1"/>
          <p:nvPr/>
        </p:nvSpPr>
        <p:spPr>
          <a:xfrm>
            <a:off x="4114800" y="3892219"/>
            <a:ext cx="4572000" cy="646331"/>
          </a:xfrm>
          <a:prstGeom prst="rect">
            <a:avLst/>
          </a:prstGeom>
          <a:noFill/>
          <a:ln w="22225">
            <a:solidFill>
              <a:srgbClr val="0000FF"/>
            </a:solidFill>
          </a:ln>
        </p:spPr>
        <p:txBody>
          <a:bodyPr wrap="square">
            <a:spAutoFit/>
          </a:bodyPr>
          <a:lstStyle/>
          <a:p>
            <a:r>
              <a:rPr lang="en-IN" dirty="0"/>
              <a:t>JavaScript objects are versatile and powerful tools for organizing and managing data.</a:t>
            </a:r>
          </a:p>
        </p:txBody>
      </p:sp>
    </p:spTree>
    <p:extLst>
      <p:ext uri="{BB962C8B-B14F-4D97-AF65-F5344CB8AC3E}">
        <p14:creationId xmlns:p14="http://schemas.microsoft.com/office/powerpoint/2010/main" val="715038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7B9F3D-A2CF-1445-D86C-92333454B18D}"/>
              </a:ext>
            </a:extLst>
          </p:cNvPr>
          <p:cNvSpPr txBox="1"/>
          <p:nvPr/>
        </p:nvSpPr>
        <p:spPr>
          <a:xfrm>
            <a:off x="411480" y="438001"/>
            <a:ext cx="8540496" cy="5632311"/>
          </a:xfrm>
          <a:prstGeom prst="rect">
            <a:avLst/>
          </a:prstGeom>
          <a:noFill/>
        </p:spPr>
        <p:txBody>
          <a:bodyPr wrap="square">
            <a:spAutoFit/>
          </a:bodyPr>
          <a:lstStyle/>
          <a:p>
            <a:r>
              <a:rPr lang="en-IN" sz="2400" b="1" dirty="0"/>
              <a:t>How to add method in Object Literal method of creating object?</a:t>
            </a:r>
          </a:p>
          <a:p>
            <a:r>
              <a:rPr lang="en-IN" sz="2400" dirty="0" err="1"/>
              <a:t>const</a:t>
            </a:r>
            <a:r>
              <a:rPr lang="en-IN" sz="2400" dirty="0"/>
              <a:t> person = {</a:t>
            </a:r>
          </a:p>
          <a:p>
            <a:r>
              <a:rPr lang="en-IN" sz="2400" dirty="0"/>
              <a:t>    </a:t>
            </a:r>
            <a:r>
              <a:rPr lang="en-IN" sz="2400" dirty="0" err="1"/>
              <a:t>firstName</a:t>
            </a:r>
            <a:r>
              <a:rPr lang="en-IN" sz="2400" dirty="0"/>
              <a:t>: "John",</a:t>
            </a:r>
          </a:p>
          <a:p>
            <a:r>
              <a:rPr lang="en-IN" sz="2400" dirty="0"/>
              <a:t>    </a:t>
            </a:r>
            <a:r>
              <a:rPr lang="en-IN" sz="2400" dirty="0" err="1"/>
              <a:t>lastName</a:t>
            </a:r>
            <a:r>
              <a:rPr lang="en-IN" sz="2400" dirty="0"/>
              <a:t>: "Doe",</a:t>
            </a:r>
          </a:p>
          <a:p>
            <a:r>
              <a:rPr lang="en-IN" sz="2400" dirty="0"/>
              <a:t>    age: 50,</a:t>
            </a:r>
          </a:p>
          <a:p>
            <a:r>
              <a:rPr lang="en-IN" sz="2400" dirty="0"/>
              <a:t>    </a:t>
            </a:r>
            <a:r>
              <a:rPr lang="en-IN" sz="2400" dirty="0" err="1"/>
              <a:t>eyeColor</a:t>
            </a:r>
            <a:r>
              <a:rPr lang="en-IN" sz="2400" dirty="0"/>
              <a:t>: "blue",</a:t>
            </a:r>
          </a:p>
          <a:p>
            <a:endParaRPr lang="en-IN" sz="2400" dirty="0"/>
          </a:p>
          <a:p>
            <a:r>
              <a:rPr lang="en-IN" sz="2400" dirty="0"/>
              <a:t>    </a:t>
            </a:r>
            <a:r>
              <a:rPr lang="en-IN" sz="2400" dirty="0" err="1">
                <a:solidFill>
                  <a:srgbClr val="0000FF"/>
                </a:solidFill>
              </a:rPr>
              <a:t>fullName</a:t>
            </a:r>
            <a:r>
              <a:rPr lang="en-IN" sz="2400" dirty="0">
                <a:solidFill>
                  <a:srgbClr val="0000FF"/>
                </a:solidFill>
              </a:rPr>
              <a:t>: function() {</a:t>
            </a:r>
          </a:p>
          <a:p>
            <a:r>
              <a:rPr lang="en-IN" sz="2400" dirty="0">
                <a:solidFill>
                  <a:srgbClr val="0000FF"/>
                </a:solidFill>
              </a:rPr>
              <a:t>        return </a:t>
            </a:r>
            <a:r>
              <a:rPr lang="en-IN" sz="2400" dirty="0" err="1">
                <a:solidFill>
                  <a:srgbClr val="0000FF"/>
                </a:solidFill>
              </a:rPr>
              <a:t>this.firstName</a:t>
            </a:r>
            <a:r>
              <a:rPr lang="en-IN" sz="2400" dirty="0">
                <a:solidFill>
                  <a:srgbClr val="0000FF"/>
                </a:solidFill>
              </a:rPr>
              <a:t> + " " + </a:t>
            </a:r>
            <a:r>
              <a:rPr lang="en-IN" sz="2400" dirty="0" err="1">
                <a:solidFill>
                  <a:srgbClr val="0000FF"/>
                </a:solidFill>
              </a:rPr>
              <a:t>this.lastName</a:t>
            </a:r>
            <a:r>
              <a:rPr lang="en-IN" sz="2400" dirty="0">
                <a:solidFill>
                  <a:srgbClr val="0000FF"/>
                </a:solidFill>
              </a:rPr>
              <a:t>;</a:t>
            </a:r>
          </a:p>
          <a:p>
            <a:r>
              <a:rPr lang="en-IN" sz="2400" dirty="0">
                <a:solidFill>
                  <a:srgbClr val="0000FF"/>
                </a:solidFill>
              </a:rPr>
              <a:t>    }</a:t>
            </a:r>
          </a:p>
          <a:p>
            <a:r>
              <a:rPr lang="en-IN" sz="2400" dirty="0"/>
              <a:t>};</a:t>
            </a:r>
          </a:p>
          <a:p>
            <a:r>
              <a:rPr lang="en-IN" sz="2400" dirty="0"/>
              <a:t>console.log(</a:t>
            </a:r>
            <a:r>
              <a:rPr lang="en-IN" sz="2400" dirty="0" err="1"/>
              <a:t>person.fullName</a:t>
            </a:r>
            <a:r>
              <a:rPr lang="en-IN" sz="2400" dirty="0"/>
              <a:t>());   // John Doe</a:t>
            </a:r>
          </a:p>
          <a:p>
            <a:endParaRPr lang="en-IN" sz="2400" dirty="0"/>
          </a:p>
          <a:p>
            <a:r>
              <a:rPr lang="en-IN" sz="2400" dirty="0" err="1">
                <a:solidFill>
                  <a:srgbClr val="0000FF"/>
                </a:solidFill>
              </a:rPr>
              <a:t>fullName</a:t>
            </a:r>
            <a:r>
              <a:rPr lang="en-IN" sz="2400" dirty="0"/>
              <a:t> is a method.</a:t>
            </a:r>
          </a:p>
          <a:p>
            <a:r>
              <a:rPr lang="en-IN" sz="2400" dirty="0">
                <a:solidFill>
                  <a:srgbClr val="0000FF"/>
                </a:solidFill>
              </a:rPr>
              <a:t>this</a:t>
            </a:r>
            <a:r>
              <a:rPr lang="en-IN" sz="2400" dirty="0"/>
              <a:t> refers to the current object (person).</a:t>
            </a:r>
          </a:p>
        </p:txBody>
      </p:sp>
    </p:spTree>
    <p:extLst>
      <p:ext uri="{BB962C8B-B14F-4D97-AF65-F5344CB8AC3E}">
        <p14:creationId xmlns:p14="http://schemas.microsoft.com/office/powerpoint/2010/main" val="1577301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80FCAC-14F6-2CA7-724B-ECBEB266591F}"/>
              </a:ext>
            </a:extLst>
          </p:cNvPr>
          <p:cNvSpPr txBox="1"/>
          <p:nvPr/>
        </p:nvSpPr>
        <p:spPr>
          <a:xfrm>
            <a:off x="142336" y="228896"/>
            <a:ext cx="8859328" cy="6001643"/>
          </a:xfrm>
          <a:prstGeom prst="rect">
            <a:avLst/>
          </a:prstGeom>
          <a:noFill/>
        </p:spPr>
        <p:txBody>
          <a:bodyPr wrap="square">
            <a:spAutoFit/>
          </a:bodyPr>
          <a:lstStyle/>
          <a:p>
            <a:r>
              <a:rPr lang="en-IN" sz="2400" dirty="0">
                <a:solidFill>
                  <a:srgbClr val="0000FF"/>
                </a:solidFill>
              </a:rPr>
              <a:t>Using the new Object() Syntax</a:t>
            </a:r>
          </a:p>
          <a:p>
            <a:r>
              <a:rPr lang="en-IN" sz="2400" dirty="0"/>
              <a:t>Another way to create an object is by using the new Object() syntax. </a:t>
            </a:r>
          </a:p>
          <a:p>
            <a:endParaRPr lang="en-IN" sz="2400" dirty="0"/>
          </a:p>
          <a:p>
            <a:r>
              <a:rPr lang="en-IN" sz="2400" dirty="0" err="1"/>
              <a:t>const</a:t>
            </a:r>
            <a:r>
              <a:rPr lang="en-IN" sz="2400" dirty="0"/>
              <a:t> person = new Object();</a:t>
            </a:r>
          </a:p>
          <a:p>
            <a:r>
              <a:rPr lang="en-IN" sz="2400" dirty="0" err="1"/>
              <a:t>person.firstName</a:t>
            </a:r>
            <a:r>
              <a:rPr lang="en-IN" sz="2400" dirty="0"/>
              <a:t> = "John";</a:t>
            </a:r>
          </a:p>
          <a:p>
            <a:r>
              <a:rPr lang="en-IN" sz="2400" dirty="0" err="1"/>
              <a:t>person.lastName</a:t>
            </a:r>
            <a:r>
              <a:rPr lang="en-IN" sz="2400" dirty="0"/>
              <a:t> = "Doe";</a:t>
            </a:r>
          </a:p>
          <a:p>
            <a:r>
              <a:rPr lang="en-IN" sz="2400" dirty="0" err="1"/>
              <a:t>person.age</a:t>
            </a:r>
            <a:r>
              <a:rPr lang="en-IN" sz="2400" dirty="0"/>
              <a:t> = 50;</a:t>
            </a:r>
          </a:p>
          <a:p>
            <a:r>
              <a:rPr lang="en-IN" sz="2400" dirty="0" err="1"/>
              <a:t>person.eyeColor</a:t>
            </a:r>
            <a:r>
              <a:rPr lang="en-IN" sz="2400" dirty="0"/>
              <a:t> = "blue";</a:t>
            </a:r>
          </a:p>
          <a:p>
            <a:r>
              <a:rPr lang="en-IN" sz="2400" dirty="0"/>
              <a:t>// Adding a method</a:t>
            </a:r>
          </a:p>
          <a:p>
            <a:r>
              <a:rPr lang="en-IN" sz="2400" dirty="0" err="1"/>
              <a:t>person.fullName</a:t>
            </a:r>
            <a:r>
              <a:rPr lang="en-IN" sz="2400" dirty="0"/>
              <a:t> = function() {</a:t>
            </a:r>
          </a:p>
          <a:p>
            <a:r>
              <a:rPr lang="en-IN" sz="2400" dirty="0"/>
              <a:t>    return </a:t>
            </a:r>
            <a:r>
              <a:rPr lang="en-IN" sz="2400" dirty="0" err="1"/>
              <a:t>this.firstName</a:t>
            </a:r>
            <a:r>
              <a:rPr lang="en-IN" sz="2400" dirty="0"/>
              <a:t> + " " + </a:t>
            </a:r>
            <a:r>
              <a:rPr lang="en-IN" sz="2400" dirty="0" err="1"/>
              <a:t>this.lastName</a:t>
            </a:r>
            <a:r>
              <a:rPr lang="en-IN" sz="2400" dirty="0"/>
              <a:t>;</a:t>
            </a:r>
          </a:p>
          <a:p>
            <a:r>
              <a:rPr lang="en-IN" sz="2400" dirty="0"/>
              <a:t>};</a:t>
            </a:r>
          </a:p>
          <a:p>
            <a:endParaRPr lang="en-IN" sz="2400" dirty="0"/>
          </a:p>
          <a:p>
            <a:r>
              <a:rPr lang="en-IN" sz="2400" dirty="0"/>
              <a:t>console.log(</a:t>
            </a:r>
            <a:r>
              <a:rPr lang="en-IN" sz="2400" dirty="0" err="1"/>
              <a:t>person.fullName</a:t>
            </a:r>
            <a:r>
              <a:rPr lang="en-IN" sz="2400" dirty="0"/>
              <a:t>());   // John Doe</a:t>
            </a:r>
          </a:p>
          <a:p>
            <a:r>
              <a:rPr lang="en-IN" sz="2400" dirty="0">
                <a:solidFill>
                  <a:srgbClr val="FF0000"/>
                </a:solidFill>
              </a:rPr>
              <a:t>This achieves the same result as the object literal method but is more verbose.</a:t>
            </a:r>
          </a:p>
        </p:txBody>
      </p:sp>
    </p:spTree>
    <p:extLst>
      <p:ext uri="{BB962C8B-B14F-4D97-AF65-F5344CB8AC3E}">
        <p14:creationId xmlns:p14="http://schemas.microsoft.com/office/powerpoint/2010/main" val="931163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ED5910-2828-2C30-6549-068961B0F10A}"/>
              </a:ext>
            </a:extLst>
          </p:cNvPr>
          <p:cNvSpPr txBox="1"/>
          <p:nvPr/>
        </p:nvSpPr>
        <p:spPr>
          <a:xfrm>
            <a:off x="237226" y="428178"/>
            <a:ext cx="8669547" cy="6001643"/>
          </a:xfrm>
          <a:prstGeom prst="rect">
            <a:avLst/>
          </a:prstGeom>
          <a:noFill/>
        </p:spPr>
        <p:txBody>
          <a:bodyPr wrap="square">
            <a:spAutoFit/>
          </a:bodyPr>
          <a:lstStyle/>
          <a:p>
            <a:r>
              <a:rPr lang="en-IN" sz="2400" dirty="0">
                <a:solidFill>
                  <a:srgbClr val="0000FF"/>
                </a:solidFill>
              </a:rPr>
              <a:t>Using Constructor Functions</a:t>
            </a:r>
          </a:p>
          <a:p>
            <a:r>
              <a:rPr lang="en-IN" sz="2400" dirty="0">
                <a:solidFill>
                  <a:srgbClr val="FF0000"/>
                </a:solidFill>
              </a:rPr>
              <a:t>Constructor functions allow you to create multiple instances of an object type. </a:t>
            </a:r>
            <a:r>
              <a:rPr lang="en-IN" sz="2400" dirty="0"/>
              <a:t>T</a:t>
            </a:r>
            <a:r>
              <a:rPr lang="en-IN" sz="2400" dirty="0">
                <a:solidFill>
                  <a:srgbClr val="FF0000"/>
                </a:solidFill>
              </a:rPr>
              <a:t>his is useful when you need to create many similar objects.</a:t>
            </a:r>
            <a:r>
              <a:rPr lang="en-IN" sz="2400" dirty="0"/>
              <a:t> A constructor function is defined using the function keyword and is typically named with a capital letter:</a:t>
            </a:r>
          </a:p>
          <a:p>
            <a:endParaRPr lang="en-IN" sz="2400" dirty="0"/>
          </a:p>
          <a:p>
            <a:r>
              <a:rPr lang="en-IN" sz="2400" dirty="0"/>
              <a:t>function Car(make, model, year) {</a:t>
            </a:r>
          </a:p>
          <a:p>
            <a:r>
              <a:rPr lang="en-IN" sz="2400" dirty="0"/>
              <a:t>	</a:t>
            </a:r>
            <a:r>
              <a:rPr lang="en-IN" sz="2400" dirty="0" err="1"/>
              <a:t>this.make</a:t>
            </a:r>
            <a:r>
              <a:rPr lang="en-IN" sz="2400" dirty="0"/>
              <a:t> = make;</a:t>
            </a:r>
          </a:p>
          <a:p>
            <a:r>
              <a:rPr lang="en-IN" sz="2400" dirty="0"/>
              <a:t>	</a:t>
            </a:r>
            <a:r>
              <a:rPr lang="en-IN" sz="2400" dirty="0" err="1"/>
              <a:t>this.model</a:t>
            </a:r>
            <a:r>
              <a:rPr lang="en-IN" sz="2400" dirty="0"/>
              <a:t> = model;</a:t>
            </a:r>
          </a:p>
          <a:p>
            <a:r>
              <a:rPr lang="en-IN" sz="2400" dirty="0"/>
              <a:t>	</a:t>
            </a:r>
            <a:r>
              <a:rPr lang="en-IN" sz="2400" dirty="0" err="1"/>
              <a:t>this.year</a:t>
            </a:r>
            <a:r>
              <a:rPr lang="en-IN" sz="2400" dirty="0"/>
              <a:t> = year;</a:t>
            </a:r>
          </a:p>
          <a:p>
            <a:r>
              <a:rPr lang="en-IN" sz="2400" dirty="0"/>
              <a:t>}</a:t>
            </a:r>
          </a:p>
          <a:p>
            <a:r>
              <a:rPr lang="en-IN" sz="2400" dirty="0" err="1"/>
              <a:t>const</a:t>
            </a:r>
            <a:r>
              <a:rPr lang="en-IN" sz="2400" dirty="0"/>
              <a:t> </a:t>
            </a:r>
            <a:r>
              <a:rPr lang="en-IN" sz="2400" dirty="0" err="1"/>
              <a:t>myCar</a:t>
            </a:r>
            <a:r>
              <a:rPr lang="en-IN" sz="2400" dirty="0"/>
              <a:t> = new Car("Eagle", "Talon </a:t>
            </a:r>
            <a:r>
              <a:rPr lang="en-IN" sz="2400" dirty="0" err="1"/>
              <a:t>TSi</a:t>
            </a:r>
            <a:r>
              <a:rPr lang="en-IN" sz="2400" dirty="0"/>
              <a:t>", 1993);</a:t>
            </a:r>
          </a:p>
          <a:p>
            <a:r>
              <a:rPr lang="en-IN" sz="2400" dirty="0" err="1"/>
              <a:t>const</a:t>
            </a:r>
            <a:r>
              <a:rPr lang="en-IN" sz="2400" dirty="0"/>
              <a:t> </a:t>
            </a:r>
            <a:r>
              <a:rPr lang="en-IN" sz="2400" dirty="0" err="1"/>
              <a:t>kensCar</a:t>
            </a:r>
            <a:r>
              <a:rPr lang="en-IN" sz="2400" dirty="0"/>
              <a:t> = new Car("Nissan", "300ZX", 1992);</a:t>
            </a:r>
          </a:p>
          <a:p>
            <a:endParaRPr lang="en-IN" sz="2400" dirty="0"/>
          </a:p>
          <a:p>
            <a:r>
              <a:rPr lang="en-IN" sz="2400" dirty="0">
                <a:solidFill>
                  <a:srgbClr val="0000FF"/>
                </a:solidFill>
              </a:rPr>
              <a:t>In this example, Car is a constructor function that creates car objects with properties make, model, and year.</a:t>
            </a:r>
          </a:p>
        </p:txBody>
      </p:sp>
    </p:spTree>
    <p:extLst>
      <p:ext uri="{BB962C8B-B14F-4D97-AF65-F5344CB8AC3E}">
        <p14:creationId xmlns:p14="http://schemas.microsoft.com/office/powerpoint/2010/main" val="1459130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7B5C01-9F06-540A-D7F2-EE55EDBE2B96}"/>
              </a:ext>
            </a:extLst>
          </p:cNvPr>
          <p:cNvSpPr txBox="1"/>
          <p:nvPr/>
        </p:nvSpPr>
        <p:spPr>
          <a:xfrm>
            <a:off x="0" y="184856"/>
            <a:ext cx="8567928" cy="6370975"/>
          </a:xfrm>
          <a:prstGeom prst="rect">
            <a:avLst/>
          </a:prstGeom>
          <a:noFill/>
        </p:spPr>
        <p:txBody>
          <a:bodyPr wrap="square">
            <a:spAutoFit/>
          </a:bodyPr>
          <a:lstStyle/>
          <a:p>
            <a:r>
              <a:rPr lang="en-IN" sz="2400" dirty="0">
                <a:solidFill>
                  <a:srgbClr val="0000FF"/>
                </a:solidFill>
              </a:rPr>
              <a:t>Using the </a:t>
            </a:r>
            <a:r>
              <a:rPr lang="en-IN" sz="2400" dirty="0" err="1">
                <a:solidFill>
                  <a:srgbClr val="0000FF"/>
                </a:solidFill>
              </a:rPr>
              <a:t>Object.create</a:t>
            </a:r>
            <a:r>
              <a:rPr lang="en-IN" sz="2400" dirty="0">
                <a:solidFill>
                  <a:srgbClr val="0000FF"/>
                </a:solidFill>
              </a:rPr>
              <a:t>() Method</a:t>
            </a:r>
          </a:p>
          <a:p>
            <a:r>
              <a:rPr lang="en-IN" sz="2400" dirty="0"/>
              <a:t>The </a:t>
            </a:r>
            <a:r>
              <a:rPr lang="en-IN" sz="2400" dirty="0" err="1">
                <a:solidFill>
                  <a:srgbClr val="FF0000"/>
                </a:solidFill>
              </a:rPr>
              <a:t>Object.create</a:t>
            </a:r>
            <a:r>
              <a:rPr lang="en-IN" sz="2400" dirty="0">
                <a:solidFill>
                  <a:srgbClr val="FF0000"/>
                </a:solidFill>
              </a:rPr>
              <a:t>() method allows you to create a new object with a specified prototype. This method is useful for creating objects that inherit properties and methods from another object</a:t>
            </a:r>
            <a:r>
              <a:rPr lang="en-IN" sz="2400" dirty="0"/>
              <a:t>:</a:t>
            </a:r>
          </a:p>
          <a:p>
            <a:r>
              <a:rPr lang="en-IN" sz="2400" dirty="0" err="1"/>
              <a:t>const</a:t>
            </a:r>
            <a:r>
              <a:rPr lang="en-IN" sz="2400" dirty="0"/>
              <a:t> Animal = {</a:t>
            </a:r>
          </a:p>
          <a:p>
            <a:r>
              <a:rPr lang="en-IN" sz="2400" dirty="0"/>
              <a:t>	type: "Invertebrates",</a:t>
            </a:r>
          </a:p>
          <a:p>
            <a:r>
              <a:rPr lang="en-IN" sz="2400" dirty="0"/>
              <a:t>	</a:t>
            </a:r>
            <a:r>
              <a:rPr lang="en-IN" sz="2400" dirty="0" err="1"/>
              <a:t>displayType</a:t>
            </a:r>
            <a:r>
              <a:rPr lang="en-IN" sz="2400" dirty="0"/>
              <a:t>() {</a:t>
            </a:r>
          </a:p>
          <a:p>
            <a:r>
              <a:rPr lang="en-IN" sz="2400" dirty="0"/>
              <a:t>		console.log(</a:t>
            </a:r>
            <a:r>
              <a:rPr lang="en-IN" sz="2400" dirty="0" err="1"/>
              <a:t>this.type</a:t>
            </a:r>
            <a:r>
              <a:rPr lang="en-IN" sz="2400" dirty="0"/>
              <a:t>);};</a:t>
            </a:r>
          </a:p>
          <a:p>
            <a:r>
              <a:rPr lang="en-IN" sz="2400" dirty="0"/>
              <a:t>     }</a:t>
            </a:r>
          </a:p>
          <a:p>
            <a:r>
              <a:rPr lang="en-IN" sz="2400" dirty="0"/>
              <a:t>	</a:t>
            </a:r>
          </a:p>
          <a:p>
            <a:r>
              <a:rPr lang="en-IN" sz="2400" dirty="0">
                <a:solidFill>
                  <a:srgbClr val="FF0000"/>
                </a:solidFill>
              </a:rPr>
              <a:t>	</a:t>
            </a:r>
            <a:r>
              <a:rPr lang="en-IN" sz="2400" dirty="0" err="1">
                <a:solidFill>
                  <a:srgbClr val="FF0000"/>
                </a:solidFill>
              </a:rPr>
              <a:t>const</a:t>
            </a:r>
            <a:r>
              <a:rPr lang="en-IN" sz="2400" dirty="0">
                <a:solidFill>
                  <a:srgbClr val="FF0000"/>
                </a:solidFill>
              </a:rPr>
              <a:t> animal1 </a:t>
            </a:r>
            <a:r>
              <a:rPr lang="en-IN" sz="2400" dirty="0"/>
              <a:t>= </a:t>
            </a:r>
            <a:r>
              <a:rPr lang="en-IN" sz="2400" dirty="0" err="1"/>
              <a:t>Object.create</a:t>
            </a:r>
            <a:r>
              <a:rPr lang="en-IN" sz="2400" dirty="0"/>
              <a:t>(Animal);</a:t>
            </a:r>
          </a:p>
          <a:p>
            <a:r>
              <a:rPr lang="en-IN" sz="2400" dirty="0"/>
              <a:t>	animal1.displayType(); </a:t>
            </a:r>
          </a:p>
          <a:p>
            <a:r>
              <a:rPr lang="en-IN" sz="2400" dirty="0"/>
              <a:t>	</a:t>
            </a:r>
            <a:r>
              <a:rPr lang="en-IN" sz="2400" dirty="0" err="1">
                <a:solidFill>
                  <a:srgbClr val="FF0000"/>
                </a:solidFill>
              </a:rPr>
              <a:t>const</a:t>
            </a:r>
            <a:r>
              <a:rPr lang="en-IN" sz="2400" dirty="0">
                <a:solidFill>
                  <a:srgbClr val="FF0000"/>
                </a:solidFill>
              </a:rPr>
              <a:t> fish </a:t>
            </a:r>
            <a:r>
              <a:rPr lang="en-IN" sz="2400" dirty="0"/>
              <a:t>= </a:t>
            </a:r>
            <a:r>
              <a:rPr lang="en-IN" sz="2400" dirty="0" err="1"/>
              <a:t>Object.create</a:t>
            </a:r>
            <a:r>
              <a:rPr lang="en-IN" sz="2400" dirty="0"/>
              <a:t>(Animal);</a:t>
            </a:r>
          </a:p>
          <a:p>
            <a:r>
              <a:rPr lang="en-IN" sz="2400" dirty="0"/>
              <a:t>	</a:t>
            </a:r>
            <a:r>
              <a:rPr lang="en-IN" sz="2400" dirty="0" err="1"/>
              <a:t>fish.type</a:t>
            </a:r>
            <a:r>
              <a:rPr lang="en-IN" sz="2400" dirty="0"/>
              <a:t> = "Fishes";</a:t>
            </a:r>
          </a:p>
          <a:p>
            <a:r>
              <a:rPr lang="en-IN" sz="2400" dirty="0"/>
              <a:t>	</a:t>
            </a:r>
            <a:r>
              <a:rPr lang="en-IN" sz="2400" dirty="0" err="1"/>
              <a:t>fish.displayType</a:t>
            </a:r>
            <a:r>
              <a:rPr lang="en-IN" sz="2400" dirty="0"/>
              <a:t>(); // Logs: Fishes</a:t>
            </a:r>
          </a:p>
          <a:p>
            <a:r>
              <a:rPr lang="en-IN" sz="2400" dirty="0"/>
              <a:t>In this example, </a:t>
            </a:r>
            <a:r>
              <a:rPr lang="en-IN" sz="2400" dirty="0">
                <a:solidFill>
                  <a:srgbClr val="FF0000"/>
                </a:solidFill>
              </a:rPr>
              <a:t>animal1 and fish </a:t>
            </a:r>
            <a:r>
              <a:rPr lang="en-IN" sz="2400" dirty="0"/>
              <a:t>are created with Animal as their prototype.</a:t>
            </a:r>
          </a:p>
        </p:txBody>
      </p:sp>
      <p:sp>
        <p:nvSpPr>
          <p:cNvPr id="3" name="TextBox 2">
            <a:extLst>
              <a:ext uri="{FF2B5EF4-FFF2-40B4-BE49-F238E27FC236}">
                <a16:creationId xmlns:a16="http://schemas.microsoft.com/office/drawing/2014/main" id="{32FEF6A0-5C1B-C217-2174-BCC4C24DF910}"/>
              </a:ext>
            </a:extLst>
          </p:cNvPr>
          <p:cNvSpPr txBox="1"/>
          <p:nvPr/>
        </p:nvSpPr>
        <p:spPr>
          <a:xfrm>
            <a:off x="4425696" y="1824103"/>
            <a:ext cx="4398264" cy="2031325"/>
          </a:xfrm>
          <a:prstGeom prst="rect">
            <a:avLst/>
          </a:prstGeom>
          <a:solidFill>
            <a:schemeClr val="bg1"/>
          </a:solidFill>
          <a:ln w="28575">
            <a:solidFill>
              <a:srgbClr val="7030A0"/>
            </a:solidFill>
          </a:ln>
        </p:spPr>
        <p:txBody>
          <a:bodyPr wrap="square">
            <a:spAutoFit/>
          </a:bodyPr>
          <a:lstStyle/>
          <a:p>
            <a:r>
              <a:rPr lang="en-IN" sz="1800" dirty="0">
                <a:solidFill>
                  <a:srgbClr val="0000FF"/>
                </a:solidFill>
              </a:rPr>
              <a:t>Accessing and Modifying Object Properties</a:t>
            </a:r>
          </a:p>
          <a:p>
            <a:r>
              <a:rPr lang="en-IN" sz="1800" dirty="0"/>
              <a:t>You can access and modify object properties using dot notation or bracket notation:</a:t>
            </a:r>
          </a:p>
          <a:p>
            <a:r>
              <a:rPr lang="en-IN" sz="1800" dirty="0"/>
              <a:t>console.log(</a:t>
            </a:r>
            <a:r>
              <a:rPr lang="en-IN" sz="1800" dirty="0" err="1"/>
              <a:t>person.firstName</a:t>
            </a:r>
            <a:r>
              <a:rPr lang="en-IN" sz="1800" dirty="0"/>
              <a:t>); </a:t>
            </a:r>
          </a:p>
          <a:p>
            <a:r>
              <a:rPr lang="en-IN" sz="1800" dirty="0"/>
              <a:t>console.log(person["</a:t>
            </a:r>
            <a:r>
              <a:rPr lang="en-IN" sz="1800" dirty="0" err="1"/>
              <a:t>lastName</a:t>
            </a:r>
            <a:r>
              <a:rPr lang="en-IN" sz="1800" dirty="0"/>
              <a:t>"]); </a:t>
            </a:r>
          </a:p>
          <a:p>
            <a:r>
              <a:rPr lang="en-IN" sz="1800" dirty="0" err="1"/>
              <a:t>person.age</a:t>
            </a:r>
            <a:r>
              <a:rPr lang="en-IN" sz="1800" dirty="0"/>
              <a:t> = 51; </a:t>
            </a:r>
          </a:p>
          <a:p>
            <a:r>
              <a:rPr lang="en-IN" sz="1800" dirty="0"/>
              <a:t>person["</a:t>
            </a:r>
            <a:r>
              <a:rPr lang="en-IN" sz="1800" dirty="0" err="1"/>
              <a:t>eyeColor</a:t>
            </a:r>
            <a:r>
              <a:rPr lang="en-IN" sz="1800" dirty="0"/>
              <a:t>"] = "green"; </a:t>
            </a:r>
          </a:p>
        </p:txBody>
      </p:sp>
    </p:spTree>
    <p:extLst>
      <p:ext uri="{BB962C8B-B14F-4D97-AF65-F5344CB8AC3E}">
        <p14:creationId xmlns:p14="http://schemas.microsoft.com/office/powerpoint/2010/main" val="279827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31BFD2-B04E-D038-F6AF-2854AE4852F8}"/>
              </a:ext>
            </a:extLst>
          </p:cNvPr>
          <p:cNvSpPr txBox="1"/>
          <p:nvPr/>
        </p:nvSpPr>
        <p:spPr>
          <a:xfrm>
            <a:off x="164592" y="0"/>
            <a:ext cx="8577072" cy="6740307"/>
          </a:xfrm>
          <a:prstGeom prst="rect">
            <a:avLst/>
          </a:prstGeom>
          <a:noFill/>
        </p:spPr>
        <p:txBody>
          <a:bodyPr wrap="square">
            <a:spAutoFit/>
          </a:bodyPr>
          <a:lstStyle/>
          <a:p>
            <a:r>
              <a:rPr lang="en-IN" sz="2400" dirty="0">
                <a:solidFill>
                  <a:srgbClr val="0000FF"/>
                </a:solidFill>
              </a:rPr>
              <a:t>JavaScript objects are dynamic</a:t>
            </a:r>
            <a:r>
              <a:rPr lang="en-IN" sz="2400" dirty="0"/>
              <a:t>, which means you can add, modify, or remove properties and methods even after the object has been created.</a:t>
            </a:r>
          </a:p>
          <a:p>
            <a:r>
              <a:rPr lang="en-IN" sz="2400" dirty="0"/>
              <a:t>Add data members after creating an object?</a:t>
            </a:r>
          </a:p>
          <a:p>
            <a:r>
              <a:rPr lang="en-IN" sz="2400" dirty="0" err="1"/>
              <a:t>const</a:t>
            </a:r>
            <a:r>
              <a:rPr lang="en-IN" sz="2400" dirty="0"/>
              <a:t> person = {</a:t>
            </a:r>
          </a:p>
          <a:p>
            <a:r>
              <a:rPr lang="en-IN" sz="2400" dirty="0"/>
              <a:t>    </a:t>
            </a:r>
            <a:r>
              <a:rPr lang="en-IN" sz="2400" dirty="0" err="1"/>
              <a:t>firstName</a:t>
            </a:r>
            <a:r>
              <a:rPr lang="en-IN" sz="2400" dirty="0"/>
              <a:t>: "John",</a:t>
            </a:r>
          </a:p>
          <a:p>
            <a:r>
              <a:rPr lang="en-IN" sz="2400" dirty="0"/>
              <a:t>    age: 25</a:t>
            </a:r>
          </a:p>
          <a:p>
            <a:r>
              <a:rPr lang="en-IN" sz="2400" dirty="0"/>
              <a:t>};</a:t>
            </a:r>
          </a:p>
          <a:p>
            <a:r>
              <a:rPr lang="en-IN" sz="2400" dirty="0" err="1"/>
              <a:t>person.city</a:t>
            </a:r>
            <a:r>
              <a:rPr lang="en-IN" sz="2400" dirty="0"/>
              <a:t> = "Chennai";</a:t>
            </a:r>
          </a:p>
          <a:p>
            <a:r>
              <a:rPr lang="en-IN" sz="2400" dirty="0" err="1"/>
              <a:t>person.country</a:t>
            </a:r>
            <a:r>
              <a:rPr lang="en-IN" sz="2400" dirty="0"/>
              <a:t> = "India";</a:t>
            </a:r>
          </a:p>
          <a:p>
            <a:r>
              <a:rPr lang="en-IN" sz="2400" dirty="0"/>
              <a:t>console.log(person);</a:t>
            </a:r>
          </a:p>
          <a:p>
            <a:r>
              <a:rPr lang="en-IN" sz="2400" dirty="0">
                <a:solidFill>
                  <a:srgbClr val="0000FF"/>
                </a:solidFill>
              </a:rPr>
              <a:t>Output</a:t>
            </a:r>
          </a:p>
          <a:p>
            <a:r>
              <a:rPr lang="en-IN" sz="2400" dirty="0"/>
              <a:t>{</a:t>
            </a:r>
          </a:p>
          <a:p>
            <a:r>
              <a:rPr lang="en-IN" sz="2400" dirty="0"/>
              <a:t>  </a:t>
            </a:r>
            <a:r>
              <a:rPr lang="en-IN" sz="2400" dirty="0" err="1"/>
              <a:t>firstName</a:t>
            </a:r>
            <a:r>
              <a:rPr lang="en-IN" sz="2400" dirty="0"/>
              <a:t>: "John",</a:t>
            </a:r>
          </a:p>
          <a:p>
            <a:r>
              <a:rPr lang="en-IN" sz="2400" dirty="0"/>
              <a:t>  age: 25,</a:t>
            </a:r>
          </a:p>
          <a:p>
            <a:r>
              <a:rPr lang="en-IN" sz="2400" dirty="0"/>
              <a:t>  city: "Chennai",</a:t>
            </a:r>
          </a:p>
          <a:p>
            <a:r>
              <a:rPr lang="en-IN" sz="2400" dirty="0"/>
              <a:t>  country: "India"</a:t>
            </a:r>
          </a:p>
          <a:p>
            <a:r>
              <a:rPr lang="en-IN" sz="2400" dirty="0"/>
              <a:t>}</a:t>
            </a:r>
          </a:p>
        </p:txBody>
      </p:sp>
    </p:spTree>
    <p:extLst>
      <p:ext uri="{BB962C8B-B14F-4D97-AF65-F5344CB8AC3E}">
        <p14:creationId xmlns:p14="http://schemas.microsoft.com/office/powerpoint/2010/main" val="497591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B98601-0FA4-4DF7-ED51-9C4FDB52D119}"/>
              </a:ext>
            </a:extLst>
          </p:cNvPr>
          <p:cNvSpPr txBox="1"/>
          <p:nvPr/>
        </p:nvSpPr>
        <p:spPr>
          <a:xfrm>
            <a:off x="100584" y="0"/>
            <a:ext cx="7936992" cy="4524315"/>
          </a:xfrm>
          <a:prstGeom prst="rect">
            <a:avLst/>
          </a:prstGeom>
          <a:noFill/>
          <a:ln w="22225">
            <a:noFill/>
          </a:ln>
        </p:spPr>
        <p:txBody>
          <a:bodyPr wrap="square">
            <a:spAutoFit/>
          </a:bodyPr>
          <a:lstStyle/>
          <a:p>
            <a:r>
              <a:rPr lang="en-IN" sz="2400" dirty="0">
                <a:solidFill>
                  <a:srgbClr val="0000FF"/>
                </a:solidFill>
              </a:rPr>
              <a:t>Add methods after creating an object?</a:t>
            </a:r>
          </a:p>
          <a:p>
            <a:r>
              <a:rPr lang="en-IN" sz="2400" dirty="0" err="1"/>
              <a:t>const</a:t>
            </a:r>
            <a:r>
              <a:rPr lang="en-IN" sz="2400" dirty="0"/>
              <a:t> person = {</a:t>
            </a:r>
          </a:p>
          <a:p>
            <a:r>
              <a:rPr lang="en-IN" sz="2400" dirty="0"/>
              <a:t>    </a:t>
            </a:r>
            <a:r>
              <a:rPr lang="en-IN" sz="2400" dirty="0" err="1"/>
              <a:t>firstName</a:t>
            </a:r>
            <a:r>
              <a:rPr lang="en-IN" sz="2400" dirty="0"/>
              <a:t>: "John",</a:t>
            </a:r>
          </a:p>
          <a:p>
            <a:r>
              <a:rPr lang="en-IN" sz="2400" dirty="0"/>
              <a:t>    </a:t>
            </a:r>
            <a:r>
              <a:rPr lang="en-IN" sz="2400" dirty="0" err="1"/>
              <a:t>lastName</a:t>
            </a:r>
            <a:r>
              <a:rPr lang="en-IN" sz="2400" dirty="0"/>
              <a:t>: "Doe"</a:t>
            </a:r>
          </a:p>
          <a:p>
            <a:r>
              <a:rPr lang="en-IN" sz="2400" dirty="0"/>
              <a:t>};</a:t>
            </a:r>
          </a:p>
          <a:p>
            <a:r>
              <a:rPr lang="en-IN" sz="2400" dirty="0" err="1"/>
              <a:t>person.fullName</a:t>
            </a:r>
            <a:r>
              <a:rPr lang="en-IN" sz="2400" dirty="0"/>
              <a:t> = function() {</a:t>
            </a:r>
          </a:p>
          <a:p>
            <a:r>
              <a:rPr lang="en-IN" sz="2400" dirty="0"/>
              <a:t>    return </a:t>
            </a:r>
            <a:r>
              <a:rPr lang="en-IN" sz="2400" dirty="0" err="1"/>
              <a:t>this.firstName</a:t>
            </a:r>
            <a:r>
              <a:rPr lang="en-IN" sz="2400" dirty="0"/>
              <a:t> + " " + </a:t>
            </a:r>
            <a:r>
              <a:rPr lang="en-IN" sz="2400" dirty="0" err="1"/>
              <a:t>this.lastName</a:t>
            </a:r>
            <a:r>
              <a:rPr lang="en-IN" sz="2400" dirty="0"/>
              <a:t>;</a:t>
            </a:r>
          </a:p>
          <a:p>
            <a:r>
              <a:rPr lang="en-IN" sz="2400" dirty="0"/>
              <a:t>};</a:t>
            </a:r>
          </a:p>
          <a:p>
            <a:r>
              <a:rPr lang="en-IN" sz="2400" dirty="0"/>
              <a:t>console.log(</a:t>
            </a:r>
            <a:r>
              <a:rPr lang="en-IN" sz="2400" dirty="0" err="1"/>
              <a:t>person.fullName</a:t>
            </a:r>
            <a:r>
              <a:rPr lang="en-IN" sz="2400" dirty="0"/>
              <a:t>());</a:t>
            </a:r>
          </a:p>
          <a:p>
            <a:r>
              <a:rPr lang="en-IN" sz="2400" dirty="0">
                <a:solidFill>
                  <a:srgbClr val="0000FF"/>
                </a:solidFill>
              </a:rPr>
              <a:t>Output</a:t>
            </a:r>
          </a:p>
          <a:p>
            <a:r>
              <a:rPr lang="en-IN" sz="2400" dirty="0"/>
              <a:t>John Doe</a:t>
            </a:r>
          </a:p>
          <a:p>
            <a:endParaRPr lang="en-IN" sz="2400" dirty="0"/>
          </a:p>
        </p:txBody>
      </p:sp>
      <p:sp>
        <p:nvSpPr>
          <p:cNvPr id="5" name="TextBox 4">
            <a:extLst>
              <a:ext uri="{FF2B5EF4-FFF2-40B4-BE49-F238E27FC236}">
                <a16:creationId xmlns:a16="http://schemas.microsoft.com/office/drawing/2014/main" id="{B7B012B5-328E-F27E-D8C7-8D169FA40A93}"/>
              </a:ext>
            </a:extLst>
          </p:cNvPr>
          <p:cNvSpPr txBox="1"/>
          <p:nvPr/>
        </p:nvSpPr>
        <p:spPr>
          <a:xfrm>
            <a:off x="5102352" y="2697480"/>
            <a:ext cx="3776472" cy="3046988"/>
          </a:xfrm>
          <a:prstGeom prst="rect">
            <a:avLst/>
          </a:prstGeom>
          <a:noFill/>
          <a:ln w="19050">
            <a:solidFill>
              <a:srgbClr val="FF0000"/>
            </a:solidFill>
          </a:ln>
        </p:spPr>
        <p:txBody>
          <a:bodyPr wrap="square">
            <a:spAutoFit/>
          </a:bodyPr>
          <a:lstStyle/>
          <a:p>
            <a:r>
              <a:rPr lang="en-IN" sz="2400" dirty="0">
                <a:solidFill>
                  <a:srgbClr val="0000FF"/>
                </a:solidFill>
              </a:rPr>
              <a:t>Modify existing properties</a:t>
            </a:r>
          </a:p>
          <a:p>
            <a:r>
              <a:rPr lang="en-IN" sz="2400" dirty="0" err="1"/>
              <a:t>const</a:t>
            </a:r>
            <a:r>
              <a:rPr lang="en-IN" sz="2400" dirty="0"/>
              <a:t> person = {</a:t>
            </a:r>
          </a:p>
          <a:p>
            <a:r>
              <a:rPr lang="en-IN" sz="2400" dirty="0"/>
              <a:t>    age: 25</a:t>
            </a:r>
          </a:p>
          <a:p>
            <a:r>
              <a:rPr lang="en-IN" sz="2400" dirty="0"/>
              <a:t>};</a:t>
            </a:r>
          </a:p>
          <a:p>
            <a:r>
              <a:rPr lang="en-IN" sz="2400" dirty="0" err="1"/>
              <a:t>person.age</a:t>
            </a:r>
            <a:r>
              <a:rPr lang="en-IN" sz="2400" dirty="0"/>
              <a:t> = 30;</a:t>
            </a:r>
          </a:p>
          <a:p>
            <a:r>
              <a:rPr lang="en-IN" sz="2400" dirty="0"/>
              <a:t>console.log(</a:t>
            </a:r>
            <a:r>
              <a:rPr lang="en-IN" sz="2400" dirty="0" err="1"/>
              <a:t>person.age</a:t>
            </a:r>
            <a:r>
              <a:rPr lang="en-IN" sz="2400" dirty="0"/>
              <a:t>);</a:t>
            </a:r>
          </a:p>
          <a:p>
            <a:r>
              <a:rPr lang="en-IN" sz="2400" dirty="0">
                <a:solidFill>
                  <a:srgbClr val="0000FF"/>
                </a:solidFill>
              </a:rPr>
              <a:t>Output</a:t>
            </a:r>
          </a:p>
          <a:p>
            <a:r>
              <a:rPr lang="en-IN" sz="2400" dirty="0"/>
              <a:t>30</a:t>
            </a:r>
          </a:p>
        </p:txBody>
      </p:sp>
      <p:sp>
        <p:nvSpPr>
          <p:cNvPr id="7" name="TextBox 6">
            <a:extLst>
              <a:ext uri="{FF2B5EF4-FFF2-40B4-BE49-F238E27FC236}">
                <a16:creationId xmlns:a16="http://schemas.microsoft.com/office/drawing/2014/main" id="{F9DAED9D-0ED0-DF3D-52CA-BA19F579478B}"/>
              </a:ext>
            </a:extLst>
          </p:cNvPr>
          <p:cNvSpPr txBox="1"/>
          <p:nvPr/>
        </p:nvSpPr>
        <p:spPr>
          <a:xfrm>
            <a:off x="265176" y="4125159"/>
            <a:ext cx="4572000" cy="2585323"/>
          </a:xfrm>
          <a:prstGeom prst="rect">
            <a:avLst/>
          </a:prstGeom>
          <a:noFill/>
          <a:ln w="25400">
            <a:solidFill>
              <a:srgbClr val="0000FF"/>
            </a:solidFill>
          </a:ln>
        </p:spPr>
        <p:txBody>
          <a:bodyPr wrap="square">
            <a:spAutoFit/>
          </a:bodyPr>
          <a:lstStyle/>
          <a:p>
            <a:r>
              <a:rPr lang="en-IN" dirty="0">
                <a:solidFill>
                  <a:srgbClr val="FF0000"/>
                </a:solidFill>
              </a:rPr>
              <a:t>Delete properties</a:t>
            </a:r>
          </a:p>
          <a:p>
            <a:r>
              <a:rPr lang="en-IN" dirty="0" err="1"/>
              <a:t>const</a:t>
            </a:r>
            <a:r>
              <a:rPr lang="en-IN" dirty="0"/>
              <a:t> person = {</a:t>
            </a:r>
          </a:p>
          <a:p>
            <a:r>
              <a:rPr lang="en-IN" dirty="0"/>
              <a:t>    name: "John",</a:t>
            </a:r>
          </a:p>
          <a:p>
            <a:r>
              <a:rPr lang="en-IN" dirty="0"/>
              <a:t>    age: 25</a:t>
            </a:r>
          </a:p>
          <a:p>
            <a:r>
              <a:rPr lang="en-IN" dirty="0"/>
              <a:t>};</a:t>
            </a:r>
          </a:p>
          <a:p>
            <a:r>
              <a:rPr lang="en-IN" dirty="0"/>
              <a:t>delete </a:t>
            </a:r>
            <a:r>
              <a:rPr lang="en-IN" dirty="0" err="1"/>
              <a:t>person.age</a:t>
            </a:r>
            <a:r>
              <a:rPr lang="en-IN" dirty="0"/>
              <a:t>;</a:t>
            </a:r>
          </a:p>
          <a:p>
            <a:r>
              <a:rPr lang="en-IN" dirty="0"/>
              <a:t>console.log(person);</a:t>
            </a:r>
          </a:p>
          <a:p>
            <a:r>
              <a:rPr lang="en-IN" dirty="0">
                <a:solidFill>
                  <a:srgbClr val="FF0000"/>
                </a:solidFill>
              </a:rPr>
              <a:t>Output</a:t>
            </a:r>
          </a:p>
          <a:p>
            <a:r>
              <a:rPr lang="en-IN" dirty="0"/>
              <a:t>{ name: "John" }</a:t>
            </a:r>
          </a:p>
        </p:txBody>
      </p:sp>
    </p:spTree>
    <p:extLst>
      <p:ext uri="{BB962C8B-B14F-4D97-AF65-F5344CB8AC3E}">
        <p14:creationId xmlns:p14="http://schemas.microsoft.com/office/powerpoint/2010/main" val="1947552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711ABC-BF28-2F4E-EB4A-907BBD1D4BD8}"/>
              </a:ext>
            </a:extLst>
          </p:cNvPr>
          <p:cNvSpPr txBox="1"/>
          <p:nvPr/>
        </p:nvSpPr>
        <p:spPr>
          <a:xfrm>
            <a:off x="475488" y="1997839"/>
            <a:ext cx="7918704" cy="3785652"/>
          </a:xfrm>
          <a:prstGeom prst="rect">
            <a:avLst/>
          </a:prstGeom>
          <a:noFill/>
        </p:spPr>
        <p:txBody>
          <a:bodyPr wrap="square">
            <a:spAutoFit/>
          </a:bodyPr>
          <a:lstStyle/>
          <a:p>
            <a:r>
              <a:rPr lang="en-IN" sz="2400" dirty="0"/>
              <a:t>function name(arguments)</a:t>
            </a:r>
          </a:p>
          <a:p>
            <a:r>
              <a:rPr lang="en-IN" sz="2400" dirty="0"/>
              <a:t>{</a:t>
            </a:r>
          </a:p>
          <a:p>
            <a:r>
              <a:rPr lang="en-IN" sz="2400" dirty="0"/>
              <a:t>   </a:t>
            </a:r>
            <a:r>
              <a:rPr lang="en-IN" sz="2400" dirty="0" err="1"/>
              <a:t>javascript</a:t>
            </a:r>
            <a:r>
              <a:rPr lang="en-IN" sz="2400" dirty="0"/>
              <a:t> statements</a:t>
            </a:r>
          </a:p>
          <a:p>
            <a:r>
              <a:rPr lang="en-IN" sz="2400" dirty="0"/>
              <a:t>}</a:t>
            </a:r>
          </a:p>
          <a:p>
            <a:r>
              <a:rPr lang="en-IN" sz="2400" dirty="0"/>
              <a:t>function welcome() {</a:t>
            </a:r>
          </a:p>
          <a:p>
            <a:r>
              <a:rPr lang="en-IN" sz="2400" dirty="0"/>
              <a:t>    console.log("welcome to </a:t>
            </a:r>
            <a:r>
              <a:rPr lang="en-IN" sz="2400" dirty="0" err="1"/>
              <a:t>GfG</a:t>
            </a:r>
            <a:r>
              <a:rPr lang="en-IN" sz="2400" dirty="0"/>
              <a:t>");</a:t>
            </a:r>
          </a:p>
          <a:p>
            <a:r>
              <a:rPr lang="en-IN" sz="2400" dirty="0"/>
              <a:t>}</a:t>
            </a:r>
          </a:p>
          <a:p>
            <a:endParaRPr lang="en-IN" sz="2400" dirty="0"/>
          </a:p>
          <a:p>
            <a:r>
              <a:rPr lang="en-IN" sz="2400" dirty="0"/>
              <a:t>// Function calling</a:t>
            </a:r>
          </a:p>
          <a:p>
            <a:r>
              <a:rPr lang="en-IN" sz="2400" dirty="0"/>
              <a:t>welcome();</a:t>
            </a:r>
          </a:p>
        </p:txBody>
      </p:sp>
      <p:sp>
        <p:nvSpPr>
          <p:cNvPr id="7" name="TextBox 6">
            <a:extLst>
              <a:ext uri="{FF2B5EF4-FFF2-40B4-BE49-F238E27FC236}">
                <a16:creationId xmlns:a16="http://schemas.microsoft.com/office/drawing/2014/main" id="{82045E0E-99A5-D76F-ACA2-344ECDC259B1}"/>
              </a:ext>
            </a:extLst>
          </p:cNvPr>
          <p:cNvSpPr txBox="1"/>
          <p:nvPr/>
        </p:nvSpPr>
        <p:spPr>
          <a:xfrm>
            <a:off x="475488" y="335845"/>
            <a:ext cx="8229600" cy="1569660"/>
          </a:xfrm>
          <a:prstGeom prst="rect">
            <a:avLst/>
          </a:prstGeom>
          <a:noFill/>
        </p:spPr>
        <p:txBody>
          <a:bodyPr wrap="square">
            <a:spAutoFit/>
          </a:bodyPr>
          <a:lstStyle/>
          <a:p>
            <a:r>
              <a:rPr lang="en-IN" sz="2400" dirty="0"/>
              <a:t>JavaScript functions </a:t>
            </a:r>
            <a:r>
              <a:rPr lang="en-IN" sz="2400" dirty="0">
                <a:solidFill>
                  <a:srgbClr val="0000FF"/>
                </a:solidFill>
              </a:rPr>
              <a:t>serve as reusable blocks of code </a:t>
            </a:r>
            <a:r>
              <a:rPr lang="en-IN" sz="2400" dirty="0"/>
              <a:t>that can be called from anywhere within your application. </a:t>
            </a:r>
          </a:p>
          <a:p>
            <a:r>
              <a:rPr lang="en-IN" sz="2400" dirty="0"/>
              <a:t>They </a:t>
            </a:r>
            <a:r>
              <a:rPr lang="en-IN" sz="2400" dirty="0">
                <a:solidFill>
                  <a:srgbClr val="0000FF"/>
                </a:solidFill>
              </a:rPr>
              <a:t>eliminate the need to repeat the same code</a:t>
            </a:r>
            <a:r>
              <a:rPr lang="en-IN" sz="2400" dirty="0"/>
              <a:t>, promoting code reusability and modularity. </a:t>
            </a:r>
          </a:p>
        </p:txBody>
      </p:sp>
    </p:spTree>
    <p:extLst>
      <p:ext uri="{BB962C8B-B14F-4D97-AF65-F5344CB8AC3E}">
        <p14:creationId xmlns:p14="http://schemas.microsoft.com/office/powerpoint/2010/main" val="24683642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034B32-9F81-6AF7-09C7-BCBF86F41B7E}"/>
              </a:ext>
            </a:extLst>
          </p:cNvPr>
          <p:cNvSpPr txBox="1"/>
          <p:nvPr/>
        </p:nvSpPr>
        <p:spPr>
          <a:xfrm>
            <a:off x="192024" y="197346"/>
            <a:ext cx="8531352" cy="6740307"/>
          </a:xfrm>
          <a:prstGeom prst="rect">
            <a:avLst/>
          </a:prstGeom>
          <a:noFill/>
        </p:spPr>
        <p:txBody>
          <a:bodyPr wrap="square">
            <a:spAutoFit/>
          </a:bodyPr>
          <a:lstStyle/>
          <a:p>
            <a:r>
              <a:rPr lang="en-IN" sz="2400" dirty="0">
                <a:solidFill>
                  <a:srgbClr val="0000FF"/>
                </a:solidFill>
              </a:rPr>
              <a:t>1. Named function:</a:t>
            </a:r>
          </a:p>
          <a:p>
            <a:r>
              <a:rPr lang="en-IN" sz="2400" dirty="0"/>
              <a:t>A Named function is one that we write in code and then use </a:t>
            </a:r>
            <a:r>
              <a:rPr lang="en-IN" sz="2400" dirty="0">
                <a:solidFill>
                  <a:srgbClr val="0000FF"/>
                </a:solidFill>
              </a:rPr>
              <a:t>whenever we need it by referencing its name </a:t>
            </a:r>
            <a:r>
              <a:rPr lang="en-IN" sz="2400" dirty="0"/>
              <a:t>and providing it with some parameters. Named functions come in handy when we need to call a function several times to give various values to it or run it multiple times.</a:t>
            </a:r>
          </a:p>
          <a:p>
            <a:r>
              <a:rPr lang="en-IN" sz="2400" dirty="0"/>
              <a:t>function add(a, b) {</a:t>
            </a:r>
          </a:p>
          <a:p>
            <a:r>
              <a:rPr lang="en-IN" sz="2400" dirty="0"/>
              <a:t>    return a + b;</a:t>
            </a:r>
          </a:p>
          <a:p>
            <a:r>
              <a:rPr lang="en-IN" sz="2400" dirty="0"/>
              <a:t>}</a:t>
            </a:r>
          </a:p>
          <a:p>
            <a:r>
              <a:rPr lang="en-IN" sz="2400" dirty="0"/>
              <a:t>console.log(add(5, 4));</a:t>
            </a:r>
            <a:endParaRPr lang="en-IN" sz="2400" dirty="0">
              <a:solidFill>
                <a:srgbClr val="0000FF"/>
              </a:solidFill>
            </a:endParaRPr>
          </a:p>
          <a:p>
            <a:r>
              <a:rPr lang="en-IN" sz="2400" dirty="0">
                <a:solidFill>
                  <a:srgbClr val="0000FF"/>
                </a:solidFill>
              </a:rPr>
              <a:t>2. Anonymous function:</a:t>
            </a:r>
          </a:p>
          <a:p>
            <a:r>
              <a:rPr lang="en-IN" sz="2400" dirty="0"/>
              <a:t>We can define a function in JavaScript without giving it a name. This nameless function is referred to as the Anonymous function. </a:t>
            </a:r>
            <a:r>
              <a:rPr lang="en-IN" sz="2400" dirty="0">
                <a:solidFill>
                  <a:srgbClr val="0000FF"/>
                </a:solidFill>
              </a:rPr>
              <a:t>A variable must be assigned to an anonymous function.</a:t>
            </a:r>
          </a:p>
          <a:p>
            <a:r>
              <a:rPr lang="en-IN" sz="2400" dirty="0"/>
              <a:t>let add = function (a, b) {</a:t>
            </a:r>
          </a:p>
          <a:p>
            <a:r>
              <a:rPr lang="en-IN" sz="2400" dirty="0"/>
              <a:t>    return a + b;</a:t>
            </a:r>
          </a:p>
          <a:p>
            <a:r>
              <a:rPr lang="en-IN" sz="2400" dirty="0"/>
              <a:t>}</a:t>
            </a:r>
          </a:p>
          <a:p>
            <a:r>
              <a:rPr lang="en-IN" sz="2400" dirty="0"/>
              <a:t>console.log(add(5, 4));</a:t>
            </a:r>
          </a:p>
        </p:txBody>
      </p:sp>
    </p:spTree>
    <p:extLst>
      <p:ext uri="{BB962C8B-B14F-4D97-AF65-F5344CB8AC3E}">
        <p14:creationId xmlns:p14="http://schemas.microsoft.com/office/powerpoint/2010/main" val="233929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883EF-A7C6-F883-2214-7CE747646DE0}"/>
              </a:ext>
            </a:extLst>
          </p:cNvPr>
          <p:cNvSpPr txBox="1"/>
          <p:nvPr/>
        </p:nvSpPr>
        <p:spPr>
          <a:xfrm>
            <a:off x="594360" y="617327"/>
            <a:ext cx="7781544" cy="3108543"/>
          </a:xfrm>
          <a:prstGeom prst="rect">
            <a:avLst/>
          </a:prstGeom>
          <a:noFill/>
        </p:spPr>
        <p:txBody>
          <a:bodyPr wrap="square">
            <a:spAutoFit/>
          </a:bodyPr>
          <a:lstStyle/>
          <a:p>
            <a:r>
              <a:rPr lang="en-IN" sz="2800" dirty="0">
                <a:solidFill>
                  <a:srgbClr val="0000FF"/>
                </a:solidFill>
              </a:rPr>
              <a:t>3. Arrow function</a:t>
            </a:r>
          </a:p>
          <a:p>
            <a:r>
              <a:rPr lang="en-IN" sz="2800" dirty="0" err="1"/>
              <a:t>const</a:t>
            </a:r>
            <a:r>
              <a:rPr lang="en-IN" sz="2800" dirty="0"/>
              <a:t> </a:t>
            </a:r>
            <a:r>
              <a:rPr lang="en-IN" sz="2800" dirty="0" err="1"/>
              <a:t>myFunction</a:t>
            </a:r>
            <a:r>
              <a:rPr lang="en-IN" sz="2800" dirty="0"/>
              <a:t> = (a, b) =&gt; </a:t>
            </a:r>
            <a:r>
              <a:rPr lang="en-IN" sz="2800" dirty="0">
                <a:solidFill>
                  <a:srgbClr val="0000FF"/>
                </a:solidFill>
              </a:rPr>
              <a:t>a * b</a:t>
            </a:r>
            <a:r>
              <a:rPr lang="en-IN" sz="2800" dirty="0"/>
              <a:t>;</a:t>
            </a:r>
          </a:p>
          <a:p>
            <a:r>
              <a:rPr lang="en-IN" sz="2800" dirty="0"/>
              <a:t>This is equivalent to:</a:t>
            </a:r>
          </a:p>
          <a:p>
            <a:r>
              <a:rPr lang="en-IN" sz="2800" dirty="0" err="1"/>
              <a:t>const</a:t>
            </a:r>
            <a:r>
              <a:rPr lang="en-IN" sz="2800" dirty="0"/>
              <a:t> </a:t>
            </a:r>
            <a:r>
              <a:rPr lang="en-IN" sz="2800" dirty="0" err="1"/>
              <a:t>myFunction</a:t>
            </a:r>
            <a:r>
              <a:rPr lang="en-IN" sz="2800" dirty="0"/>
              <a:t> = function(a, b) </a:t>
            </a:r>
          </a:p>
          <a:p>
            <a:r>
              <a:rPr lang="en-IN" sz="2800" dirty="0"/>
              <a:t>        {   return a * b;};</a:t>
            </a:r>
          </a:p>
          <a:p>
            <a:endParaRPr lang="en-IN" sz="2800" dirty="0"/>
          </a:p>
          <a:p>
            <a:endParaRPr lang="en-IN" sz="2800" dirty="0"/>
          </a:p>
        </p:txBody>
      </p:sp>
      <p:sp>
        <p:nvSpPr>
          <p:cNvPr id="7" name="TextBox 6">
            <a:extLst>
              <a:ext uri="{FF2B5EF4-FFF2-40B4-BE49-F238E27FC236}">
                <a16:creationId xmlns:a16="http://schemas.microsoft.com/office/drawing/2014/main" id="{BD622301-E7FA-F702-1E6D-2FF3A79341B8}"/>
              </a:ext>
            </a:extLst>
          </p:cNvPr>
          <p:cNvSpPr txBox="1"/>
          <p:nvPr/>
        </p:nvSpPr>
        <p:spPr>
          <a:xfrm>
            <a:off x="594360" y="3429000"/>
            <a:ext cx="6912864" cy="2677656"/>
          </a:xfrm>
          <a:prstGeom prst="rect">
            <a:avLst/>
          </a:prstGeom>
          <a:noFill/>
        </p:spPr>
        <p:txBody>
          <a:bodyPr wrap="square">
            <a:spAutoFit/>
          </a:bodyPr>
          <a:lstStyle/>
          <a:p>
            <a:r>
              <a:rPr lang="en-IN" sz="2800" dirty="0" err="1"/>
              <a:t>const</a:t>
            </a:r>
            <a:r>
              <a:rPr lang="en-IN" sz="2800" dirty="0"/>
              <a:t> </a:t>
            </a:r>
            <a:r>
              <a:rPr lang="en-IN" sz="2800" dirty="0" err="1"/>
              <a:t>calculateTotal</a:t>
            </a:r>
            <a:r>
              <a:rPr lang="en-IN" sz="2800" dirty="0"/>
              <a:t> = (price, </a:t>
            </a:r>
            <a:r>
              <a:rPr lang="en-IN" sz="2800" dirty="0" err="1"/>
              <a:t>taxRate</a:t>
            </a:r>
            <a:r>
              <a:rPr lang="en-IN" sz="2800" dirty="0"/>
              <a:t>) =&gt; </a:t>
            </a:r>
            <a:r>
              <a:rPr lang="en-IN" sz="2800" dirty="0">
                <a:solidFill>
                  <a:srgbClr val="0000FF"/>
                </a:solidFill>
              </a:rPr>
              <a:t>{</a:t>
            </a:r>
          </a:p>
          <a:p>
            <a:r>
              <a:rPr lang="en-IN" sz="2800" dirty="0">
                <a:solidFill>
                  <a:srgbClr val="0000FF"/>
                </a:solidFill>
              </a:rPr>
              <a:t>  </a:t>
            </a:r>
            <a:r>
              <a:rPr lang="en-IN" sz="2800" dirty="0" err="1">
                <a:solidFill>
                  <a:srgbClr val="0000FF"/>
                </a:solidFill>
              </a:rPr>
              <a:t>const</a:t>
            </a:r>
            <a:r>
              <a:rPr lang="en-IN" sz="2800" dirty="0">
                <a:solidFill>
                  <a:srgbClr val="0000FF"/>
                </a:solidFill>
              </a:rPr>
              <a:t> </a:t>
            </a:r>
            <a:r>
              <a:rPr lang="en-IN" sz="2800" dirty="0" err="1">
                <a:solidFill>
                  <a:srgbClr val="0000FF"/>
                </a:solidFill>
              </a:rPr>
              <a:t>taxAmount</a:t>
            </a:r>
            <a:r>
              <a:rPr lang="en-IN" sz="2800" dirty="0">
                <a:solidFill>
                  <a:srgbClr val="0000FF"/>
                </a:solidFill>
              </a:rPr>
              <a:t> = price * </a:t>
            </a:r>
            <a:r>
              <a:rPr lang="en-IN" sz="2800" dirty="0" err="1">
                <a:solidFill>
                  <a:srgbClr val="0000FF"/>
                </a:solidFill>
              </a:rPr>
              <a:t>taxRate</a:t>
            </a:r>
            <a:r>
              <a:rPr lang="en-IN" sz="2800" dirty="0">
                <a:solidFill>
                  <a:srgbClr val="0000FF"/>
                </a:solidFill>
              </a:rPr>
              <a:t>;</a:t>
            </a:r>
          </a:p>
          <a:p>
            <a:r>
              <a:rPr lang="en-IN" sz="2800" dirty="0">
                <a:solidFill>
                  <a:srgbClr val="0000FF"/>
                </a:solidFill>
              </a:rPr>
              <a:t>  </a:t>
            </a:r>
            <a:r>
              <a:rPr lang="en-IN" sz="2800" dirty="0" err="1">
                <a:solidFill>
                  <a:srgbClr val="0000FF"/>
                </a:solidFill>
              </a:rPr>
              <a:t>const</a:t>
            </a:r>
            <a:r>
              <a:rPr lang="en-IN" sz="2800" dirty="0">
                <a:solidFill>
                  <a:srgbClr val="0000FF"/>
                </a:solidFill>
              </a:rPr>
              <a:t> </a:t>
            </a:r>
            <a:r>
              <a:rPr lang="en-IN" sz="2800" dirty="0" err="1">
                <a:solidFill>
                  <a:srgbClr val="0000FF"/>
                </a:solidFill>
              </a:rPr>
              <a:t>finalPrice</a:t>
            </a:r>
            <a:r>
              <a:rPr lang="en-IN" sz="2800" dirty="0">
                <a:solidFill>
                  <a:srgbClr val="0000FF"/>
                </a:solidFill>
              </a:rPr>
              <a:t> = price + </a:t>
            </a:r>
            <a:r>
              <a:rPr lang="en-IN" sz="2800" dirty="0" err="1">
                <a:solidFill>
                  <a:srgbClr val="0000FF"/>
                </a:solidFill>
              </a:rPr>
              <a:t>taxAmount</a:t>
            </a:r>
            <a:r>
              <a:rPr lang="en-IN" sz="2800" dirty="0">
                <a:solidFill>
                  <a:srgbClr val="0000FF"/>
                </a:solidFill>
              </a:rPr>
              <a:t>;   </a:t>
            </a:r>
          </a:p>
          <a:p>
            <a:r>
              <a:rPr lang="en-IN" sz="2800" dirty="0">
                <a:solidFill>
                  <a:srgbClr val="0000FF"/>
                </a:solidFill>
              </a:rPr>
              <a:t>  return </a:t>
            </a:r>
            <a:r>
              <a:rPr lang="en-IN" sz="2800" dirty="0" err="1">
                <a:solidFill>
                  <a:srgbClr val="0000FF"/>
                </a:solidFill>
              </a:rPr>
              <a:t>finalPrice</a:t>
            </a:r>
            <a:r>
              <a:rPr lang="en-IN" sz="2800" dirty="0">
                <a:solidFill>
                  <a:srgbClr val="0000FF"/>
                </a:solidFill>
              </a:rPr>
              <a:t>; </a:t>
            </a:r>
          </a:p>
          <a:p>
            <a:r>
              <a:rPr lang="en-IN" sz="2800" dirty="0">
                <a:solidFill>
                  <a:srgbClr val="0000FF"/>
                </a:solidFill>
              </a:rPr>
              <a:t>};</a:t>
            </a:r>
            <a:endParaRPr lang="en-IN" sz="2800" dirty="0"/>
          </a:p>
          <a:p>
            <a:r>
              <a:rPr lang="en-IN" sz="2800" dirty="0"/>
              <a:t>console.log(</a:t>
            </a:r>
            <a:r>
              <a:rPr lang="en-IN" sz="2800" dirty="0" err="1"/>
              <a:t>calculateTotal</a:t>
            </a:r>
            <a:r>
              <a:rPr lang="en-IN" sz="2800" dirty="0"/>
              <a:t>(100, 0.15));</a:t>
            </a:r>
          </a:p>
        </p:txBody>
      </p:sp>
    </p:spTree>
    <p:extLst>
      <p:ext uri="{BB962C8B-B14F-4D97-AF65-F5344CB8AC3E}">
        <p14:creationId xmlns:p14="http://schemas.microsoft.com/office/powerpoint/2010/main" val="1559680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C49D8F-6C16-DF6D-2907-9E31651AA542}"/>
              </a:ext>
            </a:extLst>
          </p:cNvPr>
          <p:cNvSpPr txBox="1"/>
          <p:nvPr/>
        </p:nvSpPr>
        <p:spPr>
          <a:xfrm>
            <a:off x="246888" y="203168"/>
            <a:ext cx="8403336" cy="2677656"/>
          </a:xfrm>
          <a:prstGeom prst="rect">
            <a:avLst/>
          </a:prstGeom>
          <a:noFill/>
        </p:spPr>
        <p:txBody>
          <a:bodyPr wrap="square">
            <a:spAutoFit/>
          </a:bodyPr>
          <a:lstStyle/>
          <a:p>
            <a:r>
              <a:rPr lang="en-IN" sz="2400" dirty="0">
                <a:solidFill>
                  <a:srgbClr val="0000FF"/>
                </a:solidFill>
              </a:rPr>
              <a:t>Function Parameters</a:t>
            </a:r>
          </a:p>
          <a:p>
            <a:r>
              <a:rPr lang="en-IN" sz="2400" dirty="0"/>
              <a:t>In JavaScript, functions do not require the number of arguments to exactly match the number of formal parameters.</a:t>
            </a:r>
          </a:p>
          <a:p>
            <a:r>
              <a:rPr lang="en-IN" sz="2400" dirty="0"/>
              <a:t>Number mismatch between argument list and formal parameter list:</a:t>
            </a:r>
          </a:p>
          <a:p>
            <a:pPr marL="342900" indent="-342900">
              <a:buFont typeface="Arial" panose="020B0604020202020204" pitchFamily="34" charset="0"/>
              <a:buChar char="•"/>
            </a:pPr>
            <a:r>
              <a:rPr lang="en-IN" sz="2400" dirty="0"/>
              <a:t>More arguments: excess ignored</a:t>
            </a:r>
          </a:p>
          <a:p>
            <a:pPr marL="342900" indent="-342900">
              <a:buFont typeface="Arial" panose="020B0604020202020204" pitchFamily="34" charset="0"/>
              <a:buChar char="•"/>
            </a:pPr>
            <a:r>
              <a:rPr lang="en-IN" sz="2400" dirty="0"/>
              <a:t>Fewer arguments: remaining parameters are Undefined</a:t>
            </a:r>
          </a:p>
        </p:txBody>
      </p:sp>
      <p:sp>
        <p:nvSpPr>
          <p:cNvPr id="5" name="TextBox 4">
            <a:extLst>
              <a:ext uri="{FF2B5EF4-FFF2-40B4-BE49-F238E27FC236}">
                <a16:creationId xmlns:a16="http://schemas.microsoft.com/office/drawing/2014/main" id="{5FBA2382-5E03-6B9A-4453-07AD2CC2420B}"/>
              </a:ext>
            </a:extLst>
          </p:cNvPr>
          <p:cNvSpPr txBox="1"/>
          <p:nvPr/>
        </p:nvSpPr>
        <p:spPr>
          <a:xfrm>
            <a:off x="365760" y="2955048"/>
            <a:ext cx="7808976" cy="3785652"/>
          </a:xfrm>
          <a:prstGeom prst="rect">
            <a:avLst/>
          </a:prstGeom>
          <a:noFill/>
        </p:spPr>
        <p:txBody>
          <a:bodyPr wrap="square">
            <a:spAutoFit/>
          </a:bodyPr>
          <a:lstStyle/>
          <a:p>
            <a:r>
              <a:rPr lang="en-IN" sz="2400" dirty="0"/>
              <a:t>If more arguments are passed than there are formal parameters, the extra arguments are ignored</a:t>
            </a:r>
          </a:p>
          <a:p>
            <a:r>
              <a:rPr lang="en-IN" sz="2400" dirty="0"/>
              <a:t>Example 1: Excess Arguments are Ignored</a:t>
            </a:r>
          </a:p>
          <a:p>
            <a:r>
              <a:rPr lang="en-IN" sz="2400" dirty="0"/>
              <a:t>function add(a, b) {</a:t>
            </a:r>
          </a:p>
          <a:p>
            <a:r>
              <a:rPr lang="en-IN" sz="2400" dirty="0"/>
              <a:t>    console.log("a =", a);</a:t>
            </a:r>
          </a:p>
          <a:p>
            <a:r>
              <a:rPr lang="en-IN" sz="2400" dirty="0"/>
              <a:t>    console.log("b =", b);</a:t>
            </a:r>
          </a:p>
          <a:p>
            <a:r>
              <a:rPr lang="en-IN" sz="2400" dirty="0"/>
              <a:t>    return a + b;</a:t>
            </a:r>
          </a:p>
          <a:p>
            <a:r>
              <a:rPr lang="en-IN" sz="2400" dirty="0"/>
              <a:t>}</a:t>
            </a:r>
          </a:p>
          <a:p>
            <a:r>
              <a:rPr lang="en-IN" sz="2400" dirty="0">
                <a:solidFill>
                  <a:srgbClr val="FF0000"/>
                </a:solidFill>
              </a:rPr>
              <a:t>let result = add(10, 20, 30, 40);</a:t>
            </a:r>
          </a:p>
          <a:p>
            <a:r>
              <a:rPr lang="en-IN" sz="2400" dirty="0"/>
              <a:t>console.log("Sum =", result);</a:t>
            </a:r>
          </a:p>
        </p:txBody>
      </p:sp>
    </p:spTree>
    <p:extLst>
      <p:ext uri="{BB962C8B-B14F-4D97-AF65-F5344CB8AC3E}">
        <p14:creationId xmlns:p14="http://schemas.microsoft.com/office/powerpoint/2010/main" val="920684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C56FE-79F0-A949-E0DA-A759A9178176}"/>
              </a:ext>
            </a:extLst>
          </p:cNvPr>
          <p:cNvSpPr txBox="1"/>
          <p:nvPr/>
        </p:nvSpPr>
        <p:spPr>
          <a:xfrm>
            <a:off x="228600" y="230136"/>
            <a:ext cx="8915400" cy="6555641"/>
          </a:xfrm>
          <a:prstGeom prst="rect">
            <a:avLst/>
          </a:prstGeom>
          <a:noFill/>
        </p:spPr>
        <p:txBody>
          <a:bodyPr wrap="square">
            <a:spAutoFit/>
          </a:bodyPr>
          <a:lstStyle/>
          <a:p>
            <a:r>
              <a:rPr lang="en-IN" sz="2800" dirty="0"/>
              <a:t>If </a:t>
            </a:r>
            <a:r>
              <a:rPr lang="en-IN" sz="2800" dirty="0">
                <a:solidFill>
                  <a:srgbClr val="0000FF"/>
                </a:solidFill>
              </a:rPr>
              <a:t>fewer arguments </a:t>
            </a:r>
            <a:r>
              <a:rPr lang="en-IN" sz="2800" dirty="0"/>
              <a:t>are passed than the number of formal parameters, the missing parameters are automatically assigned the value undefined.</a:t>
            </a:r>
          </a:p>
          <a:p>
            <a:r>
              <a:rPr lang="en-IN" sz="2800" dirty="0">
                <a:solidFill>
                  <a:srgbClr val="FF0000"/>
                </a:solidFill>
              </a:rPr>
              <a:t>Example 1: Fewer Arguments</a:t>
            </a:r>
          </a:p>
          <a:p>
            <a:r>
              <a:rPr lang="en-IN" sz="2800" dirty="0"/>
              <a:t>function add(a, b) {</a:t>
            </a:r>
          </a:p>
          <a:p>
            <a:r>
              <a:rPr lang="en-IN" sz="2800" dirty="0"/>
              <a:t>    console.log("a =", a);</a:t>
            </a:r>
          </a:p>
          <a:p>
            <a:r>
              <a:rPr lang="en-IN" sz="2800" dirty="0"/>
              <a:t>    console.log("b =", b);</a:t>
            </a:r>
          </a:p>
          <a:p>
            <a:r>
              <a:rPr lang="en-IN" sz="2800" dirty="0"/>
              <a:t>    return a + b;</a:t>
            </a:r>
          </a:p>
          <a:p>
            <a:r>
              <a:rPr lang="en-IN" sz="2800" dirty="0"/>
              <a:t>}</a:t>
            </a:r>
          </a:p>
          <a:p>
            <a:r>
              <a:rPr lang="en-IN" sz="2800" dirty="0">
                <a:solidFill>
                  <a:srgbClr val="0000FF"/>
                </a:solidFill>
              </a:rPr>
              <a:t>let result = add(10);</a:t>
            </a:r>
          </a:p>
          <a:p>
            <a:r>
              <a:rPr lang="en-IN" sz="2800" dirty="0"/>
              <a:t>console.log("Sum =", result);</a:t>
            </a:r>
          </a:p>
          <a:p>
            <a:r>
              <a:rPr lang="en-IN" sz="2800" dirty="0">
                <a:solidFill>
                  <a:srgbClr val="FF0000"/>
                </a:solidFill>
              </a:rPr>
              <a:t>Output</a:t>
            </a:r>
          </a:p>
          <a:p>
            <a:r>
              <a:rPr lang="en-IN" sz="2800" dirty="0"/>
              <a:t>a = 10</a:t>
            </a:r>
          </a:p>
          <a:p>
            <a:r>
              <a:rPr lang="en-IN" sz="2800" dirty="0"/>
              <a:t>b = undefined</a:t>
            </a:r>
          </a:p>
          <a:p>
            <a:r>
              <a:rPr lang="en-IN" sz="2800" dirty="0"/>
              <a:t>Sum = </a:t>
            </a:r>
            <a:r>
              <a:rPr lang="en-IN" sz="2800" dirty="0" err="1"/>
              <a:t>NaN</a:t>
            </a:r>
            <a:endParaRPr lang="en-IN" sz="2800" dirty="0"/>
          </a:p>
        </p:txBody>
      </p:sp>
      <p:sp>
        <p:nvSpPr>
          <p:cNvPr id="5" name="TextBox 4">
            <a:extLst>
              <a:ext uri="{FF2B5EF4-FFF2-40B4-BE49-F238E27FC236}">
                <a16:creationId xmlns:a16="http://schemas.microsoft.com/office/drawing/2014/main" id="{85AE0B50-A862-12AB-1F67-BE6DC85942A1}"/>
              </a:ext>
            </a:extLst>
          </p:cNvPr>
          <p:cNvSpPr txBox="1"/>
          <p:nvPr/>
        </p:nvSpPr>
        <p:spPr>
          <a:xfrm>
            <a:off x="4489704" y="2193882"/>
            <a:ext cx="4572000" cy="2031325"/>
          </a:xfrm>
          <a:prstGeom prst="rect">
            <a:avLst/>
          </a:prstGeom>
          <a:noFill/>
          <a:ln w="25400">
            <a:solidFill>
              <a:srgbClr val="0000FF"/>
            </a:solidFill>
          </a:ln>
        </p:spPr>
        <p:txBody>
          <a:bodyPr wrap="square">
            <a:spAutoFit/>
          </a:bodyPr>
          <a:lstStyle/>
          <a:p>
            <a:r>
              <a:rPr lang="en-US" dirty="0"/>
              <a:t>JavaScript was designed to be a </a:t>
            </a:r>
            <a:r>
              <a:rPr lang="en-US" b="1" dirty="0"/>
              <a:t>dynamic and loosely typed language</a:t>
            </a:r>
            <a:r>
              <a:rPr lang="en-US" dirty="0"/>
              <a:t>. One of its design goals was to make programming easier and more flexible, especially for scripting web pages. Because of this, JavaScript </a:t>
            </a:r>
            <a:r>
              <a:rPr lang="en-US" b="1" dirty="0"/>
              <a:t>does not enforce that the number of arguments must match the number of formal parameters</a:t>
            </a:r>
            <a:r>
              <a:rPr lang="en-US" dirty="0"/>
              <a:t>.</a:t>
            </a:r>
            <a:endParaRPr lang="en-IN" dirty="0"/>
          </a:p>
        </p:txBody>
      </p:sp>
    </p:spTree>
    <p:extLst>
      <p:ext uri="{BB962C8B-B14F-4D97-AF65-F5344CB8AC3E}">
        <p14:creationId xmlns:p14="http://schemas.microsoft.com/office/powerpoint/2010/main" val="1977193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B2845D-7AA1-3EE0-96F3-CDA8BFBBC74E}"/>
              </a:ext>
            </a:extLst>
          </p:cNvPr>
          <p:cNvGraphicFramePr>
            <a:graphicFrameLocks noGrp="1"/>
          </p:cNvGraphicFramePr>
          <p:nvPr>
            <p:ph idx="1"/>
          </p:nvPr>
        </p:nvGraphicFramePr>
        <p:xfrm>
          <a:off x="781611" y="670635"/>
          <a:ext cx="6683629" cy="3383280"/>
        </p:xfrm>
        <a:graphic>
          <a:graphicData uri="http://schemas.openxmlformats.org/drawingml/2006/table">
            <a:tbl>
              <a:tblPr/>
              <a:tblGrid>
                <a:gridCol w="1669523">
                  <a:extLst>
                    <a:ext uri="{9D8B030D-6E8A-4147-A177-3AD203B41FA5}">
                      <a16:colId xmlns:a16="http://schemas.microsoft.com/office/drawing/2014/main" val="4286758538"/>
                    </a:ext>
                  </a:extLst>
                </a:gridCol>
                <a:gridCol w="5014106">
                  <a:extLst>
                    <a:ext uri="{9D8B030D-6E8A-4147-A177-3AD203B41FA5}">
                      <a16:colId xmlns:a16="http://schemas.microsoft.com/office/drawing/2014/main" val="2718842318"/>
                    </a:ext>
                  </a:extLst>
                </a:gridCol>
              </a:tblGrid>
              <a:tr h="0">
                <a:tc>
                  <a:txBody>
                    <a:bodyPr/>
                    <a:lstStyle/>
                    <a:p>
                      <a:pPr algn="l" fontAlgn="t"/>
                      <a:r>
                        <a:rPr lang="en-IN">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98080463"/>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Addition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3536205618"/>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dirty="0">
                          <a:effectLst/>
                        </a:rPr>
                        <a:t>Subtraction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395720440"/>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Multiplication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2383757409"/>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Exponentiation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831908143"/>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Division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4046804058"/>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Modulus (Division Remainder)</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10767834"/>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Increment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2886627238"/>
                  </a:ext>
                </a:extLst>
              </a:tr>
              <a:tr h="0">
                <a:tc>
                  <a:txBody>
                    <a:bodyPr/>
                    <a:lstStyle/>
                    <a:p>
                      <a:pPr algn="l" fontAlgn="t"/>
                      <a:r>
                        <a:rPr lang="en-IN" dirty="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a:effectLst/>
                        </a:rPr>
                        <a:t>Decrement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72422834"/>
                  </a:ext>
                </a:extLst>
              </a:tr>
            </a:tbl>
          </a:graphicData>
        </a:graphic>
      </p:graphicFrame>
      <p:graphicFrame>
        <p:nvGraphicFramePr>
          <p:cNvPr id="5" name="Table 4">
            <a:extLst>
              <a:ext uri="{FF2B5EF4-FFF2-40B4-BE49-F238E27FC236}">
                <a16:creationId xmlns:a16="http://schemas.microsoft.com/office/drawing/2014/main" id="{4039D687-5F3D-A5C9-58C9-8CFE9B23AD41}"/>
              </a:ext>
            </a:extLst>
          </p:cNvPr>
          <p:cNvGraphicFramePr>
            <a:graphicFrameLocks noGrp="1"/>
          </p:cNvGraphicFramePr>
          <p:nvPr/>
        </p:nvGraphicFramePr>
        <p:xfrm>
          <a:off x="867874" y="4683685"/>
          <a:ext cx="6683630" cy="1503680"/>
        </p:xfrm>
        <a:graphic>
          <a:graphicData uri="http://schemas.openxmlformats.org/drawingml/2006/table">
            <a:tbl>
              <a:tblPr/>
              <a:tblGrid>
                <a:gridCol w="3341815">
                  <a:extLst>
                    <a:ext uri="{9D8B030D-6E8A-4147-A177-3AD203B41FA5}">
                      <a16:colId xmlns:a16="http://schemas.microsoft.com/office/drawing/2014/main" val="3516548579"/>
                    </a:ext>
                  </a:extLst>
                </a:gridCol>
                <a:gridCol w="3341815">
                  <a:extLst>
                    <a:ext uri="{9D8B030D-6E8A-4147-A177-3AD203B41FA5}">
                      <a16:colId xmlns:a16="http://schemas.microsoft.com/office/drawing/2014/main" val="2441496325"/>
                    </a:ext>
                  </a:extLst>
                </a:gridCol>
              </a:tblGrid>
              <a:tr h="0">
                <a:tc>
                  <a:txBody>
                    <a:bodyPr/>
                    <a:lstStyle/>
                    <a:p>
                      <a:pPr algn="l" fontAlgn="t"/>
                      <a:r>
                        <a:rPr lang="en-IN">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dirty="0">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58863237"/>
                  </a:ext>
                </a:extLst>
              </a:tr>
              <a:tr h="0">
                <a:tc>
                  <a:txBody>
                    <a:bodyPr/>
                    <a:lstStyle/>
                    <a:p>
                      <a:pPr algn="l" fontAlgn="t"/>
                      <a:r>
                        <a:rPr lang="en-IN" dirty="0">
                          <a:effectLst/>
                        </a:rPr>
                        <a:t>&amp;&amp;</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logical and</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3355043418"/>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logical or</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077518733"/>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EDEE"/>
                    </a:solidFill>
                  </a:tcPr>
                </a:tc>
                <a:tc>
                  <a:txBody>
                    <a:bodyPr/>
                    <a:lstStyle/>
                    <a:p>
                      <a:pPr algn="l" fontAlgn="t"/>
                      <a:r>
                        <a:rPr lang="en-IN" dirty="0">
                          <a:effectLst/>
                        </a:rPr>
                        <a:t>logical not</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EDEE"/>
                    </a:solidFill>
                  </a:tcPr>
                </a:tc>
                <a:extLst>
                  <a:ext uri="{0D108BD9-81ED-4DB2-BD59-A6C34878D82A}">
                    <a16:rowId xmlns:a16="http://schemas.microsoft.com/office/drawing/2014/main" val="2817070246"/>
                  </a:ext>
                </a:extLst>
              </a:tr>
            </a:tbl>
          </a:graphicData>
        </a:graphic>
      </p:graphicFrame>
      <p:sp>
        <p:nvSpPr>
          <p:cNvPr id="7" name="TextBox 6">
            <a:extLst>
              <a:ext uri="{FF2B5EF4-FFF2-40B4-BE49-F238E27FC236}">
                <a16:creationId xmlns:a16="http://schemas.microsoft.com/office/drawing/2014/main" id="{626E7B0B-1DF6-AB01-057D-011AA62DD1B0}"/>
              </a:ext>
            </a:extLst>
          </p:cNvPr>
          <p:cNvSpPr txBox="1"/>
          <p:nvPr/>
        </p:nvSpPr>
        <p:spPr>
          <a:xfrm>
            <a:off x="867874" y="4184134"/>
            <a:ext cx="4572000" cy="369332"/>
          </a:xfrm>
          <a:prstGeom prst="rect">
            <a:avLst/>
          </a:prstGeom>
          <a:noFill/>
        </p:spPr>
        <p:txBody>
          <a:bodyPr wrap="square">
            <a:spAutoFit/>
          </a:bodyPr>
          <a:lstStyle/>
          <a:p>
            <a:pPr algn="l"/>
            <a:r>
              <a:rPr lang="en-IN" b="0" i="0" dirty="0">
                <a:solidFill>
                  <a:srgbClr val="0000FF"/>
                </a:solidFill>
                <a:effectLst/>
                <a:latin typeface="Segoe UI" panose="020B0502040204020203" pitchFamily="34" charset="0"/>
              </a:rPr>
              <a:t>Logical Operators</a:t>
            </a:r>
          </a:p>
        </p:txBody>
      </p:sp>
      <p:sp>
        <p:nvSpPr>
          <p:cNvPr id="9" name="TextBox 8">
            <a:extLst>
              <a:ext uri="{FF2B5EF4-FFF2-40B4-BE49-F238E27FC236}">
                <a16:creationId xmlns:a16="http://schemas.microsoft.com/office/drawing/2014/main" id="{DEA1301F-0615-FE50-BF01-F3F9801D29AF}"/>
              </a:ext>
            </a:extLst>
          </p:cNvPr>
          <p:cNvSpPr txBox="1"/>
          <p:nvPr/>
        </p:nvSpPr>
        <p:spPr>
          <a:xfrm>
            <a:off x="781611" y="171084"/>
            <a:ext cx="4572000" cy="369332"/>
          </a:xfrm>
          <a:prstGeom prst="rect">
            <a:avLst/>
          </a:prstGeom>
          <a:noFill/>
        </p:spPr>
        <p:txBody>
          <a:bodyPr wrap="square">
            <a:spAutoFit/>
          </a:bodyPr>
          <a:lstStyle/>
          <a:p>
            <a:pPr algn="l"/>
            <a:r>
              <a:rPr lang="en-IN" b="0" i="0" dirty="0">
                <a:solidFill>
                  <a:srgbClr val="0000FF"/>
                </a:solidFill>
                <a:effectLst/>
                <a:latin typeface="Segoe UI" panose="020B0502040204020203" pitchFamily="34" charset="0"/>
              </a:rPr>
              <a:t>Arithmetic Operators</a:t>
            </a:r>
          </a:p>
        </p:txBody>
      </p:sp>
    </p:spTree>
    <p:extLst>
      <p:ext uri="{BB962C8B-B14F-4D97-AF65-F5344CB8AC3E}">
        <p14:creationId xmlns:p14="http://schemas.microsoft.com/office/powerpoint/2010/main" val="4171315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9CA746F-5EFC-8C44-0424-F40F6B82C8CD}"/>
              </a:ext>
            </a:extLst>
          </p:cNvPr>
          <p:cNvGraphicFramePr>
            <a:graphicFrameLocks noGrp="1"/>
          </p:cNvGraphicFramePr>
          <p:nvPr/>
        </p:nvGraphicFramePr>
        <p:xfrm>
          <a:off x="1230186" y="1898174"/>
          <a:ext cx="6683628" cy="4206240"/>
        </p:xfrm>
        <a:graphic>
          <a:graphicData uri="http://schemas.openxmlformats.org/drawingml/2006/table">
            <a:tbl>
              <a:tblPr/>
              <a:tblGrid>
                <a:gridCol w="2227876">
                  <a:extLst>
                    <a:ext uri="{9D8B030D-6E8A-4147-A177-3AD203B41FA5}">
                      <a16:colId xmlns:a16="http://schemas.microsoft.com/office/drawing/2014/main" val="1456733823"/>
                    </a:ext>
                  </a:extLst>
                </a:gridCol>
                <a:gridCol w="2227876">
                  <a:extLst>
                    <a:ext uri="{9D8B030D-6E8A-4147-A177-3AD203B41FA5}">
                      <a16:colId xmlns:a16="http://schemas.microsoft.com/office/drawing/2014/main" val="130448336"/>
                    </a:ext>
                  </a:extLst>
                </a:gridCol>
                <a:gridCol w="2227876">
                  <a:extLst>
                    <a:ext uri="{9D8B030D-6E8A-4147-A177-3AD203B41FA5}">
                      <a16:colId xmlns:a16="http://schemas.microsoft.com/office/drawing/2014/main" val="917323105"/>
                    </a:ext>
                  </a:extLst>
                </a:gridCol>
              </a:tblGrid>
              <a:tr h="0">
                <a:tc>
                  <a:txBody>
                    <a:bodyPr/>
                    <a:lstStyle/>
                    <a:p>
                      <a:pPr algn="l" fontAlgn="t"/>
                      <a:r>
                        <a:rPr lang="en-IN">
                          <a:effectLst/>
                        </a:rPr>
                        <a:t>Operator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Example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06891976"/>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x ==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1327377178"/>
                  </a:ext>
                </a:extLst>
              </a:tr>
              <a:tr h="0">
                <a:tc>
                  <a:txBody>
                    <a:bodyPr/>
                    <a:lstStyle/>
                    <a:p>
                      <a:pPr algn="l" fontAlgn="t"/>
                      <a:r>
                        <a:rPr lang="en-IN" dirty="0">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equal value and equal type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x ===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11192518"/>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not equal</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x !=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3677019881"/>
                  </a:ext>
                </a:extLst>
              </a:tr>
              <a:tr h="0">
                <a:tc>
                  <a:txBody>
                    <a:bodyPr/>
                    <a:lstStyle/>
                    <a:p>
                      <a:pPr algn="l" fontAlgn="t"/>
                      <a:r>
                        <a:rPr lang="en-IN">
                          <a:effectLst/>
                        </a:rPr>
                        <a: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a:effectLst/>
                        </a:rPr>
                        <a:t>not equal value or not equal type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x !==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50830687"/>
                  </a:ext>
                </a:extLst>
              </a:tr>
              <a:tr h="0">
                <a:tc>
                  <a:txBody>
                    <a:bodyPr/>
                    <a:lstStyle/>
                    <a:p>
                      <a:pPr algn="l" fontAlgn="t"/>
                      <a:r>
                        <a:rPr lang="en-IN">
                          <a:effectLst/>
                        </a:rPr>
                        <a: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greater than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x &gt;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3083972602"/>
                  </a:ext>
                </a:extLst>
              </a:tr>
              <a:tr h="0">
                <a:tc>
                  <a:txBody>
                    <a:bodyPr/>
                    <a:lstStyle/>
                    <a:p>
                      <a:pPr algn="l" fontAlgn="t"/>
                      <a:r>
                        <a:rPr lang="en-IN">
                          <a:effectLst/>
                        </a:rPr>
                        <a:t>&lt;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less than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x &lt;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2841612"/>
                  </a:ext>
                </a:extLst>
              </a:tr>
              <a:tr h="0">
                <a:tc>
                  <a:txBody>
                    <a:bodyPr/>
                    <a:lstStyle/>
                    <a:p>
                      <a:pPr algn="l" fontAlgn="t"/>
                      <a:r>
                        <a:rPr lang="en-IN">
                          <a:effectLst/>
                        </a:rPr>
                        <a:t>&gt;=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US">
                          <a:effectLst/>
                        </a:rPr>
                        <a:t>greater than or 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tc>
                  <a:txBody>
                    <a:bodyPr/>
                    <a:lstStyle/>
                    <a:p>
                      <a:pPr algn="l" fontAlgn="t"/>
                      <a:r>
                        <a:rPr lang="en-IN">
                          <a:effectLst/>
                        </a:rPr>
                        <a:t>x &gt;=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EDEE"/>
                    </a:solidFill>
                  </a:tcPr>
                </a:tc>
                <a:extLst>
                  <a:ext uri="{0D108BD9-81ED-4DB2-BD59-A6C34878D82A}">
                    <a16:rowId xmlns:a16="http://schemas.microsoft.com/office/drawing/2014/main" val="3398392616"/>
                  </a:ext>
                </a:extLst>
              </a:tr>
              <a:tr h="0">
                <a:tc>
                  <a:txBody>
                    <a:bodyPr/>
                    <a:lstStyle/>
                    <a:p>
                      <a:pPr algn="l" fontAlgn="t"/>
                      <a:r>
                        <a:rPr lang="en-IN">
                          <a:effectLst/>
                        </a:rPr>
                        <a:t>&lt;=</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less than or equal to</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a:effectLst/>
                        </a:rPr>
                        <a:t>x &lt;= 5</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089362131"/>
                  </a:ext>
                </a:extLst>
              </a:tr>
            </a:tbl>
          </a:graphicData>
        </a:graphic>
      </p:graphicFrame>
      <p:sp>
        <p:nvSpPr>
          <p:cNvPr id="6" name="TextBox 5">
            <a:extLst>
              <a:ext uri="{FF2B5EF4-FFF2-40B4-BE49-F238E27FC236}">
                <a16:creationId xmlns:a16="http://schemas.microsoft.com/office/drawing/2014/main" id="{2565AB72-496D-8213-195A-6027AF104939}"/>
              </a:ext>
            </a:extLst>
          </p:cNvPr>
          <p:cNvSpPr txBox="1"/>
          <p:nvPr/>
        </p:nvSpPr>
        <p:spPr>
          <a:xfrm>
            <a:off x="1230186" y="1243006"/>
            <a:ext cx="4572000" cy="369332"/>
          </a:xfrm>
          <a:prstGeom prst="rect">
            <a:avLst/>
          </a:prstGeom>
          <a:noFill/>
        </p:spPr>
        <p:txBody>
          <a:bodyPr wrap="square">
            <a:spAutoFit/>
          </a:bodyPr>
          <a:lstStyle/>
          <a:p>
            <a:pPr algn="l"/>
            <a:r>
              <a:rPr lang="en-IN" b="0" i="0" dirty="0">
                <a:solidFill>
                  <a:srgbClr val="0000FF"/>
                </a:solidFill>
                <a:effectLst/>
                <a:latin typeface="Segoe UI" panose="020B0502040204020203" pitchFamily="34" charset="0"/>
              </a:rPr>
              <a:t>Comparison Operators</a:t>
            </a:r>
          </a:p>
        </p:txBody>
      </p:sp>
    </p:spTree>
    <p:extLst>
      <p:ext uri="{BB962C8B-B14F-4D97-AF65-F5344CB8AC3E}">
        <p14:creationId xmlns:p14="http://schemas.microsoft.com/office/powerpoint/2010/main" val="2783945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B47FB-9874-666A-9E60-981B73F70E4E}"/>
              </a:ext>
            </a:extLst>
          </p:cNvPr>
          <p:cNvSpPr txBox="1"/>
          <p:nvPr/>
        </p:nvSpPr>
        <p:spPr>
          <a:xfrm>
            <a:off x="82296" y="215867"/>
            <a:ext cx="4325112" cy="5847755"/>
          </a:xfrm>
          <a:prstGeom prst="rect">
            <a:avLst/>
          </a:prstGeom>
          <a:noFill/>
        </p:spPr>
        <p:txBody>
          <a:bodyPr wrap="square">
            <a:spAutoFit/>
          </a:bodyPr>
          <a:lstStyle/>
          <a:p>
            <a:r>
              <a:rPr lang="en-IN" sz="2200" dirty="0">
                <a:solidFill>
                  <a:srgbClr val="0000FF"/>
                </a:solidFill>
              </a:rPr>
              <a:t>Creation of strings</a:t>
            </a:r>
          </a:p>
          <a:p>
            <a:r>
              <a:rPr lang="en-IN" sz="2200" dirty="0"/>
              <a:t>let str1 = "Hello";</a:t>
            </a:r>
          </a:p>
          <a:p>
            <a:r>
              <a:rPr lang="en-IN" sz="2200" dirty="0">
                <a:solidFill>
                  <a:srgbClr val="0000FF"/>
                </a:solidFill>
              </a:rPr>
              <a:t>let str2 = 'World';</a:t>
            </a:r>
          </a:p>
          <a:p>
            <a:endParaRPr lang="en-IN" sz="2200" dirty="0"/>
          </a:p>
          <a:p>
            <a:r>
              <a:rPr lang="en-IN" sz="2200" dirty="0">
                <a:solidFill>
                  <a:srgbClr val="0000FF"/>
                </a:solidFill>
              </a:rPr>
              <a:t>str1.length</a:t>
            </a:r>
          </a:p>
          <a:p>
            <a:endParaRPr lang="en-IN" sz="2200" dirty="0"/>
          </a:p>
          <a:p>
            <a:r>
              <a:rPr lang="en-IN" sz="2200" dirty="0">
                <a:solidFill>
                  <a:srgbClr val="0000FF"/>
                </a:solidFill>
              </a:rPr>
              <a:t>console.log(str[3]);</a:t>
            </a:r>
          </a:p>
          <a:p>
            <a:r>
              <a:rPr lang="en-IN" sz="2200" dirty="0">
                <a:solidFill>
                  <a:srgbClr val="0000FF"/>
                </a:solidFill>
              </a:rPr>
              <a:t>console.log(</a:t>
            </a:r>
            <a:r>
              <a:rPr lang="en-IN" sz="2200" dirty="0" err="1">
                <a:solidFill>
                  <a:srgbClr val="0000FF"/>
                </a:solidFill>
              </a:rPr>
              <a:t>str.charAt</a:t>
            </a:r>
            <a:r>
              <a:rPr lang="en-IN" sz="2200" dirty="0">
                <a:solidFill>
                  <a:srgbClr val="0000FF"/>
                </a:solidFill>
              </a:rPr>
              <a:t>(2));</a:t>
            </a:r>
          </a:p>
          <a:p>
            <a:r>
              <a:rPr lang="en-IN" sz="2200" dirty="0">
                <a:solidFill>
                  <a:srgbClr val="0000FF"/>
                </a:solidFill>
              </a:rPr>
              <a:t>console.log(str.at(-1));</a:t>
            </a:r>
          </a:p>
          <a:p>
            <a:endParaRPr lang="en-IN" sz="2200" dirty="0"/>
          </a:p>
          <a:p>
            <a:r>
              <a:rPr lang="en-IN" sz="2200" dirty="0"/>
              <a:t>let str = "Hello";</a:t>
            </a:r>
          </a:p>
          <a:p>
            <a:r>
              <a:rPr lang="en-IN" sz="2200" dirty="0"/>
              <a:t>str[0] = "Y";</a:t>
            </a:r>
          </a:p>
          <a:p>
            <a:r>
              <a:rPr lang="en-IN" sz="2200" dirty="0"/>
              <a:t>console.log(str);</a:t>
            </a:r>
          </a:p>
          <a:p>
            <a:r>
              <a:rPr lang="en-IN" sz="2200" dirty="0">
                <a:solidFill>
                  <a:srgbClr val="FF0000"/>
                </a:solidFill>
              </a:rPr>
              <a:t>Output</a:t>
            </a:r>
          </a:p>
          <a:p>
            <a:r>
              <a:rPr lang="en-IN" sz="2200" dirty="0"/>
              <a:t>Hello</a:t>
            </a:r>
          </a:p>
          <a:p>
            <a:r>
              <a:rPr lang="en-IN" sz="2200" dirty="0">
                <a:solidFill>
                  <a:srgbClr val="0000FF"/>
                </a:solidFill>
              </a:rPr>
              <a:t>Strings cannot be modified </a:t>
            </a:r>
          </a:p>
          <a:p>
            <a:r>
              <a:rPr lang="en-IN" sz="2200" dirty="0">
                <a:solidFill>
                  <a:srgbClr val="0000FF"/>
                </a:solidFill>
              </a:rPr>
              <a:t>directly.</a:t>
            </a:r>
          </a:p>
        </p:txBody>
      </p:sp>
      <p:sp>
        <p:nvSpPr>
          <p:cNvPr id="5" name="TextBox 4">
            <a:extLst>
              <a:ext uri="{FF2B5EF4-FFF2-40B4-BE49-F238E27FC236}">
                <a16:creationId xmlns:a16="http://schemas.microsoft.com/office/drawing/2014/main" id="{3E9A22A7-504B-B3EA-7DD5-D023501C33D8}"/>
              </a:ext>
            </a:extLst>
          </p:cNvPr>
          <p:cNvSpPr txBox="1"/>
          <p:nvPr/>
        </p:nvSpPr>
        <p:spPr>
          <a:xfrm>
            <a:off x="3017520" y="-76741"/>
            <a:ext cx="4572000" cy="2800767"/>
          </a:xfrm>
          <a:prstGeom prst="rect">
            <a:avLst/>
          </a:prstGeom>
          <a:noFill/>
        </p:spPr>
        <p:txBody>
          <a:bodyPr wrap="square">
            <a:spAutoFit/>
          </a:bodyPr>
          <a:lstStyle/>
          <a:p>
            <a:r>
              <a:rPr lang="en-IN" sz="2200" dirty="0"/>
              <a:t>console.log(first + " " + last);</a:t>
            </a:r>
          </a:p>
          <a:p>
            <a:r>
              <a:rPr lang="en-IN" sz="2200" dirty="0">
                <a:solidFill>
                  <a:srgbClr val="FF0000"/>
                </a:solidFill>
              </a:rPr>
              <a:t>console.log(</a:t>
            </a:r>
            <a:r>
              <a:rPr lang="en-IN" sz="2200" dirty="0" err="1">
                <a:solidFill>
                  <a:srgbClr val="FF0000"/>
                </a:solidFill>
              </a:rPr>
              <a:t>first.concat</a:t>
            </a:r>
            <a:r>
              <a:rPr lang="en-IN" sz="2200" dirty="0">
                <a:solidFill>
                  <a:srgbClr val="FF0000"/>
                </a:solidFill>
              </a:rPr>
              <a:t>(" ", last));</a:t>
            </a:r>
          </a:p>
          <a:p>
            <a:endParaRPr lang="en-IN" sz="2200" dirty="0"/>
          </a:p>
          <a:p>
            <a:r>
              <a:rPr lang="en-IN" sz="2200" dirty="0">
                <a:solidFill>
                  <a:srgbClr val="0000FF"/>
                </a:solidFill>
              </a:rPr>
              <a:t>//Template Literals</a:t>
            </a:r>
          </a:p>
          <a:p>
            <a:r>
              <a:rPr lang="en-IN" sz="2200" dirty="0"/>
              <a:t>let name = "John";</a:t>
            </a:r>
          </a:p>
          <a:p>
            <a:r>
              <a:rPr lang="en-IN" sz="2200" dirty="0"/>
              <a:t>let age = 25;</a:t>
            </a:r>
          </a:p>
          <a:p>
            <a:r>
              <a:rPr lang="en-IN" sz="2200" dirty="0"/>
              <a:t>console.log(`</a:t>
            </a:r>
            <a:r>
              <a:rPr lang="en-IN" sz="2200" dirty="0">
                <a:solidFill>
                  <a:srgbClr val="FF0000"/>
                </a:solidFill>
              </a:rPr>
              <a:t>My name is ${name} and I am ${age} years old</a:t>
            </a:r>
            <a:r>
              <a:rPr lang="en-IN" sz="2200" dirty="0"/>
              <a:t>.`);</a:t>
            </a:r>
          </a:p>
        </p:txBody>
      </p:sp>
      <p:sp>
        <p:nvSpPr>
          <p:cNvPr id="7" name="TextBox 6">
            <a:extLst>
              <a:ext uri="{FF2B5EF4-FFF2-40B4-BE49-F238E27FC236}">
                <a16:creationId xmlns:a16="http://schemas.microsoft.com/office/drawing/2014/main" id="{64EF0B0B-A29B-C984-6680-B8DB6E741EE5}"/>
              </a:ext>
            </a:extLst>
          </p:cNvPr>
          <p:cNvSpPr txBox="1"/>
          <p:nvPr/>
        </p:nvSpPr>
        <p:spPr>
          <a:xfrm>
            <a:off x="3438144" y="3108049"/>
            <a:ext cx="5518404" cy="3785652"/>
          </a:xfrm>
          <a:prstGeom prst="rect">
            <a:avLst/>
          </a:prstGeom>
          <a:noFill/>
        </p:spPr>
        <p:txBody>
          <a:bodyPr wrap="square">
            <a:spAutoFit/>
          </a:bodyPr>
          <a:lstStyle/>
          <a:p>
            <a:r>
              <a:rPr lang="en-IN" sz="2000" dirty="0"/>
              <a:t>let text = "Hello world!";</a:t>
            </a:r>
          </a:p>
          <a:p>
            <a:r>
              <a:rPr lang="en-IN" sz="2000" dirty="0"/>
              <a:t>let result = </a:t>
            </a:r>
            <a:r>
              <a:rPr lang="en-IN" sz="2000" dirty="0" err="1"/>
              <a:t>text.repeat</a:t>
            </a:r>
            <a:r>
              <a:rPr lang="en-IN" sz="2000" dirty="0"/>
              <a:t>(2);</a:t>
            </a:r>
          </a:p>
          <a:p>
            <a:r>
              <a:rPr lang="en-IN" sz="2000" dirty="0"/>
              <a:t>let text = "Please visit Microsoft!";</a:t>
            </a:r>
          </a:p>
          <a:p>
            <a:r>
              <a:rPr lang="en-IN" sz="2000" dirty="0">
                <a:solidFill>
                  <a:srgbClr val="FF0000"/>
                </a:solidFill>
              </a:rPr>
              <a:t>let </a:t>
            </a:r>
            <a:r>
              <a:rPr lang="en-IN" sz="2000" dirty="0" err="1">
                <a:solidFill>
                  <a:srgbClr val="FF0000"/>
                </a:solidFill>
              </a:rPr>
              <a:t>newText</a:t>
            </a:r>
            <a:r>
              <a:rPr lang="en-IN" sz="2000" dirty="0">
                <a:solidFill>
                  <a:srgbClr val="FF0000"/>
                </a:solidFill>
              </a:rPr>
              <a:t> = </a:t>
            </a:r>
            <a:r>
              <a:rPr lang="en-IN" sz="2000" dirty="0" err="1">
                <a:solidFill>
                  <a:srgbClr val="FF0000"/>
                </a:solidFill>
              </a:rPr>
              <a:t>text.replace</a:t>
            </a:r>
            <a:r>
              <a:rPr lang="en-IN" sz="2000" dirty="0">
                <a:solidFill>
                  <a:srgbClr val="FF0000"/>
                </a:solidFill>
              </a:rPr>
              <a:t>("Microsoft", "W3Schools");</a:t>
            </a:r>
          </a:p>
          <a:p>
            <a:r>
              <a:rPr lang="en-IN" sz="2000" dirty="0">
                <a:solidFill>
                  <a:srgbClr val="0000FF"/>
                </a:solidFill>
              </a:rPr>
              <a:t>By default, the replace() method is case sensitive. </a:t>
            </a:r>
            <a:r>
              <a:rPr lang="en-IN" sz="2000" dirty="0"/>
              <a:t>Writing MICROSOFT (with upper-case) will not work:</a:t>
            </a:r>
          </a:p>
          <a:p>
            <a:r>
              <a:rPr lang="en-IN" sz="2000" dirty="0"/>
              <a:t>Example</a:t>
            </a:r>
          </a:p>
          <a:p>
            <a:r>
              <a:rPr lang="en-IN" sz="2000" dirty="0"/>
              <a:t>let text = "Please visit Microsoft!";</a:t>
            </a:r>
          </a:p>
          <a:p>
            <a:r>
              <a:rPr lang="en-IN" sz="2000" dirty="0">
                <a:solidFill>
                  <a:srgbClr val="FF0000"/>
                </a:solidFill>
              </a:rPr>
              <a:t>let </a:t>
            </a:r>
            <a:r>
              <a:rPr lang="en-IN" sz="2000" dirty="0" err="1">
                <a:solidFill>
                  <a:srgbClr val="FF0000"/>
                </a:solidFill>
              </a:rPr>
              <a:t>newText</a:t>
            </a:r>
            <a:r>
              <a:rPr lang="en-IN" sz="2000" dirty="0">
                <a:solidFill>
                  <a:srgbClr val="FF0000"/>
                </a:solidFill>
              </a:rPr>
              <a:t> = </a:t>
            </a:r>
            <a:r>
              <a:rPr lang="en-IN" sz="2000" dirty="0" err="1">
                <a:solidFill>
                  <a:srgbClr val="FF0000"/>
                </a:solidFill>
              </a:rPr>
              <a:t>text.replace</a:t>
            </a:r>
            <a:r>
              <a:rPr lang="en-IN" sz="2000" dirty="0">
                <a:solidFill>
                  <a:srgbClr val="FF0000"/>
                </a:solidFill>
              </a:rPr>
              <a:t>("MICROSOFT", "W3Schools");</a:t>
            </a:r>
          </a:p>
        </p:txBody>
      </p:sp>
    </p:spTree>
    <p:extLst>
      <p:ext uri="{BB962C8B-B14F-4D97-AF65-F5344CB8AC3E}">
        <p14:creationId xmlns:p14="http://schemas.microsoft.com/office/powerpoint/2010/main" val="36096013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B4DFBF-6D1B-1E10-93F7-6DF542866818}"/>
              </a:ext>
            </a:extLst>
          </p:cNvPr>
          <p:cNvSpPr txBox="1"/>
          <p:nvPr/>
        </p:nvSpPr>
        <p:spPr>
          <a:xfrm>
            <a:off x="0" y="0"/>
            <a:ext cx="9061704" cy="6863417"/>
          </a:xfrm>
          <a:prstGeom prst="rect">
            <a:avLst/>
          </a:prstGeom>
          <a:noFill/>
        </p:spPr>
        <p:txBody>
          <a:bodyPr wrap="square">
            <a:spAutoFit/>
          </a:bodyPr>
          <a:lstStyle/>
          <a:p>
            <a:r>
              <a:rPr lang="en-IN" sz="2200" dirty="0">
                <a:solidFill>
                  <a:srgbClr val="0000FF"/>
                </a:solidFill>
              </a:rPr>
              <a:t>Extracting String Parts</a:t>
            </a:r>
          </a:p>
          <a:p>
            <a:r>
              <a:rPr lang="en-IN" sz="2200" dirty="0"/>
              <a:t>There are 3 methods for extracting a part of a string:</a:t>
            </a:r>
          </a:p>
          <a:p>
            <a:r>
              <a:rPr lang="en-IN" sz="2200" dirty="0">
                <a:solidFill>
                  <a:srgbClr val="FF0000"/>
                </a:solidFill>
              </a:rPr>
              <a:t>slice(start, end)</a:t>
            </a:r>
          </a:p>
          <a:p>
            <a:r>
              <a:rPr lang="en-IN" sz="2200" dirty="0">
                <a:solidFill>
                  <a:srgbClr val="FF0000"/>
                </a:solidFill>
              </a:rPr>
              <a:t>substring(start, end)</a:t>
            </a:r>
          </a:p>
          <a:p>
            <a:r>
              <a:rPr lang="en-IN" sz="2200" dirty="0" err="1">
                <a:solidFill>
                  <a:srgbClr val="FF0000"/>
                </a:solidFill>
              </a:rPr>
              <a:t>substr</a:t>
            </a:r>
            <a:r>
              <a:rPr lang="en-IN" sz="2200" dirty="0">
                <a:solidFill>
                  <a:srgbClr val="FF0000"/>
                </a:solidFill>
              </a:rPr>
              <a:t>(start, length)</a:t>
            </a:r>
          </a:p>
          <a:p>
            <a:endParaRPr lang="en-IN" sz="2200" dirty="0"/>
          </a:p>
          <a:p>
            <a:r>
              <a:rPr lang="en-IN" sz="2200" dirty="0">
                <a:solidFill>
                  <a:srgbClr val="0000FF"/>
                </a:solidFill>
              </a:rPr>
              <a:t>let part = </a:t>
            </a:r>
            <a:r>
              <a:rPr lang="en-IN" sz="2200" dirty="0" err="1">
                <a:solidFill>
                  <a:srgbClr val="0000FF"/>
                </a:solidFill>
              </a:rPr>
              <a:t>text.slice</a:t>
            </a:r>
            <a:r>
              <a:rPr lang="en-IN" sz="2200" dirty="0">
                <a:solidFill>
                  <a:srgbClr val="0000FF"/>
                </a:solidFill>
              </a:rPr>
              <a:t>(7, 13); // from 7 to 13</a:t>
            </a:r>
          </a:p>
          <a:p>
            <a:r>
              <a:rPr lang="en-IN" sz="2200" dirty="0">
                <a:solidFill>
                  <a:srgbClr val="0000FF"/>
                </a:solidFill>
              </a:rPr>
              <a:t>let part = </a:t>
            </a:r>
            <a:r>
              <a:rPr lang="en-IN" sz="2200" dirty="0" err="1">
                <a:solidFill>
                  <a:srgbClr val="0000FF"/>
                </a:solidFill>
              </a:rPr>
              <a:t>text.slice</a:t>
            </a:r>
            <a:r>
              <a:rPr lang="en-IN" sz="2200" dirty="0">
                <a:solidFill>
                  <a:srgbClr val="0000FF"/>
                </a:solidFill>
              </a:rPr>
              <a:t>(7); // from 7 to remaining</a:t>
            </a:r>
          </a:p>
          <a:p>
            <a:endParaRPr lang="en-IN" sz="2200" dirty="0">
              <a:solidFill>
                <a:srgbClr val="0000FF"/>
              </a:solidFill>
            </a:endParaRPr>
          </a:p>
          <a:p>
            <a:r>
              <a:rPr lang="en-IN" sz="2200" dirty="0">
                <a:solidFill>
                  <a:srgbClr val="0000FF"/>
                </a:solidFill>
              </a:rPr>
              <a:t>let part = </a:t>
            </a:r>
            <a:r>
              <a:rPr lang="en-IN" sz="2200" dirty="0" err="1">
                <a:solidFill>
                  <a:srgbClr val="0000FF"/>
                </a:solidFill>
              </a:rPr>
              <a:t>text.slice</a:t>
            </a:r>
            <a:r>
              <a:rPr lang="en-IN" sz="2200" dirty="0">
                <a:solidFill>
                  <a:srgbClr val="0000FF"/>
                </a:solidFill>
              </a:rPr>
              <a:t>(-12); // pos. counted from end</a:t>
            </a:r>
          </a:p>
          <a:p>
            <a:r>
              <a:rPr lang="en-IN" sz="2200" dirty="0">
                <a:solidFill>
                  <a:srgbClr val="0000FF"/>
                </a:solidFill>
              </a:rPr>
              <a:t>let part = </a:t>
            </a:r>
            <a:r>
              <a:rPr lang="en-IN" sz="2200" dirty="0" err="1">
                <a:solidFill>
                  <a:srgbClr val="0000FF"/>
                </a:solidFill>
              </a:rPr>
              <a:t>text.slice</a:t>
            </a:r>
            <a:r>
              <a:rPr lang="en-IN" sz="2200" dirty="0">
                <a:solidFill>
                  <a:srgbClr val="0000FF"/>
                </a:solidFill>
              </a:rPr>
              <a:t>(-12, -6); // from -12 to -6</a:t>
            </a:r>
          </a:p>
          <a:p>
            <a:endParaRPr lang="en-IN" sz="2200" dirty="0"/>
          </a:p>
          <a:p>
            <a:r>
              <a:rPr lang="en-IN" sz="2200" dirty="0"/>
              <a:t>substring() is similar to slice().</a:t>
            </a:r>
          </a:p>
          <a:p>
            <a:r>
              <a:rPr lang="en-IN" sz="2200" dirty="0">
                <a:solidFill>
                  <a:srgbClr val="FF0000"/>
                </a:solidFill>
              </a:rPr>
              <a:t>The difference is that start and end values less than 0 are treated as 0 in substring().</a:t>
            </a:r>
          </a:p>
          <a:p>
            <a:endParaRPr lang="en-IN" sz="2200" dirty="0"/>
          </a:p>
          <a:p>
            <a:r>
              <a:rPr lang="en-IN" sz="2200" dirty="0" err="1"/>
              <a:t>substr</a:t>
            </a:r>
            <a:r>
              <a:rPr lang="en-IN" sz="2200" dirty="0"/>
              <a:t>() is similar to slice().</a:t>
            </a:r>
          </a:p>
          <a:p>
            <a:r>
              <a:rPr lang="en-IN" sz="2200" dirty="0">
                <a:solidFill>
                  <a:srgbClr val="FF0000"/>
                </a:solidFill>
              </a:rPr>
              <a:t>The difference is that the second parameter specifies the length of the extracted part.</a:t>
            </a:r>
          </a:p>
          <a:p>
            <a:r>
              <a:rPr lang="en-IN" sz="2200" dirty="0"/>
              <a:t>let part = </a:t>
            </a:r>
            <a:r>
              <a:rPr lang="en-IN" sz="2200" dirty="0" err="1"/>
              <a:t>str.substr</a:t>
            </a:r>
            <a:r>
              <a:rPr lang="en-IN" sz="2200" dirty="0"/>
              <a:t>(7, 6);</a:t>
            </a:r>
          </a:p>
        </p:txBody>
      </p:sp>
    </p:spTree>
    <p:extLst>
      <p:ext uri="{BB962C8B-B14F-4D97-AF65-F5344CB8AC3E}">
        <p14:creationId xmlns:p14="http://schemas.microsoft.com/office/powerpoint/2010/main" val="7850151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4FD985-A316-8287-0527-8FC955AE1532}"/>
              </a:ext>
            </a:extLst>
          </p:cNvPr>
          <p:cNvSpPr txBox="1"/>
          <p:nvPr/>
        </p:nvSpPr>
        <p:spPr>
          <a:xfrm>
            <a:off x="640080" y="1443841"/>
            <a:ext cx="8046720" cy="4524315"/>
          </a:xfrm>
          <a:prstGeom prst="rect">
            <a:avLst/>
          </a:prstGeom>
          <a:noFill/>
        </p:spPr>
        <p:txBody>
          <a:bodyPr wrap="square">
            <a:spAutoFit/>
          </a:bodyPr>
          <a:lstStyle/>
          <a:p>
            <a:r>
              <a:rPr lang="en-IN" sz="2400" dirty="0"/>
              <a:t>let text = "Please locate where 'locate' occurs!";</a:t>
            </a:r>
          </a:p>
          <a:p>
            <a:r>
              <a:rPr lang="en-IN" sz="2400" dirty="0"/>
              <a:t>let index = </a:t>
            </a:r>
            <a:r>
              <a:rPr lang="en-IN" sz="2400" dirty="0" err="1"/>
              <a:t>text.indexOf</a:t>
            </a:r>
            <a:r>
              <a:rPr lang="en-IN" sz="2400" dirty="0"/>
              <a:t>("locate");</a:t>
            </a:r>
          </a:p>
          <a:p>
            <a:endParaRPr lang="en-IN" sz="2400" dirty="0"/>
          </a:p>
          <a:p>
            <a:r>
              <a:rPr lang="en-IN" sz="2400" dirty="0">
                <a:solidFill>
                  <a:srgbClr val="FF0000"/>
                </a:solidFill>
              </a:rPr>
              <a:t>The </a:t>
            </a:r>
            <a:r>
              <a:rPr lang="en-IN" sz="2400" dirty="0" err="1">
                <a:solidFill>
                  <a:srgbClr val="FF0000"/>
                </a:solidFill>
              </a:rPr>
              <a:t>lastIndexOf</a:t>
            </a:r>
            <a:r>
              <a:rPr lang="en-IN" sz="2400" dirty="0">
                <a:solidFill>
                  <a:srgbClr val="FF0000"/>
                </a:solidFill>
              </a:rPr>
              <a:t>() method returns the index of the last occurrence of a specified text in a string:</a:t>
            </a:r>
          </a:p>
          <a:p>
            <a:endParaRPr lang="en-IN" sz="2400" dirty="0">
              <a:solidFill>
                <a:srgbClr val="FF0000"/>
              </a:solidFill>
            </a:endParaRPr>
          </a:p>
          <a:p>
            <a:r>
              <a:rPr lang="en-IN" sz="2400" dirty="0"/>
              <a:t>Example</a:t>
            </a:r>
          </a:p>
          <a:p>
            <a:r>
              <a:rPr lang="en-IN" sz="2400" dirty="0"/>
              <a:t>let text = "Please locate where 'locate' occurs!";</a:t>
            </a:r>
          </a:p>
          <a:p>
            <a:r>
              <a:rPr lang="en-IN" sz="2400" dirty="0"/>
              <a:t>let index = </a:t>
            </a:r>
            <a:r>
              <a:rPr lang="en-IN" sz="2400" dirty="0" err="1"/>
              <a:t>text.lastIndexOf</a:t>
            </a:r>
            <a:r>
              <a:rPr lang="en-IN" sz="2400" dirty="0"/>
              <a:t>("locate");</a:t>
            </a:r>
          </a:p>
          <a:p>
            <a:endParaRPr lang="en-IN" sz="2400" dirty="0"/>
          </a:p>
          <a:p>
            <a:r>
              <a:rPr lang="en-IN" sz="2400" dirty="0"/>
              <a:t>Both </a:t>
            </a:r>
            <a:r>
              <a:rPr lang="en-IN" sz="2400" dirty="0" err="1"/>
              <a:t>indexOf</a:t>
            </a:r>
            <a:r>
              <a:rPr lang="en-IN" sz="2400" dirty="0"/>
              <a:t>(), and </a:t>
            </a:r>
            <a:r>
              <a:rPr lang="en-IN" sz="2400" dirty="0" err="1"/>
              <a:t>lastIndexOf</a:t>
            </a:r>
            <a:r>
              <a:rPr lang="en-IN" sz="2400" dirty="0"/>
              <a:t>() return -1 if the text is not found:</a:t>
            </a:r>
          </a:p>
        </p:txBody>
      </p:sp>
    </p:spTree>
    <p:extLst>
      <p:ext uri="{BB962C8B-B14F-4D97-AF65-F5344CB8AC3E}">
        <p14:creationId xmlns:p14="http://schemas.microsoft.com/office/powerpoint/2010/main" val="1508759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6522F9-D3E5-13B6-55B5-0BFA54C1882F}"/>
              </a:ext>
            </a:extLst>
          </p:cNvPr>
          <p:cNvSpPr txBox="1"/>
          <p:nvPr/>
        </p:nvSpPr>
        <p:spPr>
          <a:xfrm>
            <a:off x="173736" y="200924"/>
            <a:ext cx="8375904" cy="4493538"/>
          </a:xfrm>
          <a:prstGeom prst="rect">
            <a:avLst/>
          </a:prstGeom>
          <a:noFill/>
        </p:spPr>
        <p:txBody>
          <a:bodyPr wrap="square">
            <a:spAutoFit/>
          </a:bodyPr>
          <a:lstStyle/>
          <a:p>
            <a:r>
              <a:rPr lang="en-IN" sz="2200" dirty="0"/>
              <a:t>&lt;!DOCTYPE html&gt;</a:t>
            </a:r>
          </a:p>
          <a:p>
            <a:r>
              <a:rPr lang="en-IN" sz="2200" dirty="0"/>
              <a:t>&lt;html&gt;</a:t>
            </a:r>
          </a:p>
          <a:p>
            <a:r>
              <a:rPr lang="en-IN" sz="2200" dirty="0"/>
              <a:t>&lt;body&gt;</a:t>
            </a:r>
          </a:p>
          <a:p>
            <a:r>
              <a:rPr lang="en-IN" sz="2200" dirty="0"/>
              <a:t>&lt;h1&gt;JavaScript Dates&lt;/h1&gt;</a:t>
            </a:r>
          </a:p>
          <a:p>
            <a:r>
              <a:rPr lang="en-IN" sz="2200" dirty="0"/>
              <a:t>&lt;h2&gt;Using new Date()&lt;/h2&gt;</a:t>
            </a:r>
          </a:p>
          <a:p>
            <a:r>
              <a:rPr lang="en-IN" sz="2200" dirty="0"/>
              <a:t>&lt;p&gt;Create a new date object with the current date and time:&lt;/p&gt;</a:t>
            </a:r>
          </a:p>
          <a:p>
            <a:r>
              <a:rPr lang="en-IN" sz="2200" dirty="0"/>
              <a:t>&lt;p id="demo"&gt;&lt;/p&gt;</a:t>
            </a:r>
          </a:p>
          <a:p>
            <a:r>
              <a:rPr lang="en-IN" sz="2200" dirty="0"/>
              <a:t>&lt;script&gt;</a:t>
            </a:r>
          </a:p>
          <a:p>
            <a:r>
              <a:rPr lang="en-IN" sz="2200" dirty="0" err="1">
                <a:solidFill>
                  <a:srgbClr val="FF0000"/>
                </a:solidFill>
              </a:rPr>
              <a:t>const</a:t>
            </a:r>
            <a:r>
              <a:rPr lang="en-IN" sz="2200" dirty="0">
                <a:solidFill>
                  <a:srgbClr val="FF0000"/>
                </a:solidFill>
              </a:rPr>
              <a:t> d = new Date();</a:t>
            </a:r>
          </a:p>
          <a:p>
            <a:r>
              <a:rPr lang="en-IN" sz="2200" dirty="0" err="1">
                <a:solidFill>
                  <a:srgbClr val="FF0000"/>
                </a:solidFill>
              </a:rPr>
              <a:t>document.getElementById</a:t>
            </a:r>
            <a:r>
              <a:rPr lang="en-IN" sz="2200" dirty="0">
                <a:solidFill>
                  <a:srgbClr val="FF0000"/>
                </a:solidFill>
              </a:rPr>
              <a:t>("demo").</a:t>
            </a:r>
            <a:r>
              <a:rPr lang="en-IN" sz="2200" dirty="0" err="1">
                <a:solidFill>
                  <a:srgbClr val="FF0000"/>
                </a:solidFill>
              </a:rPr>
              <a:t>innerText</a:t>
            </a:r>
            <a:r>
              <a:rPr lang="en-IN" sz="2200" dirty="0">
                <a:solidFill>
                  <a:srgbClr val="FF0000"/>
                </a:solidFill>
              </a:rPr>
              <a:t> = d;</a:t>
            </a:r>
          </a:p>
          <a:p>
            <a:r>
              <a:rPr lang="en-IN" sz="2200" dirty="0"/>
              <a:t>&lt;/script&gt;</a:t>
            </a:r>
          </a:p>
          <a:p>
            <a:r>
              <a:rPr lang="en-IN" sz="2200" dirty="0"/>
              <a:t>&lt;/body&gt;</a:t>
            </a:r>
          </a:p>
          <a:p>
            <a:r>
              <a:rPr lang="en-IN" sz="2200" dirty="0"/>
              <a:t>&lt;/html&gt;</a:t>
            </a:r>
          </a:p>
        </p:txBody>
      </p:sp>
      <p:pic>
        <p:nvPicPr>
          <p:cNvPr id="5" name="Picture 4">
            <a:extLst>
              <a:ext uri="{FF2B5EF4-FFF2-40B4-BE49-F238E27FC236}">
                <a16:creationId xmlns:a16="http://schemas.microsoft.com/office/drawing/2014/main" id="{EC6F4026-8799-F84D-AB8F-4EC605272AE4}"/>
              </a:ext>
            </a:extLst>
          </p:cNvPr>
          <p:cNvPicPr>
            <a:picLocks noChangeAspect="1"/>
          </p:cNvPicPr>
          <p:nvPr/>
        </p:nvPicPr>
        <p:blipFill>
          <a:blip r:embed="rId2"/>
          <a:stretch>
            <a:fillRect/>
          </a:stretch>
        </p:blipFill>
        <p:spPr>
          <a:xfrm>
            <a:off x="3963206" y="4410307"/>
            <a:ext cx="4820323" cy="2133898"/>
          </a:xfrm>
          <a:prstGeom prst="rect">
            <a:avLst/>
          </a:prstGeom>
        </p:spPr>
      </p:pic>
    </p:spTree>
    <p:extLst>
      <p:ext uri="{BB962C8B-B14F-4D97-AF65-F5344CB8AC3E}">
        <p14:creationId xmlns:p14="http://schemas.microsoft.com/office/powerpoint/2010/main" val="4094505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9BAB9F-18A5-DDA1-E820-B2A3D30ED6F2}"/>
              </a:ext>
            </a:extLst>
          </p:cNvPr>
          <p:cNvSpPr txBox="1"/>
          <p:nvPr/>
        </p:nvSpPr>
        <p:spPr>
          <a:xfrm>
            <a:off x="402336" y="166568"/>
            <a:ext cx="8174736" cy="6524863"/>
          </a:xfrm>
          <a:prstGeom prst="rect">
            <a:avLst/>
          </a:prstGeom>
          <a:noFill/>
        </p:spPr>
        <p:txBody>
          <a:bodyPr wrap="square">
            <a:spAutoFit/>
          </a:bodyPr>
          <a:lstStyle/>
          <a:p>
            <a:r>
              <a:rPr lang="en-IN" sz="2200" dirty="0"/>
              <a:t>&lt;html&gt;</a:t>
            </a:r>
          </a:p>
          <a:p>
            <a:r>
              <a:rPr lang="en-IN" sz="2200" dirty="0"/>
              <a:t>&lt;body&gt;</a:t>
            </a:r>
          </a:p>
          <a:p>
            <a:r>
              <a:rPr lang="en-IN" sz="2200" dirty="0">
                <a:solidFill>
                  <a:srgbClr val="0000FF"/>
                </a:solidFill>
              </a:rPr>
              <a:t>&lt;h2&gt;Digital Clock&lt;/h2&gt;</a:t>
            </a:r>
          </a:p>
          <a:p>
            <a:r>
              <a:rPr lang="en-IN" sz="2200" dirty="0"/>
              <a:t>&lt;p id="clock"&gt;&lt;/p&gt;</a:t>
            </a:r>
          </a:p>
          <a:p>
            <a:r>
              <a:rPr lang="en-IN" sz="2200" dirty="0"/>
              <a:t>&lt;script&gt;</a:t>
            </a:r>
          </a:p>
          <a:p>
            <a:r>
              <a:rPr lang="en-IN" sz="2200" dirty="0"/>
              <a:t>function </a:t>
            </a:r>
            <a:r>
              <a:rPr lang="en-IN" sz="2200" dirty="0" err="1"/>
              <a:t>showTime</a:t>
            </a:r>
            <a:r>
              <a:rPr lang="en-IN" sz="2200" dirty="0"/>
              <a:t>()</a:t>
            </a:r>
          </a:p>
          <a:p>
            <a:r>
              <a:rPr lang="en-IN" sz="2200" dirty="0"/>
              <a:t>{</a:t>
            </a:r>
          </a:p>
          <a:p>
            <a:r>
              <a:rPr lang="en-IN" sz="2200" dirty="0"/>
              <a:t>    var d = new Date();</a:t>
            </a:r>
          </a:p>
          <a:p>
            <a:r>
              <a:rPr lang="en-IN" sz="2200" dirty="0"/>
              <a:t>    var h = </a:t>
            </a:r>
            <a:r>
              <a:rPr lang="en-IN" sz="2200" dirty="0" err="1"/>
              <a:t>d.getHours</a:t>
            </a:r>
            <a:r>
              <a:rPr lang="en-IN" sz="2200" dirty="0"/>
              <a:t>();</a:t>
            </a:r>
          </a:p>
          <a:p>
            <a:r>
              <a:rPr lang="en-IN" sz="2200" dirty="0"/>
              <a:t>    var m = </a:t>
            </a:r>
            <a:r>
              <a:rPr lang="en-IN" sz="2200" dirty="0" err="1"/>
              <a:t>d.getMinutes</a:t>
            </a:r>
            <a:r>
              <a:rPr lang="en-IN" sz="2200" dirty="0"/>
              <a:t>();</a:t>
            </a:r>
          </a:p>
          <a:p>
            <a:r>
              <a:rPr lang="en-IN" sz="2200" dirty="0"/>
              <a:t>    var s = </a:t>
            </a:r>
            <a:r>
              <a:rPr lang="en-IN" sz="2200" dirty="0" err="1"/>
              <a:t>d.getSeconds</a:t>
            </a:r>
            <a:r>
              <a:rPr lang="en-IN" sz="2200" dirty="0"/>
              <a:t>();</a:t>
            </a:r>
          </a:p>
          <a:p>
            <a:r>
              <a:rPr lang="en-IN" sz="2200" dirty="0"/>
              <a:t>    </a:t>
            </a:r>
            <a:r>
              <a:rPr lang="en-IN" sz="2200" dirty="0" err="1"/>
              <a:t>document.getElementById</a:t>
            </a:r>
            <a:r>
              <a:rPr lang="en-IN" sz="2200" dirty="0"/>
              <a:t>("clock").</a:t>
            </a:r>
            <a:r>
              <a:rPr lang="en-IN" sz="2200" dirty="0" err="1"/>
              <a:t>innerText</a:t>
            </a:r>
            <a:r>
              <a:rPr lang="en-IN" sz="2200" dirty="0"/>
              <a:t> =</a:t>
            </a:r>
          </a:p>
          <a:p>
            <a:r>
              <a:rPr lang="en-IN" sz="2200" dirty="0"/>
              <a:t>        h + ":" + m + ":" + s;</a:t>
            </a:r>
          </a:p>
          <a:p>
            <a:r>
              <a:rPr lang="en-IN" sz="2200" dirty="0"/>
              <a:t>}</a:t>
            </a:r>
          </a:p>
          <a:p>
            <a:r>
              <a:rPr lang="en-IN" sz="2200" dirty="0" err="1">
                <a:solidFill>
                  <a:srgbClr val="0000FF"/>
                </a:solidFill>
              </a:rPr>
              <a:t>showTime</a:t>
            </a:r>
            <a:r>
              <a:rPr lang="en-IN" sz="2200" dirty="0">
                <a:solidFill>
                  <a:srgbClr val="0000FF"/>
                </a:solidFill>
              </a:rPr>
              <a:t>();                 // Display the current time</a:t>
            </a:r>
          </a:p>
          <a:p>
            <a:r>
              <a:rPr lang="en-IN" sz="2200" dirty="0" err="1">
                <a:solidFill>
                  <a:srgbClr val="0000FF"/>
                </a:solidFill>
              </a:rPr>
              <a:t>setInterval</a:t>
            </a:r>
            <a:r>
              <a:rPr lang="en-IN" sz="2200" dirty="0">
                <a:solidFill>
                  <a:srgbClr val="0000FF"/>
                </a:solidFill>
              </a:rPr>
              <a:t>(</a:t>
            </a:r>
            <a:r>
              <a:rPr lang="en-IN" sz="2200" dirty="0" err="1">
                <a:solidFill>
                  <a:srgbClr val="0000FF"/>
                </a:solidFill>
              </a:rPr>
              <a:t>showTime</a:t>
            </a:r>
            <a:r>
              <a:rPr lang="en-IN" sz="2200" dirty="0">
                <a:solidFill>
                  <a:srgbClr val="0000FF"/>
                </a:solidFill>
              </a:rPr>
              <a:t>, 1000); // Update every second</a:t>
            </a:r>
          </a:p>
          <a:p>
            <a:r>
              <a:rPr lang="en-IN" sz="2200" dirty="0"/>
              <a:t>&lt;/script&gt;</a:t>
            </a:r>
          </a:p>
          <a:p>
            <a:r>
              <a:rPr lang="en-IN" sz="2200" dirty="0"/>
              <a:t>&lt;/body&gt;</a:t>
            </a:r>
          </a:p>
          <a:p>
            <a:r>
              <a:rPr lang="en-IN" sz="2200" dirty="0"/>
              <a:t>&lt;/html&gt;</a:t>
            </a:r>
          </a:p>
        </p:txBody>
      </p:sp>
    </p:spTree>
    <p:extLst>
      <p:ext uri="{BB962C8B-B14F-4D97-AF65-F5344CB8AC3E}">
        <p14:creationId xmlns:p14="http://schemas.microsoft.com/office/powerpoint/2010/main" val="14178280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60C7B0-1B5A-0BCA-0BFB-A149991823BF}"/>
              </a:ext>
            </a:extLst>
          </p:cNvPr>
          <p:cNvSpPr txBox="1"/>
          <p:nvPr/>
        </p:nvSpPr>
        <p:spPr>
          <a:xfrm>
            <a:off x="141732" y="0"/>
            <a:ext cx="8860536" cy="2123658"/>
          </a:xfrm>
          <a:prstGeom prst="rect">
            <a:avLst/>
          </a:prstGeom>
          <a:noFill/>
        </p:spPr>
        <p:txBody>
          <a:bodyPr wrap="square">
            <a:spAutoFit/>
          </a:bodyPr>
          <a:lstStyle/>
          <a:p>
            <a:r>
              <a:rPr lang="en-US" sz="2200" dirty="0">
                <a:solidFill>
                  <a:srgbClr val="0000FF"/>
                </a:solidFill>
              </a:rPr>
              <a:t>What is JSON?</a:t>
            </a:r>
          </a:p>
          <a:p>
            <a:endParaRPr lang="en-US" sz="2200" dirty="0">
              <a:solidFill>
                <a:srgbClr val="0000FF"/>
              </a:solidFill>
            </a:endParaRPr>
          </a:p>
          <a:p>
            <a:r>
              <a:rPr lang="en-US" sz="2200" dirty="0"/>
              <a:t>JSON (JavaScript Object Notation) is a lightweight data interchange format used to store and exchange data between applications.</a:t>
            </a:r>
          </a:p>
          <a:p>
            <a:r>
              <a:rPr lang="en-US" sz="2200" dirty="0"/>
              <a:t>Although JSON is derived from JavaScript object syntax, it is a language-independent</a:t>
            </a:r>
          </a:p>
        </p:txBody>
      </p:sp>
      <p:sp>
        <p:nvSpPr>
          <p:cNvPr id="6" name="TextBox 5">
            <a:extLst>
              <a:ext uri="{FF2B5EF4-FFF2-40B4-BE49-F238E27FC236}">
                <a16:creationId xmlns:a16="http://schemas.microsoft.com/office/drawing/2014/main" id="{54FA7D7D-E75A-3F47-9FDC-C61A1B3829E5}"/>
              </a:ext>
            </a:extLst>
          </p:cNvPr>
          <p:cNvSpPr txBox="1"/>
          <p:nvPr/>
        </p:nvSpPr>
        <p:spPr>
          <a:xfrm>
            <a:off x="173736" y="2120730"/>
            <a:ext cx="3026664" cy="2246769"/>
          </a:xfrm>
          <a:prstGeom prst="rect">
            <a:avLst/>
          </a:prstGeom>
          <a:noFill/>
        </p:spPr>
        <p:txBody>
          <a:bodyPr wrap="square">
            <a:spAutoFit/>
          </a:bodyPr>
          <a:lstStyle/>
          <a:p>
            <a:r>
              <a:rPr lang="en-IN" sz="2000" dirty="0"/>
              <a:t>Example of JSON</a:t>
            </a:r>
          </a:p>
          <a:p>
            <a:r>
              <a:rPr lang="en-IN" sz="2000" dirty="0"/>
              <a:t>{</a:t>
            </a:r>
          </a:p>
          <a:p>
            <a:r>
              <a:rPr lang="en-IN" sz="2000" dirty="0"/>
              <a:t>    "name": "John",</a:t>
            </a:r>
          </a:p>
          <a:p>
            <a:r>
              <a:rPr lang="en-IN" sz="2000" dirty="0"/>
              <a:t>    "age": 25,</a:t>
            </a:r>
          </a:p>
          <a:p>
            <a:r>
              <a:rPr lang="en-IN" sz="2000" dirty="0"/>
              <a:t>    "city": "Chennai",</a:t>
            </a:r>
          </a:p>
          <a:p>
            <a:r>
              <a:rPr lang="en-IN" sz="2000" dirty="0"/>
              <a:t>    "</a:t>
            </a:r>
            <a:r>
              <a:rPr lang="en-IN" sz="2000" dirty="0" err="1"/>
              <a:t>isStudent</a:t>
            </a:r>
            <a:r>
              <a:rPr lang="en-IN" sz="2000" dirty="0"/>
              <a:t>": false</a:t>
            </a:r>
          </a:p>
          <a:p>
            <a:r>
              <a:rPr lang="en-IN" sz="2000" dirty="0"/>
              <a:t>}</a:t>
            </a:r>
          </a:p>
        </p:txBody>
      </p:sp>
      <p:sp>
        <p:nvSpPr>
          <p:cNvPr id="9" name="TextBox 8">
            <a:extLst>
              <a:ext uri="{FF2B5EF4-FFF2-40B4-BE49-F238E27FC236}">
                <a16:creationId xmlns:a16="http://schemas.microsoft.com/office/drawing/2014/main" id="{2E9FB43A-A829-39B5-DE28-C79D2E93DB5E}"/>
              </a:ext>
            </a:extLst>
          </p:cNvPr>
          <p:cNvSpPr txBox="1"/>
          <p:nvPr/>
        </p:nvSpPr>
        <p:spPr>
          <a:xfrm>
            <a:off x="2720340" y="1939594"/>
            <a:ext cx="2500884" cy="1938992"/>
          </a:xfrm>
          <a:prstGeom prst="rect">
            <a:avLst/>
          </a:prstGeom>
          <a:noFill/>
          <a:ln w="25400">
            <a:solidFill>
              <a:schemeClr val="accent2">
                <a:lumMod val="75000"/>
              </a:schemeClr>
            </a:solidFill>
          </a:ln>
        </p:spPr>
        <p:txBody>
          <a:bodyPr wrap="square">
            <a:spAutoFit/>
          </a:bodyPr>
          <a:lstStyle/>
          <a:p>
            <a:r>
              <a:rPr lang="en-IN" sz="2000" dirty="0">
                <a:solidFill>
                  <a:srgbClr val="0000FF"/>
                </a:solidFill>
              </a:rPr>
              <a:t>JavaScript Object</a:t>
            </a:r>
          </a:p>
          <a:p>
            <a:r>
              <a:rPr lang="en-IN" sz="2000" dirty="0" err="1"/>
              <a:t>const</a:t>
            </a:r>
            <a:r>
              <a:rPr lang="en-IN" sz="2000" dirty="0"/>
              <a:t> person = {</a:t>
            </a:r>
          </a:p>
          <a:p>
            <a:r>
              <a:rPr lang="en-IN" sz="2000" dirty="0"/>
              <a:t>    name: "John",</a:t>
            </a:r>
          </a:p>
          <a:p>
            <a:r>
              <a:rPr lang="en-IN" sz="2000" dirty="0"/>
              <a:t>    age: 25,</a:t>
            </a:r>
          </a:p>
          <a:p>
            <a:r>
              <a:rPr lang="en-IN" sz="2000" dirty="0"/>
              <a:t>    city: "Chennai"</a:t>
            </a:r>
          </a:p>
          <a:p>
            <a:r>
              <a:rPr lang="en-IN" sz="2000" dirty="0"/>
              <a:t>};</a:t>
            </a:r>
          </a:p>
        </p:txBody>
      </p:sp>
      <p:sp>
        <p:nvSpPr>
          <p:cNvPr id="11" name="TextBox 10">
            <a:extLst>
              <a:ext uri="{FF2B5EF4-FFF2-40B4-BE49-F238E27FC236}">
                <a16:creationId xmlns:a16="http://schemas.microsoft.com/office/drawing/2014/main" id="{70DAFD75-E9EB-9AFD-B515-F9D09C39BE6F}"/>
              </a:ext>
            </a:extLst>
          </p:cNvPr>
          <p:cNvSpPr txBox="1"/>
          <p:nvPr/>
        </p:nvSpPr>
        <p:spPr>
          <a:xfrm>
            <a:off x="283464" y="4437288"/>
            <a:ext cx="9134856" cy="1631216"/>
          </a:xfrm>
          <a:prstGeom prst="rect">
            <a:avLst/>
          </a:prstGeom>
          <a:noFill/>
        </p:spPr>
        <p:txBody>
          <a:bodyPr wrap="square">
            <a:spAutoFit/>
          </a:bodyPr>
          <a:lstStyle/>
          <a:p>
            <a:r>
              <a:rPr lang="en-IN" sz="2000" dirty="0">
                <a:solidFill>
                  <a:srgbClr val="FF0000"/>
                </a:solidFill>
              </a:rPr>
              <a:t>JavaScript Object						JSON</a:t>
            </a:r>
          </a:p>
          <a:p>
            <a:r>
              <a:rPr lang="en-IN" sz="2000" dirty="0"/>
              <a:t>Keys may be quoted or unquoted		Keys must be enclosed in double quotes</a:t>
            </a:r>
          </a:p>
          <a:p>
            <a:r>
              <a:rPr lang="en-IN" sz="2000" dirty="0"/>
              <a:t>Can contain functions					Cannot contain functions</a:t>
            </a:r>
          </a:p>
          <a:p>
            <a:r>
              <a:rPr lang="en-IN" sz="2000" dirty="0"/>
              <a:t>Used inside JavaScript programs		Used for data exchange</a:t>
            </a:r>
          </a:p>
          <a:p>
            <a:r>
              <a:rPr lang="en-IN" sz="2000" dirty="0"/>
              <a:t>Supports comments (in code)			Comments are not allowed</a:t>
            </a:r>
          </a:p>
        </p:txBody>
      </p:sp>
      <p:sp>
        <p:nvSpPr>
          <p:cNvPr id="12" name="TextBox 11">
            <a:extLst>
              <a:ext uri="{FF2B5EF4-FFF2-40B4-BE49-F238E27FC236}">
                <a16:creationId xmlns:a16="http://schemas.microsoft.com/office/drawing/2014/main" id="{8B37B067-EACA-7821-4059-F4EF59312CC4}"/>
              </a:ext>
            </a:extLst>
          </p:cNvPr>
          <p:cNvSpPr txBox="1"/>
          <p:nvPr/>
        </p:nvSpPr>
        <p:spPr>
          <a:xfrm>
            <a:off x="5632704" y="1948012"/>
            <a:ext cx="3090672" cy="1938992"/>
          </a:xfrm>
          <a:prstGeom prst="rect">
            <a:avLst/>
          </a:prstGeom>
          <a:noFill/>
          <a:ln w="25400">
            <a:solidFill>
              <a:schemeClr val="accent2">
                <a:lumMod val="75000"/>
              </a:schemeClr>
            </a:solidFill>
          </a:ln>
        </p:spPr>
        <p:txBody>
          <a:bodyPr wrap="square">
            <a:spAutoFit/>
          </a:bodyPr>
          <a:lstStyle/>
          <a:p>
            <a:r>
              <a:rPr lang="en-IN" sz="2000" dirty="0">
                <a:solidFill>
                  <a:srgbClr val="0000FF"/>
                </a:solidFill>
              </a:rPr>
              <a:t>JSON</a:t>
            </a:r>
          </a:p>
          <a:p>
            <a:r>
              <a:rPr lang="en-IN" sz="2000" dirty="0"/>
              <a:t>{</a:t>
            </a:r>
          </a:p>
          <a:p>
            <a:r>
              <a:rPr lang="en-IN" sz="2000" dirty="0"/>
              <a:t>    "name": "John",</a:t>
            </a:r>
          </a:p>
          <a:p>
            <a:r>
              <a:rPr lang="en-IN" sz="2000" dirty="0"/>
              <a:t>    "age": 25,</a:t>
            </a:r>
          </a:p>
          <a:p>
            <a:r>
              <a:rPr lang="en-IN" sz="2000" dirty="0"/>
              <a:t>    "city": "Chennai"</a:t>
            </a:r>
          </a:p>
          <a:p>
            <a:r>
              <a:rPr lang="en-IN" sz="2000" dirty="0"/>
              <a:t>}</a:t>
            </a:r>
          </a:p>
        </p:txBody>
      </p:sp>
    </p:spTree>
    <p:extLst>
      <p:ext uri="{BB962C8B-B14F-4D97-AF65-F5344CB8AC3E}">
        <p14:creationId xmlns:p14="http://schemas.microsoft.com/office/powerpoint/2010/main" val="42049036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7F6EEC-143C-5172-865B-23335DB2D2CD}"/>
              </a:ext>
            </a:extLst>
          </p:cNvPr>
          <p:cNvSpPr txBox="1"/>
          <p:nvPr/>
        </p:nvSpPr>
        <p:spPr>
          <a:xfrm>
            <a:off x="214884" y="243512"/>
            <a:ext cx="8714232" cy="6370975"/>
          </a:xfrm>
          <a:prstGeom prst="rect">
            <a:avLst/>
          </a:prstGeom>
          <a:noFill/>
        </p:spPr>
        <p:txBody>
          <a:bodyPr wrap="square">
            <a:spAutoFit/>
          </a:bodyPr>
          <a:lstStyle/>
          <a:p>
            <a:r>
              <a:rPr lang="en-IN" sz="2400" dirty="0" err="1">
                <a:solidFill>
                  <a:srgbClr val="FF0000"/>
                </a:solidFill>
              </a:rPr>
              <a:t>JSON.parse</a:t>
            </a:r>
            <a:r>
              <a:rPr lang="en-IN" sz="2400" dirty="0">
                <a:solidFill>
                  <a:srgbClr val="FF0000"/>
                </a:solidFill>
              </a:rPr>
              <a:t>() converts a JSON string into a JavaScript object.</a:t>
            </a:r>
          </a:p>
          <a:p>
            <a:r>
              <a:rPr lang="en-IN" sz="2400" dirty="0"/>
              <a:t>Suppose you receive the following JSON data from a server:</a:t>
            </a:r>
          </a:p>
          <a:p>
            <a:r>
              <a:rPr lang="en-IN" sz="2400" dirty="0"/>
              <a:t>let data = '{"name":"John","age":25}';</a:t>
            </a:r>
          </a:p>
          <a:p>
            <a:endParaRPr lang="en-IN" sz="2400" dirty="0"/>
          </a:p>
          <a:p>
            <a:r>
              <a:rPr lang="en-IN" sz="2400" dirty="0"/>
              <a:t>Notice that data is a string, not an object.</a:t>
            </a:r>
          </a:p>
          <a:p>
            <a:r>
              <a:rPr lang="en-IN" sz="2400" dirty="0"/>
              <a:t>console.log(</a:t>
            </a:r>
            <a:r>
              <a:rPr lang="en-IN" sz="2400" dirty="0" err="1"/>
              <a:t>typeof</a:t>
            </a:r>
            <a:r>
              <a:rPr lang="en-IN" sz="2400" dirty="0"/>
              <a:t> data);</a:t>
            </a:r>
          </a:p>
          <a:p>
            <a:r>
              <a:rPr lang="en-IN" sz="2400" dirty="0">
                <a:solidFill>
                  <a:srgbClr val="FF0000"/>
                </a:solidFill>
              </a:rPr>
              <a:t>Output</a:t>
            </a:r>
          </a:p>
          <a:p>
            <a:r>
              <a:rPr lang="en-IN" sz="2400" dirty="0"/>
              <a:t>String</a:t>
            </a:r>
          </a:p>
          <a:p>
            <a:endParaRPr lang="en-IN" sz="2400" dirty="0"/>
          </a:p>
          <a:p>
            <a:r>
              <a:rPr lang="en-IN" sz="2400" dirty="0"/>
              <a:t>To use the values (name, age), convert the string into a JavaScript object:</a:t>
            </a:r>
          </a:p>
          <a:p>
            <a:r>
              <a:rPr lang="en-IN" sz="2400" dirty="0"/>
              <a:t>let person = </a:t>
            </a:r>
            <a:r>
              <a:rPr lang="en-IN" sz="2400" dirty="0" err="1"/>
              <a:t>JSON.parse</a:t>
            </a:r>
            <a:r>
              <a:rPr lang="en-IN" sz="2400" dirty="0"/>
              <a:t>(data);</a:t>
            </a:r>
          </a:p>
          <a:p>
            <a:r>
              <a:rPr lang="en-IN" sz="2400" dirty="0"/>
              <a:t>console.log(person.name);</a:t>
            </a:r>
          </a:p>
          <a:p>
            <a:r>
              <a:rPr lang="en-IN" sz="2400" dirty="0"/>
              <a:t>console.log(</a:t>
            </a:r>
            <a:r>
              <a:rPr lang="en-IN" sz="2400" dirty="0" err="1"/>
              <a:t>person.age</a:t>
            </a:r>
            <a:r>
              <a:rPr lang="en-IN" sz="2400" dirty="0"/>
              <a:t>);</a:t>
            </a:r>
          </a:p>
          <a:p>
            <a:r>
              <a:rPr lang="en-IN" sz="2400" dirty="0">
                <a:solidFill>
                  <a:srgbClr val="FF0000"/>
                </a:solidFill>
              </a:rPr>
              <a:t>Output</a:t>
            </a:r>
          </a:p>
          <a:p>
            <a:r>
              <a:rPr lang="en-IN" sz="2400" dirty="0"/>
              <a:t>John</a:t>
            </a:r>
          </a:p>
          <a:p>
            <a:r>
              <a:rPr lang="en-IN" sz="2400" dirty="0"/>
              <a:t>25</a:t>
            </a:r>
          </a:p>
        </p:txBody>
      </p:sp>
    </p:spTree>
    <p:extLst>
      <p:ext uri="{BB962C8B-B14F-4D97-AF65-F5344CB8AC3E}">
        <p14:creationId xmlns:p14="http://schemas.microsoft.com/office/powerpoint/2010/main" val="23164872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F1D534-F8E4-9D96-E7B0-B88040658237}"/>
              </a:ext>
            </a:extLst>
          </p:cNvPr>
          <p:cNvSpPr txBox="1"/>
          <p:nvPr/>
        </p:nvSpPr>
        <p:spPr>
          <a:xfrm>
            <a:off x="768096" y="729270"/>
            <a:ext cx="7607808" cy="5262979"/>
          </a:xfrm>
          <a:prstGeom prst="rect">
            <a:avLst/>
          </a:prstGeom>
          <a:noFill/>
        </p:spPr>
        <p:txBody>
          <a:bodyPr wrap="square">
            <a:spAutoFit/>
          </a:bodyPr>
          <a:lstStyle/>
          <a:p>
            <a:r>
              <a:rPr lang="en-IN" sz="2400" dirty="0"/>
              <a:t>let student = {</a:t>
            </a:r>
          </a:p>
          <a:p>
            <a:r>
              <a:rPr lang="en-IN" sz="2400" dirty="0"/>
              <a:t>    </a:t>
            </a:r>
            <a:r>
              <a:rPr lang="en-IN" sz="2400" dirty="0" err="1"/>
              <a:t>rollNo</a:t>
            </a:r>
            <a:r>
              <a:rPr lang="en-IN" sz="2400" dirty="0"/>
              <a:t>: 101,</a:t>
            </a:r>
          </a:p>
          <a:p>
            <a:r>
              <a:rPr lang="en-IN" sz="2400" dirty="0"/>
              <a:t>    name: "Anita",</a:t>
            </a:r>
          </a:p>
          <a:p>
            <a:r>
              <a:rPr lang="en-IN" sz="2400" dirty="0"/>
              <a:t>    department: "CSE"</a:t>
            </a:r>
          </a:p>
          <a:p>
            <a:r>
              <a:rPr lang="en-IN" sz="2400" dirty="0"/>
              <a:t>};</a:t>
            </a:r>
          </a:p>
          <a:p>
            <a:endParaRPr lang="en-IN" sz="2400" dirty="0"/>
          </a:p>
          <a:p>
            <a:r>
              <a:rPr lang="en-IN" sz="2400" dirty="0">
                <a:solidFill>
                  <a:srgbClr val="FF0000"/>
                </a:solidFill>
              </a:rPr>
              <a:t>let </a:t>
            </a:r>
            <a:r>
              <a:rPr lang="en-IN" sz="2400" dirty="0" err="1">
                <a:solidFill>
                  <a:srgbClr val="FF0000"/>
                </a:solidFill>
              </a:rPr>
              <a:t>jsonData</a:t>
            </a:r>
            <a:r>
              <a:rPr lang="en-IN" sz="2400" dirty="0">
                <a:solidFill>
                  <a:srgbClr val="FF0000"/>
                </a:solidFill>
              </a:rPr>
              <a:t> = </a:t>
            </a:r>
            <a:r>
              <a:rPr lang="en-IN" sz="2400" dirty="0" err="1">
                <a:solidFill>
                  <a:srgbClr val="FF0000"/>
                </a:solidFill>
              </a:rPr>
              <a:t>JSON.stringify</a:t>
            </a:r>
            <a:r>
              <a:rPr lang="en-IN" sz="2400" dirty="0">
                <a:solidFill>
                  <a:srgbClr val="FF0000"/>
                </a:solidFill>
              </a:rPr>
              <a:t>(student);</a:t>
            </a:r>
          </a:p>
          <a:p>
            <a:endParaRPr lang="en-IN" sz="2400" dirty="0"/>
          </a:p>
          <a:p>
            <a:r>
              <a:rPr lang="en-IN" sz="2400" dirty="0"/>
              <a:t>console.log(</a:t>
            </a:r>
            <a:r>
              <a:rPr lang="en-IN" sz="2400" dirty="0" err="1"/>
              <a:t>jsonData</a:t>
            </a:r>
            <a:r>
              <a:rPr lang="en-IN" sz="2400" dirty="0"/>
              <a:t>);</a:t>
            </a:r>
          </a:p>
          <a:p>
            <a:r>
              <a:rPr lang="en-IN" sz="2400" dirty="0"/>
              <a:t>console.log(</a:t>
            </a:r>
            <a:r>
              <a:rPr lang="en-IN" sz="2400" dirty="0" err="1"/>
              <a:t>typeof</a:t>
            </a:r>
            <a:r>
              <a:rPr lang="en-IN" sz="2400" dirty="0"/>
              <a:t> </a:t>
            </a:r>
            <a:r>
              <a:rPr lang="en-IN" sz="2400" dirty="0" err="1"/>
              <a:t>jsonData</a:t>
            </a:r>
            <a:r>
              <a:rPr lang="en-IN" sz="2400" dirty="0"/>
              <a:t>);</a:t>
            </a:r>
          </a:p>
          <a:p>
            <a:r>
              <a:rPr lang="en-IN" sz="2400" dirty="0"/>
              <a:t>Output</a:t>
            </a:r>
          </a:p>
          <a:p>
            <a:r>
              <a:rPr lang="en-IN" sz="2400" dirty="0"/>
              <a:t>{"rollNo":101,"name":"Anita","department":"CSE"}</a:t>
            </a:r>
          </a:p>
          <a:p>
            <a:r>
              <a:rPr lang="en-IN" sz="2400" dirty="0"/>
              <a:t>string</a:t>
            </a:r>
          </a:p>
          <a:p>
            <a:endParaRPr lang="en-IN" sz="2400" dirty="0"/>
          </a:p>
        </p:txBody>
      </p:sp>
    </p:spTree>
    <p:extLst>
      <p:ext uri="{BB962C8B-B14F-4D97-AF65-F5344CB8AC3E}">
        <p14:creationId xmlns:p14="http://schemas.microsoft.com/office/powerpoint/2010/main" val="36447108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650</TotalTime>
  <Words>5757</Words>
  <Application>Microsoft Office PowerPoint</Application>
  <PresentationFormat>On-screen Show (4:3)</PresentationFormat>
  <Paragraphs>797</Paragraphs>
  <Slides>55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Calibri</vt:lpstr>
      <vt:lpstr>Calibri Light</vt:lpstr>
      <vt:lpstr>Consolas</vt:lpstr>
      <vt:lpstr>Nunito</vt:lpstr>
      <vt:lpstr>Roboto</vt:lpstr>
      <vt:lpstr>Segoe UI</vt:lpstr>
      <vt:lpstr>Wingdings</vt:lpstr>
      <vt:lpstr>Office Theme</vt:lpstr>
      <vt:lpstr>JavaScript - Fundamentals</vt:lpstr>
      <vt:lpstr>PowerPoint Presentation</vt:lpstr>
      <vt:lpstr>PowerPoint Presentation</vt:lpstr>
      <vt:lpstr>PowerPoint Presentation</vt:lpstr>
      <vt:lpstr>PowerPoint Presentation</vt:lpstr>
      <vt:lpstr>Ways in which scripts can be added</vt:lpstr>
      <vt:lpstr>PowerPoint Presentation</vt:lpstr>
      <vt:lpstr>PowerPoint Presentation</vt:lpstr>
      <vt:lpstr>PowerPoint Presentation</vt:lpstr>
      <vt:lpstr>PowerPoint Presentation</vt:lpstr>
      <vt:lpstr>PowerPoint Presentation</vt:lpstr>
      <vt:lpstr>Async and defer attributes</vt:lpstr>
      <vt:lpstr>Async and defer attributes</vt:lpstr>
      <vt:lpstr>JavaScript Display Possibilities</vt:lpstr>
      <vt:lpstr>PowerPoint Presentation</vt:lpstr>
      <vt:lpstr>PowerPoint Presentation</vt:lpstr>
      <vt:lpstr>PowerPoint Presentation</vt:lpstr>
      <vt:lpstr>PowerPoint Presentation</vt:lpstr>
      <vt:lpstr>PowerPoint Presentation</vt:lpstr>
      <vt:lpstr>PowerPoint Presentation</vt:lpstr>
      <vt:lpstr>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sharan ramesh</dc:creator>
  <cp:lastModifiedBy>B Prabavathy</cp:lastModifiedBy>
  <cp:revision>120</cp:revision>
  <dcterms:created xsi:type="dcterms:W3CDTF">2026-07-12T10:59:34Z</dcterms:created>
  <dcterms:modified xsi:type="dcterms:W3CDTF">2026-07-15T12:28:22Z</dcterms:modified>
</cp:coreProperties>
</file>